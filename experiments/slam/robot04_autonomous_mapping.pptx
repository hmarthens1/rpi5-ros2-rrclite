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02" r:id="rId5"/>
    <p:sldMasterId id="2147483704" r:id="rId6"/>
  </p:sldMasterIdLst>
  <p:notesMasterIdLst>
    <p:notesMasterId r:id="rId21"/>
  </p:notesMasterIdLst>
  <p:sldIdLst>
    <p:sldId id="264" r:id="rId7"/>
    <p:sldId id="544" r:id="rId19"/>
    <p:sldId id="545" r:id="rId18"/>
    <p:sldId id="546" r:id="rId17"/>
    <p:sldId id="547" r:id="rId16"/>
    <p:sldId id="548" r:id="rId15"/>
    <p:sldId id="549" r:id="rId14"/>
    <p:sldId id="550" r:id="rId13"/>
    <p:sldId id="551" r:id="rId12"/>
    <p:sldId id="552" r:id="rId11"/>
    <p:sldId id="553" r:id="rId10"/>
    <p:sldId id="554" r:id="rId9"/>
    <p:sldId id="555" r:id="rId8"/>
    <p:sldId id="556" r:id="rId35"/>
    <p:sldId id="557" r:id="rId36"/>
    <p:sldId id="558" r:id="rId37"/>
    <p:sldId id="559" r:id="rId38"/>
    <p:sldId id="560" r:id="rId39"/>
    <p:sldId id="561" r:id="rId40"/>
    <p:sldId id="562" r:id="rId41"/>
    <p:sldId id="563"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99FF"/>
    <a:srgbClr val="99CC00"/>
    <a:srgbClr val="99CCFF"/>
    <a:srgbClr val="CCCCFF"/>
    <a:srgbClr val="FFFFCC"/>
    <a:srgbClr val="0000CC"/>
    <a:srgbClr val="990033"/>
    <a:srgbClr val="D41B35"/>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3" autoAdjust="0"/>
    <p:restoredTop sz="96236" autoAdjust="0"/>
  </p:normalViewPr>
  <p:slideViewPr>
    <p:cSldViewPr snapToGrid="0" snapToObjects="1" showGuides="1">
      <p:cViewPr varScale="1">
        <p:scale>
          <a:sx n="75" d="100"/>
          <a:sy n="75" d="100"/>
        </p:scale>
        <p:origin x="72" y="702"/>
      </p:cViewPr>
      <p:guideLst>
        <p:guide orient="horz" pos="2160"/>
        <p:guide pos="2880"/>
      </p:guideLst>
    </p:cSldViewPr>
  </p:slideViewPr>
  <p:notesTextViewPr>
    <p:cViewPr>
      <p:scale>
        <a:sx n="3" d="2"/>
        <a:sy n="3" d="2"/>
      </p:scale>
      <p:origin x="0" y="0"/>
    </p:cViewPr>
  </p:notesTextViewPr>
  <p:sorterViewPr>
    <p:cViewPr>
      <p:scale>
        <a:sx n="75" d="100"/>
        <a:sy n="75" d="100"/>
      </p:scale>
      <p:origin x="0" y="-16848"/>
    </p:cViewPr>
  </p:sorterViewPr>
  <p:notesViewPr>
    <p:cSldViewPr snapToGrid="0" snapToObjects="1">
      <p:cViewPr varScale="1">
        <p:scale>
          <a:sx n="94" d="100"/>
          <a:sy n="94" d="100"/>
        </p:scale>
        <p:origin x="414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8.xml"/><Relationship Id="rId14" Type="http://schemas.openxmlformats.org/officeDocument/2006/relationships/slide" Target="slides/slide17.xml"/><Relationship Id="rId15" Type="http://schemas.openxmlformats.org/officeDocument/2006/relationships/slide" Target="slides/slide16.xml"/><Relationship Id="rId16" Type="http://schemas.openxmlformats.org/officeDocument/2006/relationships/slide" Target="slides/slide15.xml"/><Relationship Id="rId17" Type="http://schemas.openxmlformats.org/officeDocument/2006/relationships/slide" Target="slides/slide14.xml"/><Relationship Id="rId18" Type="http://schemas.openxmlformats.org/officeDocument/2006/relationships/slide" Target="slides/slide13.xml"/><Relationship Id="rId19" Type="http://schemas.openxmlformats.org/officeDocument/2006/relationships/slide" Target="slides/slide12.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77646A-58FA-9D40-9D9D-83B2E51FE78A}" type="datetimeFigureOut">
              <a:rPr lang="en-US" smtClean="0"/>
              <a:t>9/24/2026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2F7FF-80E9-EA46-8276-FB972CB01D29}" type="slidenum">
              <a:rPr lang="en-US" smtClean="0"/>
              <a:t>‹#›</a:t>
            </a:fld>
            <a:endParaRPr lang="en-US"/>
          </a:p>
        </p:txBody>
      </p:sp>
    </p:spTree>
    <p:extLst>
      <p:ext uri="{BB962C8B-B14F-4D97-AF65-F5344CB8AC3E}">
        <p14:creationId xmlns:p14="http://schemas.microsoft.com/office/powerpoint/2010/main" val="2807404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t>~20 s. This is about turning a small educational robot into one that maps a home by itself: it decides where to go, avoids obstacles, and comes back with a map. Everything runs on a Raspberry Pi 5; my laptop only watches.</a:t>
            </a:r>
          </a:p>
        </p:txBody>
      </p:sp>
      <p:sp>
        <p:nvSpPr>
          <p:cNvPr id="4" name="Slide Number Placeholder 3"/>
          <p:cNvSpPr>
            <a:spLocks noGrp="1"/>
          </p:cNvSpPr>
          <p:nvPr>
            <p:ph type="sldNum" sz="quarter" idx="5"/>
          </p:nvPr>
        </p:nvSpPr>
        <p:spPr/>
        <p:txBody>
          <a:bodyPr/>
          <a:lstStyle/>
          <a:p>
            <a:fld id="{E162F7FF-80E9-EA46-8276-FB972CB01D29}" type="slidenum">
              <a:rPr lang="en-US" smtClean="0"/>
              <a:t>1</a:t>
            </a:fld>
            <a:endParaRPr lang="en-US"/>
          </a:p>
        </p:txBody>
      </p:sp>
    </p:spTree>
    <p:extLst>
      <p:ext uri="{BB962C8B-B14F-4D97-AF65-F5344CB8AC3E}">
        <p14:creationId xmlns:p14="http://schemas.microsoft.com/office/powerpoint/2010/main" val="3808398167"/>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Mapping with a 2D lidar is a solved problem; what costs time is the operator driving slowly through every room. Frontier exploration automates that. The question was whether a cheap robot can do it with all the computation on board.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The robot: Pi 5, tracks, a 360 degree lidar and a depth camera. There was no ROS 2 driver for the lidar, so I wrote one. The rest is standard ROS 2: Hector SLAM and Nav2, plus glue I wrote.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For SLAM I chose Hector because it needs no odometry, and the tracks skid. For navigation Nav2 with Regulated Pure Pursuit, which suits a slow differential robot. The explorer is my own greedy frontier explorer, because I wanted every decision logged and a clean return home.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Two systemd services on the Pi: drivers at boot, and the exploration stack on demand, which the PC starts over ssh. Every control loop runs on the Pi. The laptop subscribes to the map, plan, camera and explorer state, and only publishes start, pause and home.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No ROS 2 Jazzy driver existed, so I parsed the 47-byte packets myself, checked the CRC, and binned each revolution into 450 rays. The TF chain: Hector publishes map to odom, the motor node odom to base, and the laser is a static frame 12 cm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Hector finds the pose that puts every scan point on an occupied cell, by Gauss-Newton on a bilinearly interpolated map, coarse to fine. No odometry is used, which is why it suits a tracked robot. It has no loop closure, so a bad match stays in the map.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The servers I start, with their key parameters. Pure pursuit steers toward a carrot on the path: curvature two y over L squared. It slows down on tight curves and near obstacles and rotates in place for big heading errors. The transform tolerance had to go to one second because Hector's TF is stamped with the scan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Three layers: planner, controller, and the motor node, which checks the lidar itself and stops below 25 cm whatever Nav2 asks. The operator can always take over: any key pauses the explorer first.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Nav2 speaks metres per second; the motor node speaks fractions. The adapter converts, compensates the deadband, and keeps the curvature when one track saturates. Speeds measured on carpet match the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The search: classify cells, distance transform for clearance, Dijkstra for the real path distance, frontier clusters, a goal on the reachable side of each, then the score. The size bonus is capped: on the first run one 39 metre ragged edge dominated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Goals end four ways. Reached goals are blacklisted too, because a frontier that is still there when you stand next to it is a pocket the lidar can't see into. When three searches find nothing, the robot drives home and saves the map. Everything is logged.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Before the robot, the explorer ran on a synthetic 10 by 7 metre apartment with a ray-cast lidar. It mapped all free space in 22 metres. This checks the goal choice and the stopping rule, not SLAM or control.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I measured before moving anything: about one and a half cores of four. The camera is the biggest load. Mixing DDS vendors caused two unrelated bugs; using Cyclone everywhere fixed both.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The key finding. The wheels and SLAM disagreed in sign. Aligning two scans by circular shift gives the true rotation without trusting either; the lidar's angle convention had been checked with the camera. Both motor signs were inverted, and the odometry, using the same signs, could never notice.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Seven faults, in order. Middleware, namespaces, a logger bug, timestamps, rates, motor signs and frontier pockets. None was in Hector, Nav2 or the frontier idea; all were at the joins.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The operator app at the end of the run: camera on the left, the map and the robot's path on the right, the explorer's state below. It starts the stack over ssh and can pause, take over or send the robot home.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One unattended run in an apartment: 47 square metres in twelve and a half minutes, 74 metres driven, 30 goals chosen by the robot, one failed, behind a wall. When nothing was left it drove home and saved the map. The streak at the top is free space seen through a narrow gap; too narrow to count as a frontier.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Area grows fastest in the first two minutes, when each goal opens a new room, then creeps up as corners are visited one by one. Frontiers peak around four minutes and reach zero at eleven and a half. The Pi used about one and a half cores.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None of the problems were in the algorithms. They were in conventions, rates, timestamps, names and middleware. Limits: the lidar sees one plane, so stairs and cables are invisible to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Three things: everything runs on the robot, obstacle avoidance is layered down to the motor node, and it is all on GitHub with the run logs.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D BAR | Title Page with side imag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B2EDA9-BA65-7D43-B2F9-A634420DBC76}"/>
              </a:ext>
            </a:extLst>
          </p:cNvPr>
          <p:cNvSpPr txBox="1"/>
          <p:nvPr userDrawn="1"/>
        </p:nvSpPr>
        <p:spPr>
          <a:xfrm>
            <a:off x="0" y="0"/>
            <a:ext cx="5380038" cy="6864536"/>
          </a:xfrm>
          <a:prstGeom prst="rect">
            <a:avLst/>
          </a:prstGeom>
          <a:solidFill>
            <a:srgbClr val="CC0633"/>
          </a:solidFill>
        </p:spPr>
        <p:txBody>
          <a:bodyPr wrap="square" rtlCol="0">
            <a:spAutoFit/>
          </a:bodyPr>
          <a:lstStyle/>
          <a:p>
            <a:endParaRPr lang="en-US" dirty="0"/>
          </a:p>
        </p:txBody>
      </p:sp>
      <p:sp>
        <p:nvSpPr>
          <p:cNvPr id="4" name="Picture Placeholder 3"/>
          <p:cNvSpPr>
            <a:spLocks noGrp="1"/>
          </p:cNvSpPr>
          <p:nvPr>
            <p:ph type="pic" sz="quarter" idx="11"/>
          </p:nvPr>
        </p:nvSpPr>
        <p:spPr>
          <a:xfrm>
            <a:off x="5380038" y="186"/>
            <a:ext cx="3763962" cy="6864350"/>
          </a:xfrm>
        </p:spPr>
        <p:txBody>
          <a:bodyPr/>
          <a:lstStyle/>
          <a:p>
            <a:endParaRPr lang="en-US" dirty="0"/>
          </a:p>
        </p:txBody>
      </p:sp>
      <p:sp>
        <p:nvSpPr>
          <p:cNvPr id="3" name="Date Placeholder 2">
            <a:extLst>
              <a:ext uri="{FF2B5EF4-FFF2-40B4-BE49-F238E27FC236}">
                <a16:creationId xmlns:a16="http://schemas.microsoft.com/office/drawing/2014/main" id="{E40BDC30-F9E2-E84D-8EC1-32EBBF8E3038}"/>
              </a:ext>
            </a:extLst>
          </p:cNvPr>
          <p:cNvSpPr>
            <a:spLocks noGrp="1"/>
          </p:cNvSpPr>
          <p:nvPr>
            <p:ph type="dt" sz="half" idx="10"/>
          </p:nvPr>
        </p:nvSpPr>
        <p:spPr>
          <a:xfrm>
            <a:off x="628650" y="5573203"/>
            <a:ext cx="2057400" cy="365125"/>
          </a:xfrm>
        </p:spPr>
        <p:txBody>
          <a:bodyPr/>
          <a:lstStyle/>
          <a:p>
            <a:r>
              <a:rPr lang="en-US" dirty="0"/>
              <a:t>DAY MONTH YEAR</a:t>
            </a:r>
          </a:p>
        </p:txBody>
      </p:sp>
      <p:sp>
        <p:nvSpPr>
          <p:cNvPr id="7" name="Title 1">
            <a:extLst>
              <a:ext uri="{FF2B5EF4-FFF2-40B4-BE49-F238E27FC236}">
                <a16:creationId xmlns:a16="http://schemas.microsoft.com/office/drawing/2014/main" id="{9AAA6453-7A6E-6F44-9531-EED55DE91367}"/>
              </a:ext>
            </a:extLst>
          </p:cNvPr>
          <p:cNvSpPr>
            <a:spLocks noGrp="1"/>
          </p:cNvSpPr>
          <p:nvPr>
            <p:ph type="ctrTitle" hasCustomPrompt="1"/>
          </p:nvPr>
        </p:nvSpPr>
        <p:spPr>
          <a:xfrm>
            <a:off x="628649" y="1122363"/>
            <a:ext cx="4751389" cy="3278721"/>
          </a:xfrm>
          <a:noFill/>
          <a:ln>
            <a:noFill/>
          </a:ln>
        </p:spPr>
        <p:txBody>
          <a:bodyPr anchor="t">
            <a:noAutofit/>
          </a:bodyPr>
          <a:lstStyle>
            <a:lvl1pPr algn="l">
              <a:defRPr sz="6000">
                <a:ln>
                  <a:noFill/>
                </a:ln>
                <a:solidFill>
                  <a:schemeClr val="bg1"/>
                </a:solidFill>
              </a:defRPr>
            </a:lvl1pPr>
          </a:lstStyle>
          <a:p>
            <a:r>
              <a:rPr lang="en-US" dirty="0"/>
              <a:t>PRESENTATION</a:t>
            </a:r>
            <a:br>
              <a:rPr lang="en-US" dirty="0"/>
            </a:br>
            <a:r>
              <a:rPr lang="en-US" dirty="0"/>
              <a:t>TITLE PAGE</a:t>
            </a:r>
            <a:br>
              <a:rPr lang="en-US" dirty="0"/>
            </a:br>
            <a:r>
              <a:rPr lang="en-US" dirty="0"/>
              <a:t>WITH </a:t>
            </a:r>
            <a:br>
              <a:rPr lang="en-US" dirty="0"/>
            </a:br>
            <a:r>
              <a:rPr lang="en-US" dirty="0"/>
              <a:t>SIDE IMAGE</a:t>
            </a:r>
          </a:p>
        </p:txBody>
      </p:sp>
      <p:pic>
        <p:nvPicPr>
          <p:cNvPr id="12" name="Picture 11">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3023542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BAR | Title Page with side image">
    <p:spTree>
      <p:nvGrpSpPr>
        <p:cNvPr id="1" name=""/>
        <p:cNvGrpSpPr/>
        <p:nvPr/>
      </p:nvGrpSpPr>
      <p:grpSpPr>
        <a:xfrm>
          <a:off x="0" y="0"/>
          <a:ext cx="0" cy="0"/>
          <a:chOff x="0" y="0"/>
          <a:chExt cx="0" cy="0"/>
        </a:xfrm>
      </p:grpSpPr>
      <p:sp>
        <p:nvSpPr>
          <p:cNvPr id="6" name="Rectangle 5"/>
          <p:cNvSpPr/>
          <p:nvPr userDrawn="1"/>
        </p:nvSpPr>
        <p:spPr>
          <a:xfrm>
            <a:off x="5380038" y="-6350"/>
            <a:ext cx="3763962" cy="6864350"/>
          </a:xfrm>
          <a:prstGeom prst="rect">
            <a:avLst/>
          </a:prstGeom>
          <a:solidFill>
            <a:schemeClr val="bg1">
              <a:lumMod val="8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Picture Placeholder 3"/>
          <p:cNvSpPr>
            <a:spLocks noGrp="1"/>
          </p:cNvSpPr>
          <p:nvPr>
            <p:ph type="pic" sz="quarter" idx="11"/>
          </p:nvPr>
        </p:nvSpPr>
        <p:spPr>
          <a:xfrm>
            <a:off x="5380038" y="0"/>
            <a:ext cx="3763962" cy="6864350"/>
          </a:xfrm>
        </p:spPr>
        <p:txBody>
          <a:bodyPr/>
          <a:lstStyle/>
          <a:p>
            <a:endParaRPr lang="en-US"/>
          </a:p>
        </p:txBody>
      </p:sp>
      <p:sp>
        <p:nvSpPr>
          <p:cNvPr id="3" name="Date Placeholder 2">
            <a:extLst>
              <a:ext uri="{FF2B5EF4-FFF2-40B4-BE49-F238E27FC236}">
                <a16:creationId xmlns:a16="http://schemas.microsoft.com/office/drawing/2014/main" id="{E40BDC30-F9E2-E84D-8EC1-32EBBF8E3038}"/>
              </a:ext>
            </a:extLst>
          </p:cNvPr>
          <p:cNvSpPr>
            <a:spLocks noGrp="1"/>
          </p:cNvSpPr>
          <p:nvPr>
            <p:ph type="dt" sz="half" idx="10"/>
          </p:nvPr>
        </p:nvSpPr>
        <p:spPr>
          <a:xfrm>
            <a:off x="628650" y="5573203"/>
            <a:ext cx="2057400" cy="365125"/>
          </a:xfrm>
        </p:spPr>
        <p:txBody>
          <a:bodyPr/>
          <a:lstStyle/>
          <a:p>
            <a:r>
              <a:rPr lang="en-US" dirty="0"/>
              <a:t>DAY MONTH YEAR</a:t>
            </a:r>
          </a:p>
        </p:txBody>
      </p:sp>
      <p:sp>
        <p:nvSpPr>
          <p:cNvPr id="7" name="Title 1">
            <a:extLst>
              <a:ext uri="{FF2B5EF4-FFF2-40B4-BE49-F238E27FC236}">
                <a16:creationId xmlns:a16="http://schemas.microsoft.com/office/drawing/2014/main" id="{9AAA6453-7A6E-6F44-9531-EED55DE91367}"/>
              </a:ext>
            </a:extLst>
          </p:cNvPr>
          <p:cNvSpPr>
            <a:spLocks noGrp="1"/>
          </p:cNvSpPr>
          <p:nvPr>
            <p:ph type="ctrTitle" hasCustomPrompt="1"/>
          </p:nvPr>
        </p:nvSpPr>
        <p:spPr>
          <a:xfrm>
            <a:off x="628649" y="1122363"/>
            <a:ext cx="4751389" cy="3278721"/>
          </a:xfrm>
        </p:spPr>
        <p:txBody>
          <a:bodyPr anchor="t">
            <a:noAutofit/>
          </a:bodyPr>
          <a:lstStyle>
            <a:lvl1pPr algn="l">
              <a:defRPr sz="6000">
                <a:solidFill>
                  <a:srgbClr val="CC0633"/>
                </a:solidFill>
              </a:defRPr>
            </a:lvl1pPr>
          </a:lstStyle>
          <a:p>
            <a:r>
              <a:rPr lang="en-US" dirty="0"/>
              <a:t>PRESENTATION</a:t>
            </a:r>
            <a:br>
              <a:rPr lang="en-US" dirty="0"/>
            </a:br>
            <a:r>
              <a:rPr lang="en-US" dirty="0"/>
              <a:t>TITLE PAGE</a:t>
            </a:r>
            <a:br>
              <a:rPr lang="en-US" dirty="0"/>
            </a:br>
            <a:r>
              <a:rPr lang="en-US" dirty="0"/>
              <a:t>WITH </a:t>
            </a:r>
            <a:br>
              <a:rPr lang="en-US" dirty="0"/>
            </a:br>
            <a:r>
              <a:rPr lang="en-US" dirty="0"/>
              <a:t>SIDE IMAGE</a:t>
            </a:r>
          </a:p>
        </p:txBody>
      </p:sp>
      <p:pic>
        <p:nvPicPr>
          <p:cNvPr id="12" name="Picture 11">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2453020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D BAR | Title Page with top imag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C24254-722A-B146-BECC-4895EC4DA86A}"/>
              </a:ext>
            </a:extLst>
          </p:cNvPr>
          <p:cNvSpPr txBox="1"/>
          <p:nvPr userDrawn="1"/>
        </p:nvSpPr>
        <p:spPr>
          <a:xfrm>
            <a:off x="0" y="3743324"/>
            <a:ext cx="9143999" cy="3114675"/>
          </a:xfrm>
          <a:prstGeom prst="rect">
            <a:avLst/>
          </a:prstGeom>
          <a:solidFill>
            <a:srgbClr val="CC0633"/>
          </a:solidFill>
        </p:spPr>
        <p:txBody>
          <a:bodyPr wrap="square" rtlCol="0">
            <a:spAutoFit/>
          </a:bodyPr>
          <a:lstStyle/>
          <a:p>
            <a:endParaRPr lang="en-US" dirty="0"/>
          </a:p>
        </p:txBody>
      </p:sp>
      <p:sp>
        <p:nvSpPr>
          <p:cNvPr id="5" name="Title 1">
            <a:extLst>
              <a:ext uri="{FF2B5EF4-FFF2-40B4-BE49-F238E27FC236}">
                <a16:creationId xmlns:a16="http://schemas.microsoft.com/office/drawing/2014/main" id="{A9135019-64D5-5141-B3AA-B6B20940587F}"/>
              </a:ext>
            </a:extLst>
          </p:cNvPr>
          <p:cNvSpPr>
            <a:spLocks noGrp="1"/>
          </p:cNvSpPr>
          <p:nvPr>
            <p:ph type="ctrTitle" hasCustomPrompt="1"/>
          </p:nvPr>
        </p:nvSpPr>
        <p:spPr>
          <a:xfrm>
            <a:off x="730666" y="4101752"/>
            <a:ext cx="7772400" cy="3278721"/>
          </a:xfrm>
        </p:spPr>
        <p:txBody>
          <a:bodyPr anchor="t">
            <a:noAutofit/>
          </a:bodyPr>
          <a:lstStyle>
            <a:lvl1pPr algn="l">
              <a:defRPr sz="6000">
                <a:solidFill>
                  <a:schemeClr val="bg1"/>
                </a:solidFill>
              </a:defRPr>
            </a:lvl1pPr>
          </a:lstStyle>
          <a:p>
            <a:r>
              <a:rPr lang="en-US" dirty="0"/>
              <a:t>PRESENTATION</a:t>
            </a:r>
            <a:br>
              <a:rPr lang="en-US" dirty="0"/>
            </a:br>
            <a:r>
              <a:rPr lang="en-US" dirty="0"/>
              <a:t>TITLE PAGE</a:t>
            </a:r>
            <a:br>
              <a:rPr lang="en-US" dirty="0"/>
            </a:br>
            <a:r>
              <a:rPr lang="en-US" dirty="0"/>
              <a:t>WITH TOP IMAGE</a:t>
            </a:r>
          </a:p>
        </p:txBody>
      </p:sp>
      <p:sp>
        <p:nvSpPr>
          <p:cNvPr id="6" name="Picture Placeholder 3"/>
          <p:cNvSpPr>
            <a:spLocks noGrp="1"/>
          </p:cNvSpPr>
          <p:nvPr>
            <p:ph type="pic" sz="quarter" idx="11"/>
          </p:nvPr>
        </p:nvSpPr>
        <p:spPr>
          <a:xfrm>
            <a:off x="0" y="-1"/>
            <a:ext cx="9144000" cy="3743325"/>
          </a:xfrm>
        </p:spPr>
        <p:txBody>
          <a:bodyPr/>
          <a:lstStyle/>
          <a:p>
            <a:endParaRPr lang="en-US"/>
          </a:p>
        </p:txBody>
      </p:sp>
      <p:pic>
        <p:nvPicPr>
          <p:cNvPr id="8" name="Picture 7">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3834892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BAR | Title Page with top image">
    <p:spTree>
      <p:nvGrpSpPr>
        <p:cNvPr id="1" name=""/>
        <p:cNvGrpSpPr/>
        <p:nvPr/>
      </p:nvGrpSpPr>
      <p:grpSpPr>
        <a:xfrm>
          <a:off x="0" y="0"/>
          <a:ext cx="0" cy="0"/>
          <a:chOff x="0" y="0"/>
          <a:chExt cx="0" cy="0"/>
        </a:xfrm>
      </p:grpSpPr>
      <p:sp>
        <p:nvSpPr>
          <p:cNvPr id="3" name="Rectangle 2"/>
          <p:cNvSpPr/>
          <p:nvPr userDrawn="1"/>
        </p:nvSpPr>
        <p:spPr>
          <a:xfrm>
            <a:off x="0" y="-6351"/>
            <a:ext cx="9144000" cy="3830855"/>
          </a:xfrm>
          <a:prstGeom prst="rect">
            <a:avLst/>
          </a:prstGeom>
          <a:solidFill>
            <a:schemeClr val="bg1">
              <a:lumMod val="8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Picture Placeholder 3"/>
          <p:cNvSpPr>
            <a:spLocks noGrp="1"/>
          </p:cNvSpPr>
          <p:nvPr>
            <p:ph type="pic" sz="quarter" idx="11"/>
          </p:nvPr>
        </p:nvSpPr>
        <p:spPr>
          <a:xfrm>
            <a:off x="0" y="-1"/>
            <a:ext cx="9144000" cy="3830855"/>
          </a:xfrm>
        </p:spPr>
        <p:txBody>
          <a:bodyPr/>
          <a:lstStyle/>
          <a:p>
            <a:endParaRPr lang="en-US"/>
          </a:p>
        </p:txBody>
      </p:sp>
      <p:sp>
        <p:nvSpPr>
          <p:cNvPr id="4" name="Title 1">
            <a:extLst>
              <a:ext uri="{FF2B5EF4-FFF2-40B4-BE49-F238E27FC236}">
                <a16:creationId xmlns:a16="http://schemas.microsoft.com/office/drawing/2014/main" id="{A46B9196-03E0-1243-81CF-AEC41C822380}"/>
              </a:ext>
            </a:extLst>
          </p:cNvPr>
          <p:cNvSpPr>
            <a:spLocks noGrp="1"/>
          </p:cNvSpPr>
          <p:nvPr>
            <p:ph type="ctrTitle" hasCustomPrompt="1"/>
          </p:nvPr>
        </p:nvSpPr>
        <p:spPr>
          <a:xfrm>
            <a:off x="730666" y="4101752"/>
            <a:ext cx="7772400" cy="3278721"/>
          </a:xfrm>
        </p:spPr>
        <p:txBody>
          <a:bodyPr anchor="t">
            <a:noAutofit/>
          </a:bodyPr>
          <a:lstStyle>
            <a:lvl1pPr algn="l">
              <a:defRPr sz="6000">
                <a:solidFill>
                  <a:srgbClr val="CC0633"/>
                </a:solidFill>
              </a:defRPr>
            </a:lvl1pPr>
          </a:lstStyle>
          <a:p>
            <a:r>
              <a:rPr lang="en-US" dirty="0"/>
              <a:t>PRESENTATION</a:t>
            </a:r>
            <a:br>
              <a:rPr lang="en-US" dirty="0"/>
            </a:br>
            <a:r>
              <a:rPr lang="en-US" dirty="0"/>
              <a:t>TITLE PAGE</a:t>
            </a:r>
            <a:br>
              <a:rPr lang="en-US" dirty="0"/>
            </a:br>
            <a:r>
              <a:rPr lang="en-US" dirty="0"/>
              <a:t>WITH TOP IMAGE</a:t>
            </a:r>
          </a:p>
        </p:txBody>
      </p:sp>
      <p:pic>
        <p:nvPicPr>
          <p:cNvPr id="6" name="Picture 5">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431708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D BAR | Title Page without imag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C29D96-D707-B34D-8402-C357832A3C7A}"/>
              </a:ext>
            </a:extLst>
          </p:cNvPr>
          <p:cNvSpPr txBox="1"/>
          <p:nvPr userDrawn="1"/>
        </p:nvSpPr>
        <p:spPr>
          <a:xfrm>
            <a:off x="0" y="1386479"/>
            <a:ext cx="9144000" cy="4025463"/>
          </a:xfrm>
          <a:prstGeom prst="rect">
            <a:avLst/>
          </a:prstGeom>
          <a:solidFill>
            <a:srgbClr val="CC0633"/>
          </a:solidFill>
        </p:spPr>
        <p:txBody>
          <a:bodyPr wrap="square" rtlCol="0">
            <a:spAutoFit/>
          </a:bodyPr>
          <a:lstStyle/>
          <a:p>
            <a:endParaRPr lang="en-US" dirty="0"/>
          </a:p>
        </p:txBody>
      </p:sp>
      <p:sp>
        <p:nvSpPr>
          <p:cNvPr id="11" name="Date Placeholder 2">
            <a:extLst>
              <a:ext uri="{FF2B5EF4-FFF2-40B4-BE49-F238E27FC236}">
                <a16:creationId xmlns:a16="http://schemas.microsoft.com/office/drawing/2014/main" id="{A9E8EA64-4192-3B4B-B6D0-A0CBC5D266D2}"/>
              </a:ext>
            </a:extLst>
          </p:cNvPr>
          <p:cNvSpPr>
            <a:spLocks noGrp="1"/>
          </p:cNvSpPr>
          <p:nvPr>
            <p:ph type="dt" sz="half" idx="10"/>
          </p:nvPr>
        </p:nvSpPr>
        <p:spPr>
          <a:xfrm>
            <a:off x="628650" y="5599184"/>
            <a:ext cx="2057400" cy="365125"/>
          </a:xfrm>
        </p:spPr>
        <p:txBody>
          <a:bodyPr/>
          <a:lstStyle>
            <a:lvl1pPr>
              <a:defRPr>
                <a:solidFill>
                  <a:srgbClr val="4D4D4C"/>
                </a:solidFill>
              </a:defRPr>
            </a:lvl1pPr>
          </a:lstStyle>
          <a:p>
            <a:r>
              <a:rPr lang="en-US" dirty="0"/>
              <a:t>DAY MONTH YEAR</a:t>
            </a:r>
          </a:p>
        </p:txBody>
      </p:sp>
      <p:pic>
        <p:nvPicPr>
          <p:cNvPr id="13" name="Picture 12">
            <a:extLst>
              <a:ext uri="{FF2B5EF4-FFF2-40B4-BE49-F238E27FC236}">
                <a16:creationId xmlns:a16="http://schemas.microsoft.com/office/drawing/2014/main" id="{B64D345E-FAF2-894B-9E63-6F75C8E5BD2D}"/>
              </a:ext>
            </a:extLst>
          </p:cNvPr>
          <p:cNvPicPr>
            <a:picLocks noChangeAspect="1"/>
          </p:cNvPicPr>
          <p:nvPr userDrawn="1"/>
        </p:nvPicPr>
        <p:blipFill>
          <a:blip r:embed="rId2"/>
          <a:stretch>
            <a:fillRect/>
          </a:stretch>
        </p:blipFill>
        <p:spPr>
          <a:xfrm>
            <a:off x="7221196" y="0"/>
            <a:ext cx="1281870" cy="640935"/>
          </a:xfrm>
          <a:prstGeom prst="rect">
            <a:avLst/>
          </a:prstGeom>
        </p:spPr>
      </p:pic>
      <p:sp>
        <p:nvSpPr>
          <p:cNvPr id="5" name="Title 1">
            <a:extLst>
              <a:ext uri="{FF2B5EF4-FFF2-40B4-BE49-F238E27FC236}">
                <a16:creationId xmlns:a16="http://schemas.microsoft.com/office/drawing/2014/main" id="{C9131F03-220F-7843-B21F-44753B90782B}"/>
              </a:ext>
            </a:extLst>
          </p:cNvPr>
          <p:cNvSpPr>
            <a:spLocks noGrp="1"/>
          </p:cNvSpPr>
          <p:nvPr>
            <p:ph type="ctrTitle" hasCustomPrompt="1"/>
          </p:nvPr>
        </p:nvSpPr>
        <p:spPr>
          <a:xfrm>
            <a:off x="730666" y="1915764"/>
            <a:ext cx="7772400" cy="3278721"/>
          </a:xfrm>
        </p:spPr>
        <p:txBody>
          <a:bodyPr anchor="t">
            <a:noAutofit/>
          </a:bodyPr>
          <a:lstStyle>
            <a:lvl1pPr algn="l">
              <a:defRPr sz="7200">
                <a:solidFill>
                  <a:schemeClr val="bg1"/>
                </a:solidFill>
              </a:defRPr>
            </a:lvl1pPr>
          </a:lstStyle>
          <a:p>
            <a:r>
              <a:rPr lang="en-US" dirty="0"/>
              <a:t>PRESENTATION</a:t>
            </a:r>
            <a:br>
              <a:rPr lang="en-US" dirty="0"/>
            </a:br>
            <a:r>
              <a:rPr lang="en-US" dirty="0"/>
              <a:t>TITLE PAGE</a:t>
            </a:r>
            <a:br>
              <a:rPr lang="en-US" dirty="0"/>
            </a:br>
            <a:r>
              <a:rPr lang="en-US" dirty="0"/>
              <a:t>WITHOUT IMAGE</a:t>
            </a:r>
          </a:p>
        </p:txBody>
      </p:sp>
    </p:spTree>
    <p:extLst>
      <p:ext uri="{BB962C8B-B14F-4D97-AF65-F5344CB8AC3E}">
        <p14:creationId xmlns:p14="http://schemas.microsoft.com/office/powerpoint/2010/main" val="228315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BAR | Title Page without image">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1140F4F-0E75-ED4A-90B8-D9886065EBC1}"/>
              </a:ext>
            </a:extLst>
          </p:cNvPr>
          <p:cNvSpPr txBox="1"/>
          <p:nvPr userDrawn="1"/>
        </p:nvSpPr>
        <p:spPr>
          <a:xfrm>
            <a:off x="0" y="0"/>
            <a:ext cx="9144000" cy="6858000"/>
          </a:xfrm>
          <a:prstGeom prst="rect">
            <a:avLst/>
          </a:prstGeom>
          <a:solidFill>
            <a:srgbClr val="CC0633"/>
          </a:solidFill>
        </p:spPr>
        <p:txBody>
          <a:bodyPr wrap="square" rtlCol="0">
            <a:spAutoFit/>
          </a:bodyPr>
          <a:lstStyle/>
          <a:p>
            <a:endParaRPr lang="en-US" dirty="0"/>
          </a:p>
        </p:txBody>
      </p:sp>
      <p:sp>
        <p:nvSpPr>
          <p:cNvPr id="7" name="TextBox 6">
            <a:extLst>
              <a:ext uri="{FF2B5EF4-FFF2-40B4-BE49-F238E27FC236}">
                <a16:creationId xmlns:a16="http://schemas.microsoft.com/office/drawing/2014/main" id="{7C99B31A-829C-DC4E-8280-930D2537D48A}"/>
              </a:ext>
            </a:extLst>
          </p:cNvPr>
          <p:cNvSpPr txBox="1"/>
          <p:nvPr userDrawn="1"/>
        </p:nvSpPr>
        <p:spPr>
          <a:xfrm>
            <a:off x="1" y="1376854"/>
            <a:ext cx="9144000" cy="4025463"/>
          </a:xfrm>
          <a:prstGeom prst="rect">
            <a:avLst/>
          </a:prstGeom>
          <a:solidFill>
            <a:schemeClr val="bg1"/>
          </a:solidFill>
        </p:spPr>
        <p:txBody>
          <a:bodyPr wrap="square" rtlCol="0">
            <a:noAutofit/>
          </a:bodyPr>
          <a:lstStyle/>
          <a:p>
            <a:endParaRPr lang="en-US" dirty="0"/>
          </a:p>
        </p:txBody>
      </p:sp>
      <p:sp>
        <p:nvSpPr>
          <p:cNvPr id="2" name="Title 1"/>
          <p:cNvSpPr>
            <a:spLocks noGrp="1"/>
          </p:cNvSpPr>
          <p:nvPr>
            <p:ph type="ctrTitle" hasCustomPrompt="1"/>
          </p:nvPr>
        </p:nvSpPr>
        <p:spPr>
          <a:xfrm>
            <a:off x="730666" y="1873722"/>
            <a:ext cx="7772400" cy="3278721"/>
          </a:xfrm>
        </p:spPr>
        <p:txBody>
          <a:bodyPr anchor="t">
            <a:noAutofit/>
          </a:bodyPr>
          <a:lstStyle>
            <a:lvl1pPr algn="l">
              <a:defRPr sz="7200">
                <a:solidFill>
                  <a:srgbClr val="CC0633"/>
                </a:solidFill>
              </a:defRPr>
            </a:lvl1pPr>
          </a:lstStyle>
          <a:p>
            <a:r>
              <a:rPr lang="en-US" dirty="0"/>
              <a:t>PRESENTATION</a:t>
            </a:r>
            <a:br>
              <a:rPr lang="en-US" dirty="0"/>
            </a:br>
            <a:r>
              <a:rPr lang="en-US" dirty="0"/>
              <a:t>TITLE PAGE</a:t>
            </a:r>
            <a:br>
              <a:rPr lang="en-US" dirty="0"/>
            </a:br>
            <a:r>
              <a:rPr lang="en-US" dirty="0"/>
              <a:t>WITHOUT IMAGE</a:t>
            </a:r>
          </a:p>
        </p:txBody>
      </p:sp>
      <p:sp>
        <p:nvSpPr>
          <p:cNvPr id="11" name="Date Placeholder 2">
            <a:extLst>
              <a:ext uri="{FF2B5EF4-FFF2-40B4-BE49-F238E27FC236}">
                <a16:creationId xmlns:a16="http://schemas.microsoft.com/office/drawing/2014/main" id="{A9E8EA64-4192-3B4B-B6D0-A0CBC5D266D2}"/>
              </a:ext>
            </a:extLst>
          </p:cNvPr>
          <p:cNvSpPr>
            <a:spLocks noGrp="1"/>
          </p:cNvSpPr>
          <p:nvPr>
            <p:ph type="dt" sz="half" idx="10"/>
          </p:nvPr>
        </p:nvSpPr>
        <p:spPr>
          <a:xfrm>
            <a:off x="628650" y="5599184"/>
            <a:ext cx="2057400" cy="365125"/>
          </a:xfrm>
        </p:spPr>
        <p:txBody>
          <a:bodyPr/>
          <a:lstStyle/>
          <a:p>
            <a:r>
              <a:rPr lang="en-US" dirty="0"/>
              <a:t>DAY MONTH YEAR</a:t>
            </a:r>
          </a:p>
        </p:txBody>
      </p:sp>
      <p:pic>
        <p:nvPicPr>
          <p:cNvPr id="13" name="Picture 12">
            <a:extLst>
              <a:ext uri="{FF2B5EF4-FFF2-40B4-BE49-F238E27FC236}">
                <a16:creationId xmlns:a16="http://schemas.microsoft.com/office/drawing/2014/main" id="{B64D345E-FAF2-894B-9E63-6F75C8E5BD2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755074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Number 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995680"/>
            <a:ext cx="7886700" cy="695008"/>
          </a:xfrm>
        </p:spPr>
        <p:txBody>
          <a:bodyPr anchor="t">
            <a:noAutofit/>
          </a:bodyPr>
          <a:lstStyle>
            <a:lvl1pPr>
              <a:defRPr>
                <a:solidFill>
                  <a:srgbClr val="CC0633"/>
                </a:solidFill>
              </a:defRPr>
            </a:lvl1pPr>
          </a:lstStyle>
          <a:p>
            <a:r>
              <a:rPr lang="en-US" dirty="0"/>
              <a:t>PAGE WITH NUMBER LIST</a:t>
            </a:r>
          </a:p>
        </p:txBody>
      </p:sp>
      <p:sp>
        <p:nvSpPr>
          <p:cNvPr id="7" name="Text Placeholder 2">
            <a:extLst>
              <a:ext uri="{FF2B5EF4-FFF2-40B4-BE49-F238E27FC236}">
                <a16:creationId xmlns:a16="http://schemas.microsoft.com/office/drawing/2014/main" id="{3684F753-3455-1247-9A43-9DFAC72B8EE4}"/>
              </a:ext>
            </a:extLst>
          </p:cNvPr>
          <p:cNvSpPr>
            <a:spLocks noGrp="1"/>
          </p:cNvSpPr>
          <p:nvPr>
            <p:ph type="body" sz="quarter" idx="13"/>
          </p:nvPr>
        </p:nvSpPr>
        <p:spPr>
          <a:xfrm>
            <a:off x="-107074" y="1917700"/>
            <a:ext cx="9135164" cy="3568700"/>
          </a:xfrm>
          <a:prstGeom prst="rect">
            <a:avLst/>
          </a:prstGeom>
        </p:spPr>
        <p:txBody>
          <a:bodyPr/>
          <a:lstStyle>
            <a:lvl1pPr marL="1200150" indent="-393700">
              <a:buFont typeface="+mj-lt"/>
              <a:buAutoNum type="arabicPeriod"/>
              <a:tabLst/>
              <a:defRPr b="0">
                <a:solidFill>
                  <a:srgbClr val="54585A"/>
                </a:solidFill>
                <a:latin typeface="Times" charset="0"/>
                <a:ea typeface="Times" charset="0"/>
                <a:cs typeface="Times" charset="0"/>
              </a:defRPr>
            </a:lvl1pPr>
            <a:lvl2pPr marL="1466850" indent="-309563">
              <a:buFont typeface="+mj-lt"/>
              <a:buAutoNum type="arabicPeriod"/>
              <a:tabLst/>
              <a:defRPr b="0">
                <a:solidFill>
                  <a:srgbClr val="54585A"/>
                </a:solidFill>
                <a:latin typeface="Times" charset="0"/>
                <a:ea typeface="Times" charset="0"/>
                <a:cs typeface="Times" charset="0"/>
              </a:defRPr>
            </a:lvl2pPr>
            <a:lvl3pPr marL="1784350" indent="-274638">
              <a:buFont typeface="+mj-lt"/>
              <a:buAutoNum type="arabicPeriod"/>
              <a:tabLst/>
              <a:defRPr b="0">
                <a:solidFill>
                  <a:srgbClr val="54585A"/>
                </a:solidFill>
                <a:latin typeface="Times" charset="0"/>
                <a:ea typeface="Times" charset="0"/>
                <a:cs typeface="Times" charset="0"/>
              </a:defRPr>
            </a:lvl3pPr>
            <a:lvl4pPr marL="2092325" indent="-265113">
              <a:buFont typeface="+mj-lt"/>
              <a:buAutoNum type="arabicPeriod"/>
              <a:tabLst/>
              <a:defRPr b="0">
                <a:solidFill>
                  <a:srgbClr val="54585A"/>
                </a:solidFill>
                <a:latin typeface="Times" charset="0"/>
                <a:ea typeface="Times" charset="0"/>
                <a:cs typeface="Times" charset="0"/>
              </a:defRPr>
            </a:lvl4pPr>
            <a:lvl5pPr marL="2359025" indent="-274638">
              <a:buFont typeface="+mj-lt"/>
              <a:buAutoNum type="arabicPeriod"/>
              <a:tabLst/>
              <a:defRPr b="0">
                <a:solidFill>
                  <a:srgbClr val="54585A"/>
                </a:solidFill>
                <a:latin typeface="Times" charset="0"/>
                <a:ea typeface="Times" charset="0"/>
                <a:cs typeface="Times"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61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995680"/>
            <a:ext cx="7886700" cy="695008"/>
          </a:xfrm>
        </p:spPr>
        <p:txBody>
          <a:bodyPr anchor="t">
            <a:noAutofit/>
          </a:bodyPr>
          <a:lstStyle>
            <a:lvl1pPr>
              <a:defRPr>
                <a:solidFill>
                  <a:srgbClr val="CC0633"/>
                </a:solidFill>
              </a:defRPr>
            </a:lvl1pPr>
          </a:lstStyle>
          <a:p>
            <a:r>
              <a:rPr lang="en-US" dirty="0"/>
              <a:t>PAGE WITH BULLETS</a:t>
            </a:r>
          </a:p>
        </p:txBody>
      </p:sp>
      <p:sp>
        <p:nvSpPr>
          <p:cNvPr id="3" name="Text Placeholder 2">
            <a:extLst>
              <a:ext uri="{FF2B5EF4-FFF2-40B4-BE49-F238E27FC236}">
                <a16:creationId xmlns:a16="http://schemas.microsoft.com/office/drawing/2014/main" id="{28099102-4D2D-E045-AFDA-D4B493CAF9AA}"/>
              </a:ext>
            </a:extLst>
          </p:cNvPr>
          <p:cNvSpPr>
            <a:spLocks noGrp="1"/>
          </p:cNvSpPr>
          <p:nvPr>
            <p:ph type="body" sz="quarter" idx="13"/>
          </p:nvPr>
        </p:nvSpPr>
        <p:spPr>
          <a:xfrm>
            <a:off x="-107074" y="1917700"/>
            <a:ext cx="7886700" cy="3568700"/>
          </a:xfrm>
          <a:prstGeom prst="rect">
            <a:avLst/>
          </a:prstGeom>
        </p:spPr>
        <p:txBody>
          <a:bodyPr/>
          <a:lstStyle>
            <a:lvl1pPr marL="1069975" indent="-1069975">
              <a:buFontTx/>
              <a:buBlip>
                <a:blip r:embed="rId2"/>
              </a:buBlip>
              <a:tabLst/>
              <a:defRPr>
                <a:solidFill>
                  <a:srgbClr val="54585A"/>
                </a:solidFill>
              </a:defRPr>
            </a:lvl1pPr>
            <a:lvl2pPr marL="1377950" indent="-920750">
              <a:buFontTx/>
              <a:buBlip>
                <a:blip r:embed="rId2"/>
              </a:buBlip>
              <a:tabLst/>
              <a:defRPr>
                <a:solidFill>
                  <a:srgbClr val="54585A"/>
                </a:solidFill>
              </a:defRPr>
            </a:lvl2pPr>
            <a:lvl3pPr marL="1736725" indent="-822325">
              <a:buFontTx/>
              <a:buBlip>
                <a:blip r:embed="rId2"/>
              </a:buBlip>
              <a:tabLst/>
              <a:defRPr>
                <a:solidFill>
                  <a:srgbClr val="54585A"/>
                </a:solidFill>
              </a:defRPr>
            </a:lvl3pPr>
            <a:lvl4pPr marL="2090738" indent="-719138">
              <a:buFontTx/>
              <a:buBlip>
                <a:blip r:embed="rId2"/>
              </a:buBlip>
              <a:tabLst/>
              <a:defRPr>
                <a:solidFill>
                  <a:srgbClr val="54585A"/>
                </a:solidFill>
              </a:defRPr>
            </a:lvl4pPr>
            <a:lvl5pPr marL="2540000" indent="-711200">
              <a:buFontTx/>
              <a:buBlip>
                <a:blip r:embed="rId2"/>
              </a:buBlip>
              <a:tabLst/>
              <a:defRPr>
                <a:solidFill>
                  <a:srgbClr val="5458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1782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 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995680"/>
            <a:ext cx="7886700" cy="695008"/>
          </a:xfrm>
        </p:spPr>
        <p:txBody>
          <a:bodyPr anchor="t">
            <a:noAutofit/>
          </a:bodyPr>
          <a:lstStyle>
            <a:lvl1pPr>
              <a:defRPr>
                <a:solidFill>
                  <a:srgbClr val="CC0633"/>
                </a:solidFill>
              </a:defRPr>
            </a:lvl1pPr>
          </a:lstStyle>
          <a:p>
            <a:r>
              <a:rPr lang="en-US" dirty="0"/>
              <a:t>PAGE WITH NUMBER LIST</a:t>
            </a:r>
          </a:p>
        </p:txBody>
      </p:sp>
      <p:sp>
        <p:nvSpPr>
          <p:cNvPr id="7" name="Text Placeholder 2">
            <a:extLst>
              <a:ext uri="{FF2B5EF4-FFF2-40B4-BE49-F238E27FC236}">
                <a16:creationId xmlns:a16="http://schemas.microsoft.com/office/drawing/2014/main" id="{3684F753-3455-1247-9A43-9DFAC72B8EE4}"/>
              </a:ext>
            </a:extLst>
          </p:cNvPr>
          <p:cNvSpPr>
            <a:spLocks noGrp="1"/>
          </p:cNvSpPr>
          <p:nvPr>
            <p:ph type="body" sz="quarter" idx="13"/>
          </p:nvPr>
        </p:nvSpPr>
        <p:spPr>
          <a:xfrm>
            <a:off x="-107074" y="1917700"/>
            <a:ext cx="9135164" cy="3568700"/>
          </a:xfrm>
          <a:prstGeom prst="rect">
            <a:avLst/>
          </a:prstGeom>
        </p:spPr>
        <p:txBody>
          <a:bodyPr/>
          <a:lstStyle>
            <a:lvl1pPr marL="1200150" indent="-393700">
              <a:buFont typeface="+mj-lt"/>
              <a:buAutoNum type="arabicPeriod"/>
              <a:tabLst/>
              <a:defRPr b="0">
                <a:solidFill>
                  <a:srgbClr val="54585A"/>
                </a:solidFill>
                <a:latin typeface="Times" charset="0"/>
                <a:ea typeface="Times" charset="0"/>
                <a:cs typeface="Times" charset="0"/>
              </a:defRPr>
            </a:lvl1pPr>
            <a:lvl2pPr marL="1466850" indent="-309563">
              <a:buFont typeface="+mj-lt"/>
              <a:buAutoNum type="arabicPeriod"/>
              <a:tabLst/>
              <a:defRPr b="0">
                <a:solidFill>
                  <a:srgbClr val="54585A"/>
                </a:solidFill>
                <a:latin typeface="Times" charset="0"/>
                <a:ea typeface="Times" charset="0"/>
                <a:cs typeface="Times" charset="0"/>
              </a:defRPr>
            </a:lvl2pPr>
            <a:lvl3pPr marL="1784350" indent="-274638">
              <a:buFont typeface="+mj-lt"/>
              <a:buAutoNum type="arabicPeriod"/>
              <a:tabLst/>
              <a:defRPr b="0">
                <a:solidFill>
                  <a:srgbClr val="54585A"/>
                </a:solidFill>
                <a:latin typeface="Times" charset="0"/>
                <a:ea typeface="Times" charset="0"/>
                <a:cs typeface="Times" charset="0"/>
              </a:defRPr>
            </a:lvl3pPr>
            <a:lvl4pPr marL="2092325" indent="-265113">
              <a:buFont typeface="+mj-lt"/>
              <a:buAutoNum type="arabicPeriod"/>
              <a:tabLst/>
              <a:defRPr b="0">
                <a:solidFill>
                  <a:srgbClr val="54585A"/>
                </a:solidFill>
                <a:latin typeface="Times" charset="0"/>
                <a:ea typeface="Times" charset="0"/>
                <a:cs typeface="Times" charset="0"/>
              </a:defRPr>
            </a:lvl4pPr>
            <a:lvl5pPr marL="2359025" indent="-274638">
              <a:buFont typeface="+mj-lt"/>
              <a:buAutoNum type="arabicPeriod"/>
              <a:tabLst/>
              <a:defRPr b="0">
                <a:solidFill>
                  <a:srgbClr val="54585A"/>
                </a:solidFill>
                <a:latin typeface="Times" charset="0"/>
                <a:ea typeface="Times" charset="0"/>
                <a:cs typeface="Times"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8679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2052638"/>
            <a:ext cx="3282950" cy="1450415"/>
          </a:xfrm>
        </p:spPr>
        <p:txBody>
          <a:bodyPr anchor="t">
            <a:noAutofit/>
          </a:bodyPr>
          <a:lstStyle>
            <a:lvl1pPr>
              <a:defRPr>
                <a:solidFill>
                  <a:srgbClr val="CC0633"/>
                </a:solidFill>
              </a:defRPr>
            </a:lvl1pPr>
          </a:lstStyle>
          <a:p>
            <a:r>
              <a:rPr lang="en-US" dirty="0"/>
              <a:t>PAGE WITH TABLE</a:t>
            </a:r>
          </a:p>
        </p:txBody>
      </p:sp>
      <p:sp>
        <p:nvSpPr>
          <p:cNvPr id="7" name="Table Placeholder 6">
            <a:extLst>
              <a:ext uri="{FF2B5EF4-FFF2-40B4-BE49-F238E27FC236}">
                <a16:creationId xmlns:a16="http://schemas.microsoft.com/office/drawing/2014/main" id="{D332C8B6-E003-6F49-BBD3-BF1095D864C2}"/>
              </a:ext>
            </a:extLst>
          </p:cNvPr>
          <p:cNvSpPr>
            <a:spLocks noGrp="1"/>
          </p:cNvSpPr>
          <p:nvPr>
            <p:ph type="tbl" sz="quarter" idx="13"/>
          </p:nvPr>
        </p:nvSpPr>
        <p:spPr>
          <a:xfrm>
            <a:off x="3911600" y="2052638"/>
            <a:ext cx="5232400" cy="3379787"/>
          </a:xfrm>
          <a:prstGeom prst="rect">
            <a:avLst/>
          </a:prstGeom>
        </p:spPr>
        <p:txBody>
          <a:bodyPr/>
          <a:lstStyle>
            <a:lvl1pPr>
              <a:defRPr>
                <a:solidFill>
                  <a:srgbClr val="CC0633"/>
                </a:solidFill>
              </a:defRPr>
            </a:lvl1pPr>
          </a:lstStyle>
          <a:p>
            <a:endParaRPr lang="en-US" dirty="0"/>
          </a:p>
        </p:txBody>
      </p:sp>
      <p:sp>
        <p:nvSpPr>
          <p:cNvPr id="10" name="Text Placeholder 7">
            <a:extLst>
              <a:ext uri="{FF2B5EF4-FFF2-40B4-BE49-F238E27FC236}">
                <a16:creationId xmlns:a16="http://schemas.microsoft.com/office/drawing/2014/main" id="{23C88C86-2FE6-B243-AC2D-1C16F2D7CD77}"/>
              </a:ext>
            </a:extLst>
          </p:cNvPr>
          <p:cNvSpPr>
            <a:spLocks noGrp="1"/>
          </p:cNvSpPr>
          <p:nvPr>
            <p:ph type="body" sz="quarter" idx="14" hasCustomPrompt="1"/>
          </p:nvPr>
        </p:nvSpPr>
        <p:spPr>
          <a:xfrm>
            <a:off x="628650" y="3823640"/>
            <a:ext cx="1869851" cy="419950"/>
          </a:xfrm>
          <a:prstGeom prst="rect">
            <a:avLst/>
          </a:prstGeom>
        </p:spPr>
        <p:txBody>
          <a:bodyPr/>
          <a:lstStyle>
            <a:lvl1pPr marL="0" indent="0">
              <a:buNone/>
              <a:defRPr sz="2400" b="1">
                <a:solidFill>
                  <a:srgbClr val="54585A"/>
                </a:solidFill>
                <a:latin typeface="Trebuchet MS" panose="020B0703020202090204" pitchFamily="34" charset="0"/>
              </a:defRPr>
            </a:lvl1pPr>
          </a:lstStyle>
          <a:p>
            <a:pPr lvl="0"/>
            <a:r>
              <a:rPr lang="en-US" dirty="0"/>
              <a:t>SUBHEADER</a:t>
            </a:r>
          </a:p>
        </p:txBody>
      </p:sp>
    </p:spTree>
    <p:extLst>
      <p:ext uri="{BB962C8B-B14F-4D97-AF65-F5344CB8AC3E}">
        <p14:creationId xmlns:p14="http://schemas.microsoft.com/office/powerpoint/2010/main" val="3285386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2052639"/>
            <a:ext cx="3282950" cy="1624280"/>
          </a:xfrm>
        </p:spPr>
        <p:txBody>
          <a:bodyPr anchor="t">
            <a:noAutofit/>
          </a:bodyPr>
          <a:lstStyle>
            <a:lvl1pPr>
              <a:defRPr>
                <a:solidFill>
                  <a:srgbClr val="CC0633"/>
                </a:solidFill>
              </a:defRPr>
            </a:lvl1pPr>
          </a:lstStyle>
          <a:p>
            <a:r>
              <a:rPr lang="en-US" dirty="0"/>
              <a:t>PAGE WITH CHART</a:t>
            </a:r>
          </a:p>
        </p:txBody>
      </p:sp>
      <p:sp>
        <p:nvSpPr>
          <p:cNvPr id="3" name="Chart Placeholder 2">
            <a:extLst>
              <a:ext uri="{FF2B5EF4-FFF2-40B4-BE49-F238E27FC236}">
                <a16:creationId xmlns:a16="http://schemas.microsoft.com/office/drawing/2014/main" id="{0BB26B3F-91C1-4D45-B69D-A58493665E8B}"/>
              </a:ext>
            </a:extLst>
          </p:cNvPr>
          <p:cNvSpPr>
            <a:spLocks noGrp="1"/>
          </p:cNvSpPr>
          <p:nvPr>
            <p:ph type="chart" sz="quarter" idx="13"/>
          </p:nvPr>
        </p:nvSpPr>
        <p:spPr>
          <a:xfrm>
            <a:off x="3911600" y="2052638"/>
            <a:ext cx="5232400" cy="3352800"/>
          </a:xfrm>
          <a:prstGeom prst="rect">
            <a:avLst/>
          </a:prstGeom>
        </p:spPr>
        <p:txBody>
          <a:bodyPr/>
          <a:lstStyle>
            <a:lvl1pPr>
              <a:defRPr>
                <a:solidFill>
                  <a:srgbClr val="CC0633"/>
                </a:solidFill>
              </a:defRPr>
            </a:lvl1pPr>
          </a:lstStyle>
          <a:p>
            <a:endParaRPr lang="en-US" dirty="0"/>
          </a:p>
        </p:txBody>
      </p:sp>
      <p:sp>
        <p:nvSpPr>
          <p:cNvPr id="7" name="Text Placeholder 7">
            <a:extLst>
              <a:ext uri="{FF2B5EF4-FFF2-40B4-BE49-F238E27FC236}">
                <a16:creationId xmlns:a16="http://schemas.microsoft.com/office/drawing/2014/main" id="{58AD251E-0061-3D48-830D-AF1EB95B70FC}"/>
              </a:ext>
            </a:extLst>
          </p:cNvPr>
          <p:cNvSpPr>
            <a:spLocks noGrp="1"/>
          </p:cNvSpPr>
          <p:nvPr>
            <p:ph type="body" sz="quarter" idx="14" hasCustomPrompt="1"/>
          </p:nvPr>
        </p:nvSpPr>
        <p:spPr>
          <a:xfrm>
            <a:off x="628650" y="3823640"/>
            <a:ext cx="1869851" cy="419950"/>
          </a:xfrm>
          <a:prstGeom prst="rect">
            <a:avLst/>
          </a:prstGeom>
        </p:spPr>
        <p:txBody>
          <a:bodyPr/>
          <a:lstStyle>
            <a:lvl1pPr marL="0" indent="0">
              <a:buNone/>
              <a:defRPr sz="2400" b="1">
                <a:solidFill>
                  <a:srgbClr val="54585A"/>
                </a:solidFill>
                <a:latin typeface="Trebuchet MS" panose="020B0703020202090204" pitchFamily="34" charset="0"/>
              </a:defRPr>
            </a:lvl1pPr>
          </a:lstStyle>
          <a:p>
            <a:pPr lvl="0"/>
            <a:r>
              <a:rPr lang="en-US" dirty="0"/>
              <a:t>SUBHEADER</a:t>
            </a:r>
          </a:p>
        </p:txBody>
      </p:sp>
    </p:spTree>
    <p:extLst>
      <p:ext uri="{BB962C8B-B14F-4D97-AF65-F5344CB8AC3E}">
        <p14:creationId xmlns:p14="http://schemas.microsoft.com/office/powerpoint/2010/main" val="650179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py and imag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3" name="Picture Placeholder 2">
            <a:extLst>
              <a:ext uri="{FF2B5EF4-FFF2-40B4-BE49-F238E27FC236}">
                <a16:creationId xmlns:a16="http://schemas.microsoft.com/office/drawing/2014/main" id="{091B9466-E87C-C54B-860C-17F37D71C88F}"/>
              </a:ext>
            </a:extLst>
          </p:cNvPr>
          <p:cNvSpPr>
            <a:spLocks noGrp="1"/>
          </p:cNvSpPr>
          <p:nvPr>
            <p:ph type="pic" sz="quarter" idx="14"/>
          </p:nvPr>
        </p:nvSpPr>
        <p:spPr>
          <a:xfrm>
            <a:off x="4814047" y="2052637"/>
            <a:ext cx="4060825" cy="3544887"/>
          </a:xfrm>
          <a:prstGeom prst="rect">
            <a:avLst/>
          </a:prstGeom>
        </p:spPr>
        <p:txBody>
          <a:bodyPr/>
          <a:lstStyle>
            <a:lvl1pPr>
              <a:defRPr>
                <a:solidFill>
                  <a:srgbClr val="CC0633"/>
                </a:solidFill>
              </a:defRPr>
            </a:lvl1pPr>
          </a:lstStyle>
          <a:p>
            <a:endParaRPr lang="en-US" dirty="0"/>
          </a:p>
        </p:txBody>
      </p:sp>
      <p:sp>
        <p:nvSpPr>
          <p:cNvPr id="4" name="Text Placeholder 3">
            <a:extLst>
              <a:ext uri="{FF2B5EF4-FFF2-40B4-BE49-F238E27FC236}">
                <a16:creationId xmlns:a16="http://schemas.microsoft.com/office/drawing/2014/main" id="{B2B44AA3-7262-A146-B295-8DCBF7C72229}"/>
              </a:ext>
            </a:extLst>
          </p:cNvPr>
          <p:cNvSpPr>
            <a:spLocks noGrp="1"/>
          </p:cNvSpPr>
          <p:nvPr>
            <p:ph type="body" sz="quarter" idx="15" hasCustomPrompt="1"/>
          </p:nvPr>
        </p:nvSpPr>
        <p:spPr>
          <a:xfrm>
            <a:off x="628650" y="2052638"/>
            <a:ext cx="4185397" cy="35448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STIXGeneral-Regular" pitchFamily="2" charset="2"/>
              <a:buNone/>
              <a:tabLst/>
              <a:defRPr>
                <a:solidFill>
                  <a:srgbClr val="54585A"/>
                </a:solidFill>
              </a:defRPr>
            </a:lvl1pPr>
            <a:lvl2pPr>
              <a:defRPr>
                <a:solidFill>
                  <a:srgbClr val="54585A"/>
                </a:solidFill>
              </a:defRPr>
            </a:lvl2pPr>
            <a:lvl3pPr>
              <a:defRPr>
                <a:solidFill>
                  <a:srgbClr val="54585A"/>
                </a:solidFill>
              </a:defRPr>
            </a:lvl3pPr>
            <a:lvl4pPr>
              <a:defRPr>
                <a:solidFill>
                  <a:srgbClr val="54585A"/>
                </a:solidFill>
              </a:defRPr>
            </a:lvl4pPr>
            <a:lvl5pPr>
              <a:defRPr>
                <a:solidFill>
                  <a:srgbClr val="54585A"/>
                </a:solidFill>
              </a:defRPr>
            </a:lvl5pPr>
          </a:lstStyle>
          <a:p>
            <a:pPr marL="0" marR="0" lvl="0" indent="0" algn="l" defTabSz="914400" rtl="0" eaLnBrk="1" fontAlgn="auto" latinLnBrk="0" hangingPunct="1">
              <a:lnSpc>
                <a:spcPct val="90000"/>
              </a:lnSpc>
              <a:spcBef>
                <a:spcPts val="1000"/>
              </a:spcBef>
              <a:spcAft>
                <a:spcPts val="0"/>
              </a:spcAft>
              <a:buClrTx/>
              <a:buSzTx/>
              <a:buFont typeface="STIXGeneral-Regular" pitchFamily="2" charset="2"/>
              <a:buNone/>
              <a:tabLst/>
              <a:defRPr/>
            </a:pPr>
            <a:r>
              <a:rPr lang="en-CA" b="1" dirty="0">
                <a:latin typeface="Trebuchet MS" panose="020B0703020202090204" pitchFamily="34" charset="0"/>
              </a:rPr>
              <a:t>SUBHEADER</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A6C43D69-A87B-4D49-95CF-7AF393951B90}"/>
              </a:ext>
            </a:extLst>
          </p:cNvPr>
          <p:cNvSpPr>
            <a:spLocks noGrp="1"/>
          </p:cNvSpPr>
          <p:nvPr>
            <p:ph type="title" hasCustomPrompt="1"/>
          </p:nvPr>
        </p:nvSpPr>
        <p:spPr>
          <a:xfrm>
            <a:off x="628650" y="365125"/>
            <a:ext cx="7886700" cy="1325563"/>
          </a:xfrm>
        </p:spPr>
        <p:txBody>
          <a:bodyPr>
            <a:noAutofit/>
          </a:bodyPr>
          <a:lstStyle>
            <a:lvl1pPr>
              <a:defRPr>
                <a:solidFill>
                  <a:srgbClr val="CC0633"/>
                </a:solidFill>
              </a:defRPr>
            </a:lvl1pPr>
          </a:lstStyle>
          <a:p>
            <a:r>
              <a:rPr lang="en-US" dirty="0"/>
              <a:t>PAGE WITH COPY AND IMAGE</a:t>
            </a:r>
          </a:p>
        </p:txBody>
      </p:sp>
    </p:spTree>
    <p:extLst>
      <p:ext uri="{BB962C8B-B14F-4D97-AF65-F5344CB8AC3E}">
        <p14:creationId xmlns:p14="http://schemas.microsoft.com/office/powerpoint/2010/main" val="885017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E0DB9-2A74-BF45-BB9E-9E500F37ABAE}"/>
              </a:ext>
            </a:extLst>
          </p:cNvPr>
          <p:cNvSpPr>
            <a:spLocks noGrp="1"/>
          </p:cNvSpPr>
          <p:nvPr>
            <p:ph type="title" hasCustomPrompt="1"/>
          </p:nvPr>
        </p:nvSpPr>
        <p:spPr/>
        <p:txBody>
          <a:bodyPr>
            <a:noAutofit/>
          </a:bodyPr>
          <a:lstStyle>
            <a:lvl1pPr>
              <a:defRPr>
                <a:solidFill>
                  <a:srgbClr val="CC0633"/>
                </a:solidFill>
              </a:defRPr>
            </a:lvl1pPr>
          </a:lstStyle>
          <a:p>
            <a:r>
              <a:rPr lang="en-US" dirty="0"/>
              <a:t>PAGE WITH TEXT ONLY</a:t>
            </a:r>
          </a:p>
        </p:txBody>
      </p:sp>
      <p:sp>
        <p:nvSpPr>
          <p:cNvPr id="3" name="Slide Number Placeholder 2">
            <a:extLst>
              <a:ext uri="{FF2B5EF4-FFF2-40B4-BE49-F238E27FC236}">
                <a16:creationId xmlns:a16="http://schemas.microsoft.com/office/drawing/2014/main" id="{B6F9D54D-918F-514C-BBA7-693AF6C02B2D}"/>
              </a:ext>
            </a:extLst>
          </p:cNvPr>
          <p:cNvSpPr>
            <a:spLocks noGrp="1"/>
          </p:cNvSpPr>
          <p:nvPr>
            <p:ph type="sldNum" sz="quarter" idx="10"/>
          </p:nvPr>
        </p:nvSpPr>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ext Placeholder 4">
            <a:extLst>
              <a:ext uri="{FF2B5EF4-FFF2-40B4-BE49-F238E27FC236}">
                <a16:creationId xmlns:a16="http://schemas.microsoft.com/office/drawing/2014/main" id="{950C7CFC-CA74-9343-951B-3D96B6149607}"/>
              </a:ext>
            </a:extLst>
          </p:cNvPr>
          <p:cNvSpPr>
            <a:spLocks noGrp="1"/>
          </p:cNvSpPr>
          <p:nvPr>
            <p:ph type="body" sz="quarter" idx="11" hasCustomPrompt="1"/>
          </p:nvPr>
        </p:nvSpPr>
        <p:spPr>
          <a:xfrm>
            <a:off x="628650" y="1912938"/>
            <a:ext cx="7886700" cy="387826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STIXGeneral-Regular" pitchFamily="2" charset="2"/>
              <a:buNone/>
              <a:tabLst/>
              <a:defRPr>
                <a:solidFill>
                  <a:srgbClr val="54585A"/>
                </a:solidFill>
              </a:defRPr>
            </a:lvl1pPr>
            <a:lvl2pPr>
              <a:defRPr>
                <a:solidFill>
                  <a:srgbClr val="54585A"/>
                </a:solidFill>
              </a:defRPr>
            </a:lvl2pPr>
            <a:lvl3pPr>
              <a:defRPr>
                <a:solidFill>
                  <a:srgbClr val="54585A"/>
                </a:solidFill>
              </a:defRPr>
            </a:lvl3pPr>
            <a:lvl4pPr>
              <a:defRPr>
                <a:solidFill>
                  <a:srgbClr val="54585A"/>
                </a:solidFill>
              </a:defRPr>
            </a:lvl4pPr>
            <a:lvl5pPr>
              <a:defRPr>
                <a:solidFill>
                  <a:srgbClr val="54585A"/>
                </a:solidFill>
              </a:defRPr>
            </a:lvl5pPr>
          </a:lstStyle>
          <a:p>
            <a:pPr marL="0" marR="0" lvl="0" indent="0" algn="l" defTabSz="914400" rtl="0" eaLnBrk="1" fontAlgn="auto" latinLnBrk="0" hangingPunct="1">
              <a:lnSpc>
                <a:spcPct val="90000"/>
              </a:lnSpc>
              <a:spcBef>
                <a:spcPts val="1000"/>
              </a:spcBef>
              <a:spcAft>
                <a:spcPts val="0"/>
              </a:spcAft>
              <a:buClrTx/>
              <a:buSzTx/>
              <a:buFont typeface="STIXGeneral-Regular" pitchFamily="2" charset="2"/>
              <a:buNone/>
              <a:tabLst/>
              <a:defRPr/>
            </a:pPr>
            <a:r>
              <a:rPr lang="en-CA" b="1" dirty="0">
                <a:latin typeface="Trebuchet MS" panose="020B0703020202090204" pitchFamily="34" charset="0"/>
              </a:rPr>
              <a:t>SUBHEADER</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31037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Single Phras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22C1386-D334-864D-8255-FFC79183ABF5}"/>
              </a:ext>
            </a:extLst>
          </p:cNvPr>
          <p:cNvSpPr>
            <a:spLocks noGrp="1"/>
          </p:cNvSpPr>
          <p:nvPr>
            <p:ph type="sldNum" sz="quarter" idx="10"/>
          </p:nvPr>
        </p:nvSpPr>
        <p:spPr/>
        <p:txBody>
          <a:bodyPr/>
          <a:lstStyle/>
          <a:p>
            <a:r>
              <a:rPr lang="en-US"/>
              <a:t>SIMON FRASER UNIVERSITY   </a:t>
            </a:r>
            <a:fld id="{45E0C454-F75C-A944-8BC1-78DA56BBB239}" type="slidenum">
              <a:rPr lang="en-US" smtClean="0"/>
              <a:pPr/>
              <a:t>‹#›</a:t>
            </a:fld>
            <a:endParaRPr lang="en-US" dirty="0"/>
          </a:p>
        </p:txBody>
      </p:sp>
      <p:sp>
        <p:nvSpPr>
          <p:cNvPr id="7" name="Title 1">
            <a:extLst>
              <a:ext uri="{FF2B5EF4-FFF2-40B4-BE49-F238E27FC236}">
                <a16:creationId xmlns:a16="http://schemas.microsoft.com/office/drawing/2014/main" id="{90878862-92D6-5247-A8B5-C605B2892168}"/>
              </a:ext>
            </a:extLst>
          </p:cNvPr>
          <p:cNvSpPr>
            <a:spLocks noGrp="1"/>
          </p:cNvSpPr>
          <p:nvPr>
            <p:ph type="title" hasCustomPrompt="1"/>
          </p:nvPr>
        </p:nvSpPr>
        <p:spPr>
          <a:xfrm>
            <a:off x="838200" y="2766218"/>
            <a:ext cx="8054662" cy="1325563"/>
          </a:xfrm>
        </p:spPr>
        <p:txBody>
          <a:bodyPr/>
          <a:lstStyle>
            <a:lvl1pPr>
              <a:defRPr sz="3600" b="1" baseline="0">
                <a:solidFill>
                  <a:srgbClr val="CC0633"/>
                </a:solidFill>
                <a:latin typeface="Trebuchet MS" panose="020B0703020202090204" pitchFamily="34" charset="0"/>
              </a:defRPr>
            </a:lvl1pPr>
          </a:lstStyle>
          <a:p>
            <a:r>
              <a:rPr lang="en-US" dirty="0"/>
              <a:t>PAGE WITH QUOTE/SINGLE PHRASE</a:t>
            </a:r>
          </a:p>
        </p:txBody>
      </p:sp>
    </p:spTree>
    <p:extLst>
      <p:ext uri="{BB962C8B-B14F-4D97-AF65-F5344CB8AC3E}">
        <p14:creationId xmlns:p14="http://schemas.microsoft.com/office/powerpoint/2010/main" val="11109219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p:spPr>
        <p:txBody>
          <a:bodyPr/>
          <a:lstStyle/>
          <a:p>
            <a:endParaRPr lang="en-US"/>
          </a:p>
        </p:txBody>
      </p:sp>
    </p:spTree>
    <p:extLst>
      <p:ext uri="{BB962C8B-B14F-4D97-AF65-F5344CB8AC3E}">
        <p14:creationId xmlns:p14="http://schemas.microsoft.com/office/powerpoint/2010/main" val="39356084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841266"/>
            <a:ext cx="7886700" cy="849423"/>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p:cNvSpPr>
            <a:spLocks noGrp="1"/>
          </p:cNvSpPr>
          <p:nvPr>
            <p:ph type="body" idx="1"/>
          </p:nvPr>
        </p:nvSpPr>
        <p:spPr>
          <a:xfrm>
            <a:off x="628650" y="1825625"/>
            <a:ext cx="7886700" cy="3296981"/>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5322937"/>
            <a:ext cx="2057400" cy="365125"/>
          </a:xfrm>
          <a:prstGeom prst="rect">
            <a:avLst/>
          </a:prstGeom>
        </p:spPr>
        <p:txBody>
          <a:bodyPr vert="horz" lIns="91440" tIns="45720" rIns="91440" bIns="45720" rtlCol="0" anchor="ctr"/>
          <a:lstStyle>
            <a:lvl1pPr algn="l">
              <a:defRPr sz="1600" b="1">
                <a:solidFill>
                  <a:schemeClr val="bg1"/>
                </a:solidFill>
                <a:latin typeface="Trebuchet MS" panose="020B0703020202090204" pitchFamily="34" charset="0"/>
              </a:defRPr>
            </a:lvl1pPr>
          </a:lstStyle>
          <a:p>
            <a:endParaRPr lang="en-US" dirty="0"/>
          </a:p>
        </p:txBody>
      </p:sp>
      <p:pic>
        <p:nvPicPr>
          <p:cNvPr id="10" name="Picture 9">
            <a:extLst>
              <a:ext uri="{FF2B5EF4-FFF2-40B4-BE49-F238E27FC236}">
                <a16:creationId xmlns:a16="http://schemas.microsoft.com/office/drawing/2014/main" id="{3913B9BE-9F57-4747-AEFA-02E77983E8B9}"/>
              </a:ext>
            </a:extLst>
          </p:cNvPr>
          <p:cNvPicPr>
            <a:picLocks noChangeAspect="1"/>
          </p:cNvPicPr>
          <p:nvPr userDrawn="1"/>
        </p:nvPicPr>
        <p:blipFill>
          <a:blip r:embed="rId9"/>
          <a:stretch>
            <a:fillRect/>
          </a:stretch>
        </p:blipFill>
        <p:spPr>
          <a:xfrm>
            <a:off x="7233480" y="0"/>
            <a:ext cx="1281870" cy="640935"/>
          </a:xfrm>
          <a:prstGeom prst="rect">
            <a:avLst/>
          </a:prstGeom>
        </p:spPr>
      </p:pic>
    </p:spTree>
    <p:extLst>
      <p:ext uri="{BB962C8B-B14F-4D97-AF65-F5344CB8AC3E}">
        <p14:creationId xmlns:p14="http://schemas.microsoft.com/office/powerpoint/2010/main" val="4021742897"/>
      </p:ext>
    </p:extLst>
  </p:cSld>
  <p:clrMap bg1="lt1" tx1="dk1" bg2="lt2" tx2="dk2" accent1="accent1" accent2="accent2" accent3="accent3" accent4="accent4" accent5="accent5" accent6="accent6" hlink="hlink" folHlink="folHlink"/>
  <p:sldLayoutIdLst>
    <p:sldLayoutId id="2147483678" r:id="rId1"/>
    <p:sldLayoutId id="2147483693" r:id="rId2"/>
    <p:sldLayoutId id="2147483707" r:id="rId3"/>
    <p:sldLayoutId id="2147483708" r:id="rId4"/>
    <p:sldLayoutId id="2147483694" r:id="rId5"/>
    <p:sldLayoutId id="2147483661" r:id="rId6"/>
    <p:sldLayoutId id="2147483711" r:id="rId7"/>
  </p:sldLayoutIdLst>
  <p:hf sldNum="0" hdr="0" ftr="0"/>
  <p:txStyles>
    <p:titleStyle>
      <a:lvl1pPr algn="l" defTabSz="914400" rtl="0" eaLnBrk="1" latinLnBrk="0" hangingPunct="1">
        <a:lnSpc>
          <a:spcPct val="90000"/>
        </a:lnSpc>
        <a:spcBef>
          <a:spcPct val="0"/>
        </a:spcBef>
        <a:buNone/>
        <a:defRPr sz="4400" kern="1200">
          <a:solidFill>
            <a:srgbClr val="CC0633"/>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Trebuchet MS" panose="020B070302020209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FC180A-BC04-6A42-9CF6-8190FCAB4891}"/>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Autofit/>
          </a:bodyPr>
          <a:lstStyle/>
          <a:p>
            <a:r>
              <a:rPr lang="en-US" dirty="0"/>
              <a:t>CLICK HERE TO EDIT MASTER SLIDE</a:t>
            </a:r>
          </a:p>
        </p:txBody>
      </p:sp>
      <p:sp>
        <p:nvSpPr>
          <p:cNvPr id="6" name="Slide Number Placeholder 5">
            <a:extLst>
              <a:ext uri="{FF2B5EF4-FFF2-40B4-BE49-F238E27FC236}">
                <a16:creationId xmlns:a16="http://schemas.microsoft.com/office/drawing/2014/main" id="{B4FF0E72-51BC-3048-B086-FB9CBD13AF56}"/>
              </a:ext>
            </a:extLst>
          </p:cNvPr>
          <p:cNvSpPr>
            <a:spLocks noGrp="1"/>
          </p:cNvSpPr>
          <p:nvPr>
            <p:ph type="sldNum" sz="quarter" idx="4"/>
          </p:nvPr>
        </p:nvSpPr>
        <p:spPr>
          <a:xfrm>
            <a:off x="6035040" y="5991225"/>
            <a:ext cx="2480310" cy="365125"/>
          </a:xfrm>
          <a:prstGeom prst="rect">
            <a:avLst/>
          </a:prstGeom>
        </p:spPr>
        <p:txBody>
          <a:bodyPr vert="horz" lIns="91440" tIns="45720" rIns="91440" bIns="45720" rtlCol="0" anchor="ctr"/>
          <a:lstStyle>
            <a:lvl1pPr algn="r">
              <a:defRPr sz="1200" b="1">
                <a:solidFill>
                  <a:srgbClr val="4D4D4C"/>
                </a:solidFill>
                <a:latin typeface="Trebuchet MS" panose="020B0703020202090204" pitchFamily="34" charset="0"/>
              </a:defRPr>
            </a:lvl1pPr>
          </a:lstStyle>
          <a:p>
            <a:r>
              <a:rPr lang="en-US" dirty="0"/>
              <a:t>SIMON FRASER UNIVERSITY   </a:t>
            </a:r>
            <a:fld id="{45E0C454-F75C-A944-8BC1-78DA56BBB239}" type="slidenum">
              <a:rPr lang="en-US" smtClean="0"/>
              <a:pPr/>
              <a:t>‹#›</a:t>
            </a:fld>
            <a:endParaRPr lang="en-US" dirty="0"/>
          </a:p>
        </p:txBody>
      </p:sp>
    </p:spTree>
    <p:extLst>
      <p:ext uri="{BB962C8B-B14F-4D97-AF65-F5344CB8AC3E}">
        <p14:creationId xmlns:p14="http://schemas.microsoft.com/office/powerpoint/2010/main" val="2917555359"/>
      </p:ext>
    </p:extLst>
  </p:cSld>
  <p:clrMap bg1="lt1" tx1="dk1" bg2="lt2" tx2="dk2" accent1="accent1" accent2="accent2" accent3="accent3" accent4="accent4" accent5="accent5" accent6="accent6" hlink="hlink" folHlink="folHlink"/>
  <p:sldLayoutIdLst>
    <p:sldLayoutId id="2147483699" r:id="rId1"/>
    <p:sldLayoutId id="2147483709" r:id="rId2"/>
    <p:sldLayoutId id="2147483700" r:id="rId3"/>
    <p:sldLayoutId id="2147483703" r:id="rId4"/>
    <p:sldLayoutId id="2147483701" r:id="rId5"/>
    <p:sldLayoutId id="2147483706" r:id="rId6"/>
    <p:sldLayoutId id="2147483710" r:id="rId7"/>
  </p:sldLayoutIdLst>
  <p:hf sldNum="0" hdr="0" ftr="0"/>
  <p:txStyles>
    <p:title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p:titleStyle>
    <p:bodyStyle>
      <a:lvl1pPr marL="0" indent="0" algn="l" defTabSz="914400" rtl="0" eaLnBrk="1" latinLnBrk="0" hangingPunct="1">
        <a:lnSpc>
          <a:spcPct val="90000"/>
        </a:lnSpc>
        <a:spcBef>
          <a:spcPts val="1000"/>
        </a:spcBef>
        <a:buFont typeface="STIXGeneral-Regular" pitchFamily="2" charset="2"/>
        <a:buNone/>
        <a:defRPr lang="en-US" sz="2800" kern="1200" dirty="0">
          <a:solidFill>
            <a:srgbClr val="D82139"/>
          </a:solidFill>
          <a:latin typeface="Times" pitchFamily="2" charset="0"/>
          <a:ea typeface="+mn-ea"/>
          <a:cs typeface="+mn-cs"/>
        </a:defRPr>
      </a:lvl1pPr>
      <a:lvl2pPr marL="457200" indent="0" algn="l" defTabSz="914400" rtl="0" eaLnBrk="1" latinLnBrk="0" hangingPunct="1">
        <a:lnSpc>
          <a:spcPct val="90000"/>
        </a:lnSpc>
        <a:spcBef>
          <a:spcPts val="500"/>
        </a:spcBef>
        <a:buFont typeface="STIXGeneral-Regular" pitchFamily="2" charset="2"/>
        <a:buNone/>
        <a:tabLst/>
        <a:defRPr lang="en-US" sz="2400" kern="1200" dirty="0">
          <a:solidFill>
            <a:srgbClr val="D82139"/>
          </a:solidFill>
          <a:latin typeface="Times" pitchFamily="2" charset="0"/>
          <a:ea typeface="+mn-ea"/>
          <a:cs typeface="+mn-cs"/>
        </a:defRPr>
      </a:lvl2pPr>
      <a:lvl3pPr marL="914400" indent="0" algn="l" defTabSz="914400" rtl="0" eaLnBrk="1" latinLnBrk="0" hangingPunct="1">
        <a:lnSpc>
          <a:spcPct val="90000"/>
        </a:lnSpc>
        <a:spcBef>
          <a:spcPts val="500"/>
        </a:spcBef>
        <a:buFont typeface="STIXGeneral-Regular" pitchFamily="2" charset="2"/>
        <a:buNone/>
        <a:defRPr lang="en-US" sz="2000" kern="1200" dirty="0">
          <a:solidFill>
            <a:srgbClr val="D82139"/>
          </a:solidFill>
          <a:latin typeface="Times" pitchFamily="2" charset="0"/>
          <a:ea typeface="+mn-ea"/>
          <a:cs typeface="+mn-cs"/>
        </a:defRPr>
      </a:lvl3pPr>
      <a:lvl4pPr marL="1371600" indent="0" algn="l" defTabSz="914400" rtl="0" eaLnBrk="1" latinLnBrk="0" hangingPunct="1">
        <a:lnSpc>
          <a:spcPct val="90000"/>
        </a:lnSpc>
        <a:spcBef>
          <a:spcPts val="500"/>
        </a:spcBef>
        <a:buFont typeface="STIXGeneral-Regular" pitchFamily="2" charset="2"/>
        <a:buNone/>
        <a:defRPr lang="en-US" sz="1800" kern="1200" dirty="0">
          <a:solidFill>
            <a:srgbClr val="D82139"/>
          </a:solidFill>
          <a:latin typeface="Times" pitchFamily="2" charset="0"/>
          <a:ea typeface="+mn-ea"/>
          <a:cs typeface="+mn-cs"/>
        </a:defRPr>
      </a:lvl4pPr>
      <a:lvl5pPr marL="1828800" indent="0" algn="l" defTabSz="914400" rtl="0" eaLnBrk="1" latinLnBrk="0" hangingPunct="1">
        <a:lnSpc>
          <a:spcPct val="90000"/>
        </a:lnSpc>
        <a:spcBef>
          <a:spcPts val="500"/>
        </a:spcBef>
        <a:buFont typeface="STIXGeneral-Regular" pitchFamily="2" charset="2"/>
        <a:buNone/>
        <a:defRPr lang="en-US" sz="1800" kern="1200" dirty="0">
          <a:solidFill>
            <a:srgbClr val="D82139"/>
          </a:solidFill>
          <a:latin typeface="Time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816104"/>
      </p:ext>
    </p:extLst>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9D0164EB-59A3-F34F-8705-99AC061BA256}"/>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a:ext>
            </a:extLst>
          </a:blip>
          <a:srcRect/>
          <a:stretch/>
        </p:blipFill>
        <p:spPr>
          <a:xfrm>
            <a:off x="5380038" y="0"/>
            <a:ext cx="3763962" cy="4549140"/>
          </a:xfrm>
        </p:spPr>
      </p:pic>
      <p:sp>
        <p:nvSpPr>
          <p:cNvPr id="6" name="Title 1">
            <a:extLst>
              <a:ext uri="{FF2B5EF4-FFF2-40B4-BE49-F238E27FC236}">
                <a16:creationId xmlns:a16="http://schemas.microsoft.com/office/drawing/2014/main" id="{3C7CA13D-EABF-A69A-74C7-6746451A52DD}"/>
              </a:ext>
            </a:extLst>
          </p:cNvPr>
          <p:cNvSpPr>
            <a:spLocks noGrp="1"/>
          </p:cNvSpPr>
          <p:nvPr>
            <p:ph type="ctrTitle"/>
          </p:nvPr>
        </p:nvSpPr>
        <p:spPr>
          <a:xfrm>
            <a:off x="346313" y="499376"/>
            <a:ext cx="4781074" cy="2487016"/>
          </a:xfrm>
        </p:spPr>
        <p:txBody>
          <a:bodyPr/>
          <a:lstStyle/>
          <a:p>
            <a:pPr algn="ctr"/>
            <a:r>
              <a:rPr lang="en-US" sz="3200" dirty="0">
                <a:solidFill>
                  <a:schemeClr val="tx1">
                    <a:lumMod val="85000"/>
                    <a:lumOff val="15000"/>
                  </a:schemeClr>
                </a:solidFill>
                <a:latin typeface="Times" panose="02020603050405020304" pitchFamily="18" charset="0"/>
                <a:cs typeface="Times" panose="02020603050405020304" pitchFamily="18" charset="0"/>
              </a:rPr>
              <a:t>A Low-Cost Robot that Maps a Home on Its Own</a:t>
            </a:r>
          </a:p>
        </p:txBody>
      </p:sp>
      <p:sp>
        <p:nvSpPr>
          <p:cNvPr id="10" name="Date Placeholder 3">
            <a:extLst>
              <a:ext uri="{FF2B5EF4-FFF2-40B4-BE49-F238E27FC236}">
                <a16:creationId xmlns:a16="http://schemas.microsoft.com/office/drawing/2014/main" id="{008CBB81-B760-E15A-0234-F912112CB4DA}"/>
              </a:ext>
            </a:extLst>
          </p:cNvPr>
          <p:cNvSpPr txBox="1">
            <a:spLocks/>
          </p:cNvSpPr>
          <p:nvPr/>
        </p:nvSpPr>
        <p:spPr>
          <a:xfrm>
            <a:off x="271689" y="4221804"/>
            <a:ext cx="4781074" cy="2348412"/>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dirty="0">
                <a:solidFill>
                  <a:schemeClr val="tx1">
                    <a:lumMod val="85000"/>
                    <a:lumOff val="15000"/>
                  </a:schemeClr>
                </a:solidFill>
                <a:latin typeface="Times" panose="02020603050405020304" pitchFamily="18" charset="0"/>
                <a:cs typeface="+mj-cs"/>
              </a:rPr>
              <a:t>BCIT Centre of Welding Technologies and Metallurgy Research </a:t>
            </a:r>
          </a:p>
          <a:p>
            <a:pPr algn="ctr"/>
            <a:r>
              <a:rPr lang="en-GB" b="0" dirty="0">
                <a:solidFill>
                  <a:schemeClr val="tx1">
                    <a:lumMod val="85000"/>
                    <a:lumOff val="15000"/>
                  </a:schemeClr>
                </a:solidFill>
                <a:latin typeface="Times" panose="02020603050405020304" pitchFamily="18" charset="0"/>
                <a:cs typeface="+mj-cs"/>
              </a:rPr>
              <a:t>x</a:t>
            </a:r>
          </a:p>
          <a:p>
            <a:pPr algn="ctr"/>
            <a:r>
              <a:rPr lang="en-GB" b="0" dirty="0">
                <a:solidFill>
                  <a:schemeClr val="tx1">
                    <a:lumMod val="85000"/>
                    <a:lumOff val="15000"/>
                  </a:schemeClr>
                </a:solidFill>
                <a:latin typeface="Times" panose="02020603050405020304" pitchFamily="18" charset="0"/>
                <a:cs typeface="+mj-cs"/>
              </a:rPr>
              <a:t>Motion and Power Electronics Control (MPEC) Lab</a:t>
            </a:r>
          </a:p>
          <a:p>
            <a:pPr algn="ctr"/>
            <a:endParaRPr lang="en-US" sz="1600" b="0" dirty="0">
              <a:solidFill>
                <a:schemeClr val="tx1">
                  <a:lumMod val="85000"/>
                  <a:lumOff val="15000"/>
                </a:schemeClr>
              </a:solidFill>
              <a:latin typeface="Times" panose="02020603050405020304" pitchFamily="18" charset="0"/>
              <a:cs typeface="Times" panose="02020603050405020304" pitchFamily="18" charset="0"/>
            </a:endParaRPr>
          </a:p>
          <a:p>
            <a:pPr algn="ctr"/>
            <a:r>
              <a:rPr lang="en-US" sz="1600" b="0" dirty="0">
                <a:solidFill>
                  <a:schemeClr val="tx1">
                    <a:lumMod val="85000"/>
                    <a:lumOff val="15000"/>
                  </a:schemeClr>
                </a:solidFill>
                <a:latin typeface="Times" panose="02020603050405020304" pitchFamily="18" charset="0"/>
                <a:cs typeface="Times" panose="02020603050405020304" pitchFamily="18" charset="0"/>
              </a:rPr>
              <a:t>Hector SLAM, Nav2 and frontier exploration on a Raspberry Pi 5 · robot04 (MentorPi T1), October 2026</a:t>
            </a:r>
          </a:p>
        </p:txBody>
      </p:sp>
      <p:pic>
        <p:nvPicPr>
          <p:cNvPr id="8" name="Picture 7" descr="A red rectangular sign with white text  Description automatically generated">
            <a:extLst>
              <a:ext uri="{FF2B5EF4-FFF2-40B4-BE49-F238E27FC236}">
                <a16:creationId xmlns:a16="http://schemas.microsoft.com/office/drawing/2014/main" id="{DD2A540D-FCB7-F311-CE90-8D873CEB64D6}"/>
              </a:ext>
            </a:extLst>
          </p:cNvPr>
          <p:cNvPicPr>
            <a:picLocks noChangeAspect="1"/>
          </p:cNvPicPr>
          <p:nvPr/>
        </p:nvPicPr>
        <p:blipFill>
          <a:blip r:embed="rId4"/>
          <a:stretch>
            <a:fillRect/>
          </a:stretch>
        </p:blipFill>
        <p:spPr>
          <a:xfrm>
            <a:off x="5318295" y="-204439"/>
            <a:ext cx="1943724" cy="1457793"/>
          </a:xfrm>
          <a:prstGeom prst="rect">
            <a:avLst/>
          </a:prstGeom>
        </p:spPr>
      </p:pic>
      <p:sp>
        <p:nvSpPr>
          <p:cNvPr id="4" name="TextBox 3">
            <a:extLst>
              <a:ext uri="{FF2B5EF4-FFF2-40B4-BE49-F238E27FC236}">
                <a16:creationId xmlns:a16="http://schemas.microsoft.com/office/drawing/2014/main" id="{F9AA8DF4-7A2A-B6EC-F984-D4ABC963E8CE}"/>
              </a:ext>
            </a:extLst>
          </p:cNvPr>
          <p:cNvSpPr txBox="1"/>
          <p:nvPr/>
        </p:nvSpPr>
        <p:spPr>
          <a:xfrm>
            <a:off x="5330218" y="5396010"/>
            <a:ext cx="3925925" cy="923330"/>
          </a:xfrm>
          <a:prstGeom prst="rect">
            <a:avLst/>
          </a:prstGeom>
          <a:noFill/>
        </p:spPr>
        <p:txBody>
          <a:bodyPr wrap="square">
            <a:spAutoFit/>
          </a:bodyPr>
          <a:lstStyle/>
          <a:p>
            <a:pPr algn="ctr"/>
            <a:endParaRPr lang="en-US" sz="1800" b="0" dirty="0">
              <a:solidFill>
                <a:schemeClr val="tx1">
                  <a:lumMod val="85000"/>
                  <a:lumOff val="15000"/>
                </a:schemeClr>
              </a:solidFill>
              <a:latin typeface="Times" panose="02020603050405020304" pitchFamily="18" charset="0"/>
              <a:cs typeface="Times" panose="02020603050405020304" pitchFamily="18" charset="0"/>
            </a:endParaRPr>
          </a:p>
          <a:p>
            <a:pPr algn="ctr"/>
            <a:r>
              <a:rPr lang="en-CA" sz="1800" b="0" dirty="0">
                <a:solidFill>
                  <a:schemeClr val="tx1">
                    <a:lumMod val="85000"/>
                    <a:lumOff val="15000"/>
                  </a:schemeClr>
                </a:solidFill>
                <a:latin typeface="Times" panose="02020603050405020304" pitchFamily="18" charset="0"/>
                <a:cs typeface="Times" panose="02020603050405020304" pitchFamily="18" charset="0"/>
              </a:rPr>
              <a:t>By:</a:t>
            </a:r>
          </a:p>
          <a:p>
            <a:pPr algn="ctr"/>
            <a:r>
              <a:rPr lang="en-CA" dirty="0">
                <a:solidFill>
                  <a:schemeClr val="tx1">
                    <a:lumMod val="85000"/>
                    <a:lumOff val="15000"/>
                  </a:schemeClr>
                </a:solidFill>
                <a:latin typeface="Times" panose="02020603050405020304" pitchFamily="18" charset="0"/>
                <a:cs typeface="Times" panose="02020603050405020304" pitchFamily="18" charset="0"/>
              </a:rPr>
              <a:t>Marthens HAKIZIMANA</a:t>
            </a:r>
            <a:br/>
            <a:r>
              <a:rPr lang="en-CA" dirty="0">
                <a:solidFill>
                  <a:schemeClr val="tx1">
                    <a:lumMod val="85000"/>
                    <a:lumOff val="15000"/>
                  </a:schemeClr>
                </a:solidFill>
                <a:latin typeface="Times" panose="02020603050405020304" pitchFamily="18" charset="0"/>
                <a:cs typeface="Times" panose="02020603050405020304" pitchFamily="18" charset="0"/>
              </a:rPr>
              <a:t>Amir TAGHAVIPOUR</a:t>
            </a:r>
            <a:endParaRPr lang="en-GB" sz="1800" b="0" dirty="0">
              <a:solidFill>
                <a:schemeClr val="tx1">
                  <a:lumMod val="85000"/>
                  <a:lumOff val="15000"/>
                </a:schemeClr>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185292129"/>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Why Let the Robot Drive Itself?</a:t>
            </a:r>
          </a:p>
          <a:p>
            <a:pPr algn="just"/>
            <a:r>
              <a:rPr lang="en-US" sz="2500" dirty="0">
                <a:solidFill>
                  <a:srgbClr val="FFFFFF"/>
                </a:solidFill>
                <a:latin typeface="Times" panose="02020603050405020304" pitchFamily="18" charset="0"/>
                <a:cs typeface="Times" panose="02020603050405020304" pitchFamily="18" charset="0"/>
              </a:rPr>
              <a:t>Motivation &amp; goal</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2</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Oval 15"/>
          <p:cNvSpPr/>
          <p:nvPr/>
        </p:nvSpPr>
        <p:spPr>
          <a:xfrm>
            <a:off x="640080" y="1325880"/>
            <a:ext cx="548640" cy="54864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imes New Roman"/>
              </a:rPr>
              <a:t>1</a:t>
            </a:r>
          </a:p>
        </p:txBody>
      </p:sp>
      <p:sp>
        <p:nvSpPr>
          <p:cNvPr id="17" name="TextBox 16"/>
          <p:cNvSpPr txBox="1"/>
          <p:nvPr/>
        </p:nvSpPr>
        <p:spPr>
          <a:xfrm>
            <a:off x="1371600" y="1280160"/>
            <a:ext cx="7223760" cy="411480"/>
          </a:xfrm>
          <a:prstGeom prst="rect">
            <a:avLst/>
          </a:prstGeom>
          <a:noFill/>
        </p:spPr>
        <p:txBody>
          <a:bodyPr wrap="square" anchor="t" lIns="45720" rIns="45720">
            <a:spAutoFit/>
          </a:bodyPr>
          <a:lstStyle/>
          <a:p>
            <a:pPr algn="l">
              <a:spcAft>
                <a:spcPts val="0"/>
              </a:spcAft>
            </a:pPr>
            <a:r>
              <a:rPr sz="2000" b="1" i="0">
                <a:solidFill>
                  <a:srgbClr val="0000CC"/>
                </a:solidFill>
                <a:latin typeface="Times New Roman"/>
              </a:rPr>
              <a:t>A map comes first</a:t>
            </a:r>
          </a:p>
        </p:txBody>
      </p:sp>
      <p:sp>
        <p:nvSpPr>
          <p:cNvPr id="18" name="TextBox 17"/>
          <p:cNvSpPr txBox="1"/>
          <p:nvPr/>
        </p:nvSpPr>
        <p:spPr>
          <a:xfrm>
            <a:off x="1371600" y="1709928"/>
            <a:ext cx="7223760" cy="731520"/>
          </a:xfrm>
          <a:prstGeom prst="rect">
            <a:avLst/>
          </a:prstGeom>
          <a:noFill/>
        </p:spPr>
        <p:txBody>
          <a:bodyPr wrap="square" anchor="t" lIns="45720" rIns="45720">
            <a:spAutoFit/>
          </a:bodyPr>
          <a:lstStyle/>
          <a:p>
            <a:pPr algn="l">
              <a:spcAft>
                <a:spcPts val="0"/>
              </a:spcAft>
            </a:pPr>
            <a:r>
              <a:rPr sz="1600" b="0" i="0">
                <a:solidFill>
                  <a:srgbClr val="1A1A1A"/>
                </a:solidFill>
                <a:latin typeface="Times New Roman"/>
              </a:rPr>
              <a:t>Localisation, path planning and inspection all start from a map of the space</a:t>
            </a:r>
          </a:p>
        </p:txBody>
      </p:sp>
      <p:sp>
        <p:nvSpPr>
          <p:cNvPr id="19" name="Oval 18"/>
          <p:cNvSpPr/>
          <p:nvPr/>
        </p:nvSpPr>
        <p:spPr>
          <a:xfrm>
            <a:off x="640080" y="2651759"/>
            <a:ext cx="548640" cy="54864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imes New Roman"/>
              </a:rPr>
              <a:t>2</a:t>
            </a:r>
          </a:p>
        </p:txBody>
      </p:sp>
      <p:sp>
        <p:nvSpPr>
          <p:cNvPr id="20" name="TextBox 19"/>
          <p:cNvSpPr txBox="1"/>
          <p:nvPr/>
        </p:nvSpPr>
        <p:spPr>
          <a:xfrm>
            <a:off x="1371600" y="2606039"/>
            <a:ext cx="7223760" cy="411480"/>
          </a:xfrm>
          <a:prstGeom prst="rect">
            <a:avLst/>
          </a:prstGeom>
          <a:noFill/>
        </p:spPr>
        <p:txBody>
          <a:bodyPr wrap="square" anchor="t" lIns="45720" rIns="45720">
            <a:spAutoFit/>
          </a:bodyPr>
          <a:lstStyle/>
          <a:p>
            <a:pPr algn="l">
              <a:spcAft>
                <a:spcPts val="0"/>
              </a:spcAft>
            </a:pPr>
            <a:r>
              <a:rPr sz="2000" b="1" i="0">
                <a:solidFill>
                  <a:srgbClr val="0000CC"/>
                </a:solidFill>
                <a:latin typeface="Times New Roman"/>
              </a:rPr>
              <a:t>Driving is the slow part</a:t>
            </a:r>
          </a:p>
        </p:txBody>
      </p:sp>
      <p:sp>
        <p:nvSpPr>
          <p:cNvPr id="21" name="TextBox 20"/>
          <p:cNvSpPr txBox="1"/>
          <p:nvPr/>
        </p:nvSpPr>
        <p:spPr>
          <a:xfrm>
            <a:off x="1371600" y="3035807"/>
            <a:ext cx="7223760" cy="731520"/>
          </a:xfrm>
          <a:prstGeom prst="rect">
            <a:avLst/>
          </a:prstGeom>
          <a:noFill/>
        </p:spPr>
        <p:txBody>
          <a:bodyPr wrap="square" anchor="t" lIns="45720" rIns="45720">
            <a:spAutoFit/>
          </a:bodyPr>
          <a:lstStyle/>
          <a:p>
            <a:pPr algn="l">
              <a:spcAft>
                <a:spcPts val="0"/>
              </a:spcAft>
            </a:pPr>
            <a:r>
              <a:rPr sz="1600" b="0" i="0">
                <a:solidFill>
                  <a:srgbClr val="1A1A1A"/>
                </a:solidFill>
                <a:latin typeface="Times New Roman"/>
              </a:rPr>
              <a:t>With a lidar the mapping is solved; steering slowly through every room is not</a:t>
            </a:r>
          </a:p>
        </p:txBody>
      </p:sp>
      <p:sp>
        <p:nvSpPr>
          <p:cNvPr id="22" name="Oval 21"/>
          <p:cNvSpPr/>
          <p:nvPr/>
        </p:nvSpPr>
        <p:spPr>
          <a:xfrm>
            <a:off x="640080" y="3977639"/>
            <a:ext cx="548640" cy="54864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imes New Roman"/>
              </a:rPr>
              <a:t>3</a:t>
            </a:r>
          </a:p>
        </p:txBody>
      </p:sp>
      <p:sp>
        <p:nvSpPr>
          <p:cNvPr id="23" name="TextBox 22"/>
          <p:cNvSpPr txBox="1"/>
          <p:nvPr/>
        </p:nvSpPr>
        <p:spPr>
          <a:xfrm>
            <a:off x="1371600" y="3931920"/>
            <a:ext cx="7223760" cy="411480"/>
          </a:xfrm>
          <a:prstGeom prst="rect">
            <a:avLst/>
          </a:prstGeom>
          <a:noFill/>
        </p:spPr>
        <p:txBody>
          <a:bodyPr wrap="square" anchor="t" lIns="45720" rIns="45720">
            <a:spAutoFit/>
          </a:bodyPr>
          <a:lstStyle/>
          <a:p>
            <a:pPr algn="l">
              <a:spcAft>
                <a:spcPts val="0"/>
              </a:spcAft>
            </a:pPr>
            <a:r>
              <a:rPr sz="2000" b="1" i="0">
                <a:solidFill>
                  <a:srgbClr val="0000CC"/>
                </a:solidFill>
                <a:latin typeface="Times New Roman"/>
              </a:rPr>
              <a:t>Low-cost hardware</a:t>
            </a:r>
          </a:p>
        </p:txBody>
      </p:sp>
      <p:sp>
        <p:nvSpPr>
          <p:cNvPr id="24" name="TextBox 23"/>
          <p:cNvSpPr txBox="1"/>
          <p:nvPr/>
        </p:nvSpPr>
        <p:spPr>
          <a:xfrm>
            <a:off x="1371600" y="4361688"/>
            <a:ext cx="7223760" cy="731520"/>
          </a:xfrm>
          <a:prstGeom prst="rect">
            <a:avLst/>
          </a:prstGeom>
          <a:noFill/>
        </p:spPr>
        <p:txBody>
          <a:bodyPr wrap="square" anchor="t" lIns="45720" rIns="45720">
            <a:spAutoFit/>
          </a:bodyPr>
          <a:lstStyle/>
          <a:p>
            <a:pPr algn="l">
              <a:spcAft>
                <a:spcPts val="0"/>
              </a:spcAft>
            </a:pPr>
            <a:r>
              <a:rPr sz="1600" b="0" i="0">
                <a:solidFill>
                  <a:srgbClr val="1A1A1A"/>
                </a:solidFill>
                <a:latin typeface="Times New Roman"/>
              </a:rPr>
              <a:t>Can a low-cost tracked robot with an entry-level lidar do it, with everything on board?</a:t>
            </a:r>
          </a:p>
        </p:txBody>
      </p:sp>
      <p:sp>
        <p:nvSpPr>
          <p:cNvPr id="25" name="Rounded Rectangle 24"/>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Goal: press Explore, walk away, come back to a finished map of the house.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robot04: What We Started With</a:t>
            </a:r>
          </a:p>
          <a:p>
            <a:pPr algn="just"/>
            <a:r>
              <a:rPr lang="en-US" sz="2500" dirty="0">
                <a:solidFill>
                  <a:srgbClr val="FFFFFF"/>
                </a:solidFill>
                <a:latin typeface="Times" panose="02020603050405020304" pitchFamily="18" charset="0"/>
                <a:cs typeface="Times" panose="02020603050405020304" pitchFamily="18" charset="0"/>
              </a:rPr>
              <a:t>Hiwonder MentorPi T1, rebuilt on ROS 2 Jazzy</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3</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camera_view.jpg"/>
          <p:cNvPicPr>
            <a:picLocks noChangeAspect="1"/>
          </p:cNvPicPr>
          <p:nvPr/>
        </p:nvPicPr>
        <p:blipFill>
          <a:blip r:embed="rId2"/>
          <a:stretch>
            <a:fillRect/>
          </a:stretch>
        </p:blipFill>
        <p:spPr>
          <a:xfrm>
            <a:off x="502920" y="1240155"/>
            <a:ext cx="3931920" cy="2457450"/>
          </a:xfrm>
          <a:prstGeom prst="rect">
            <a:avLst/>
          </a:prstGeom>
        </p:spPr>
      </p:pic>
      <p:sp>
        <p:nvSpPr>
          <p:cNvPr id="17" name="TextBox 16"/>
          <p:cNvSpPr txBox="1"/>
          <p:nvPr/>
        </p:nvSpPr>
        <p:spPr>
          <a:xfrm>
            <a:off x="502920" y="3730752"/>
            <a:ext cx="3931920" cy="320040"/>
          </a:xfrm>
          <a:prstGeom prst="rect">
            <a:avLst/>
          </a:prstGeom>
          <a:noFill/>
        </p:spPr>
        <p:txBody>
          <a:bodyPr wrap="square" anchor="t" lIns="45720" rIns="45720">
            <a:spAutoFit/>
          </a:bodyPr>
          <a:lstStyle/>
          <a:p>
            <a:pPr algn="l">
              <a:spcAft>
                <a:spcPts val="600"/>
              </a:spcAft>
            </a:pPr>
            <a:r>
              <a:rPr sz="1000" b="0" i="1">
                <a:solidFill>
                  <a:srgbClr val="55555F"/>
                </a:solidFill>
                <a:latin typeface="Times New Roman"/>
              </a:rPr>
              <a:t>What the robot sees: its RGB camera, 10 fps on the PC</a:t>
            </a:r>
          </a:p>
        </p:txBody>
      </p:sp>
      <p:sp>
        <p:nvSpPr>
          <p:cNvPr id="18" name="Rounded Rectangle 17"/>
          <p:cNvSpPr/>
          <p:nvPr/>
        </p:nvSpPr>
        <p:spPr>
          <a:xfrm>
            <a:off x="4663440" y="1234440"/>
            <a:ext cx="1143000" cy="475488"/>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63440" y="1234440"/>
            <a:ext cx="1143000" cy="475488"/>
          </a:xfrm>
          <a:prstGeom prst="rect">
            <a:avLst/>
          </a:prstGeom>
          <a:noFill/>
        </p:spPr>
        <p:txBody>
          <a:bodyPr wrap="square" anchor="ctr" lIns="45720" rIns="45720">
            <a:spAutoFit/>
          </a:bodyPr>
          <a:lstStyle/>
          <a:p>
            <a:pPr algn="ctr">
              <a:spcAft>
                <a:spcPts val="0"/>
              </a:spcAft>
            </a:pPr>
            <a:r>
              <a:rPr sz="1300" b="1" i="0">
                <a:solidFill>
                  <a:srgbClr val="FFFFFF"/>
                </a:solidFill>
                <a:latin typeface="Times New Roman"/>
              </a:rPr>
              <a:t>Computer</a:t>
            </a:r>
          </a:p>
        </p:txBody>
      </p:sp>
      <p:sp>
        <p:nvSpPr>
          <p:cNvPr id="20" name="Rounded Rectangle 19"/>
          <p:cNvSpPr/>
          <p:nvPr/>
        </p:nvSpPr>
        <p:spPr>
          <a:xfrm>
            <a:off x="5897880" y="1234440"/>
            <a:ext cx="2743200" cy="47548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61888" y="1234440"/>
            <a:ext cx="2651760" cy="475488"/>
          </a:xfrm>
          <a:prstGeom prst="rect">
            <a:avLst/>
          </a:prstGeom>
          <a:noFill/>
        </p:spPr>
        <p:txBody>
          <a:bodyPr wrap="square" anchor="ctr" lIns="45720" rIns="45720">
            <a:spAutoFit/>
          </a:bodyPr>
          <a:lstStyle/>
          <a:p>
            <a:pPr algn="l">
              <a:spcAft>
                <a:spcPts val="0"/>
              </a:spcAft>
            </a:pPr>
            <a:r>
              <a:rPr sz="1100" b="0" i="0">
                <a:solidFill>
                  <a:srgbClr val="1A1A1A"/>
                </a:solidFill>
                <a:latin typeface="Times New Roman"/>
              </a:rPr>
              <a:t>Raspberry Pi 5, 8 GB · Ubuntu 24.04 · ROS 2 Jazzy</a:t>
            </a:r>
          </a:p>
        </p:txBody>
      </p:sp>
      <p:sp>
        <p:nvSpPr>
          <p:cNvPr id="22" name="Rounded Rectangle 21"/>
          <p:cNvSpPr/>
          <p:nvPr/>
        </p:nvSpPr>
        <p:spPr>
          <a:xfrm>
            <a:off x="4663440" y="1783080"/>
            <a:ext cx="1143000" cy="475488"/>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663440" y="1783080"/>
            <a:ext cx="1143000" cy="475488"/>
          </a:xfrm>
          <a:prstGeom prst="rect">
            <a:avLst/>
          </a:prstGeom>
          <a:noFill/>
        </p:spPr>
        <p:txBody>
          <a:bodyPr wrap="square" anchor="ctr" lIns="45720" rIns="45720">
            <a:spAutoFit/>
          </a:bodyPr>
          <a:lstStyle/>
          <a:p>
            <a:pPr algn="ctr">
              <a:spcAft>
                <a:spcPts val="0"/>
              </a:spcAft>
            </a:pPr>
            <a:r>
              <a:rPr sz="1300" b="1" i="0">
                <a:solidFill>
                  <a:srgbClr val="FFFFFF"/>
                </a:solidFill>
                <a:latin typeface="Times New Roman"/>
              </a:rPr>
              <a:t>Drive</a:t>
            </a:r>
          </a:p>
        </p:txBody>
      </p:sp>
      <p:sp>
        <p:nvSpPr>
          <p:cNvPr id="24" name="Rounded Rectangle 23"/>
          <p:cNvSpPr/>
          <p:nvPr/>
        </p:nvSpPr>
        <p:spPr>
          <a:xfrm>
            <a:off x="5897880" y="1783080"/>
            <a:ext cx="2743200" cy="47548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61888" y="1783080"/>
            <a:ext cx="2651760" cy="475488"/>
          </a:xfrm>
          <a:prstGeom prst="rect">
            <a:avLst/>
          </a:prstGeom>
          <a:noFill/>
        </p:spPr>
        <p:txBody>
          <a:bodyPr wrap="square" anchor="ctr" lIns="45720" rIns="45720">
            <a:spAutoFit/>
          </a:bodyPr>
          <a:lstStyle/>
          <a:p>
            <a:pPr algn="l">
              <a:spcAft>
                <a:spcPts val="0"/>
              </a:spcAft>
            </a:pPr>
            <a:r>
              <a:rPr sz="1100" b="0" i="0">
                <a:solidFill>
                  <a:srgbClr val="1A1A1A"/>
                </a:solidFill>
                <a:latin typeface="Times New Roman"/>
              </a:rPr>
              <a:t>2 tracks, JGB37-520 motors, STM32 speed loop · 0.15 m/s top</a:t>
            </a:r>
          </a:p>
        </p:txBody>
      </p:sp>
      <p:sp>
        <p:nvSpPr>
          <p:cNvPr id="26" name="Rounded Rectangle 25"/>
          <p:cNvSpPr/>
          <p:nvPr/>
        </p:nvSpPr>
        <p:spPr>
          <a:xfrm>
            <a:off x="4663440" y="2331720"/>
            <a:ext cx="1143000" cy="475488"/>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663440" y="2331720"/>
            <a:ext cx="1143000" cy="475488"/>
          </a:xfrm>
          <a:prstGeom prst="rect">
            <a:avLst/>
          </a:prstGeom>
          <a:noFill/>
        </p:spPr>
        <p:txBody>
          <a:bodyPr wrap="square" anchor="ctr" lIns="45720" rIns="45720">
            <a:spAutoFit/>
          </a:bodyPr>
          <a:lstStyle/>
          <a:p>
            <a:pPr algn="ctr">
              <a:spcAft>
                <a:spcPts val="0"/>
              </a:spcAft>
            </a:pPr>
            <a:r>
              <a:rPr sz="1300" b="1" i="0">
                <a:solidFill>
                  <a:srgbClr val="FFFFFF"/>
                </a:solidFill>
                <a:latin typeface="Times New Roman"/>
              </a:rPr>
              <a:t>Lidar</a:t>
            </a:r>
          </a:p>
        </p:txBody>
      </p:sp>
      <p:sp>
        <p:nvSpPr>
          <p:cNvPr id="28" name="Rounded Rectangle 27"/>
          <p:cNvSpPr/>
          <p:nvPr/>
        </p:nvSpPr>
        <p:spPr>
          <a:xfrm>
            <a:off x="5897880" y="2331720"/>
            <a:ext cx="2743200" cy="47548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961888" y="2331720"/>
            <a:ext cx="2651760" cy="475488"/>
          </a:xfrm>
          <a:prstGeom prst="rect">
            <a:avLst/>
          </a:prstGeom>
          <a:noFill/>
        </p:spPr>
        <p:txBody>
          <a:bodyPr wrap="square" anchor="ctr" lIns="45720" rIns="45720">
            <a:spAutoFit/>
          </a:bodyPr>
          <a:lstStyle/>
          <a:p>
            <a:pPr algn="l">
              <a:spcAft>
                <a:spcPts val="0"/>
              </a:spcAft>
            </a:pPr>
            <a:r>
              <a:rPr sz="1100" b="0" i="0">
                <a:solidFill>
                  <a:srgbClr val="1A1A1A"/>
                </a:solidFill>
                <a:latin typeface="Times New Roman"/>
              </a:rPr>
              <a:t>Oradar MS200 · 360° · 10 Hz · own ROS 2 driver</a:t>
            </a:r>
          </a:p>
        </p:txBody>
      </p:sp>
      <p:sp>
        <p:nvSpPr>
          <p:cNvPr id="30" name="Rounded Rectangle 29"/>
          <p:cNvSpPr/>
          <p:nvPr/>
        </p:nvSpPr>
        <p:spPr>
          <a:xfrm>
            <a:off x="4663440" y="2880360"/>
            <a:ext cx="1143000" cy="475488"/>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663440" y="2880360"/>
            <a:ext cx="1143000" cy="475488"/>
          </a:xfrm>
          <a:prstGeom prst="rect">
            <a:avLst/>
          </a:prstGeom>
          <a:noFill/>
        </p:spPr>
        <p:txBody>
          <a:bodyPr wrap="square" anchor="ctr" lIns="45720" rIns="45720">
            <a:spAutoFit/>
          </a:bodyPr>
          <a:lstStyle/>
          <a:p>
            <a:pPr algn="ctr">
              <a:spcAft>
                <a:spcPts val="0"/>
              </a:spcAft>
            </a:pPr>
            <a:r>
              <a:rPr sz="1300" b="1" i="0">
                <a:solidFill>
                  <a:srgbClr val="FFFFFF"/>
                </a:solidFill>
                <a:latin typeface="Times New Roman"/>
              </a:rPr>
              <a:t>Camera</a:t>
            </a:r>
          </a:p>
        </p:txBody>
      </p:sp>
      <p:sp>
        <p:nvSpPr>
          <p:cNvPr id="32" name="Rounded Rectangle 31"/>
          <p:cNvSpPr/>
          <p:nvPr/>
        </p:nvSpPr>
        <p:spPr>
          <a:xfrm>
            <a:off x="5897880" y="2880360"/>
            <a:ext cx="2743200" cy="47548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961888" y="2880360"/>
            <a:ext cx="2651760" cy="475488"/>
          </a:xfrm>
          <a:prstGeom prst="rect">
            <a:avLst/>
          </a:prstGeom>
          <a:noFill/>
        </p:spPr>
        <p:txBody>
          <a:bodyPr wrap="square" anchor="ctr" lIns="45720" rIns="45720">
            <a:spAutoFit/>
          </a:bodyPr>
          <a:lstStyle/>
          <a:p>
            <a:pPr algn="l">
              <a:spcAft>
                <a:spcPts val="0"/>
              </a:spcAft>
            </a:pPr>
            <a:r>
              <a:rPr sz="1100" b="0" i="0">
                <a:solidFill>
                  <a:srgbClr val="1A1A1A"/>
                </a:solidFill>
                <a:latin typeface="Times New Roman"/>
              </a:rPr>
              <a:t>Deptrum Aurora 930 RGB-D · watched from the PC</a:t>
            </a:r>
          </a:p>
        </p:txBody>
      </p:sp>
      <p:sp>
        <p:nvSpPr>
          <p:cNvPr id="34" name="Rounded Rectangle 33"/>
          <p:cNvSpPr/>
          <p:nvPr/>
        </p:nvSpPr>
        <p:spPr>
          <a:xfrm>
            <a:off x="4663440" y="3429000"/>
            <a:ext cx="1143000" cy="475488"/>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663440" y="3429000"/>
            <a:ext cx="1143000" cy="475488"/>
          </a:xfrm>
          <a:prstGeom prst="rect">
            <a:avLst/>
          </a:prstGeom>
          <a:noFill/>
        </p:spPr>
        <p:txBody>
          <a:bodyPr wrap="square" anchor="ctr" lIns="45720" rIns="45720">
            <a:spAutoFit/>
          </a:bodyPr>
          <a:lstStyle/>
          <a:p>
            <a:pPr algn="ctr">
              <a:spcAft>
                <a:spcPts val="0"/>
              </a:spcAft>
            </a:pPr>
            <a:r>
              <a:rPr sz="1300" b="1" i="0">
                <a:solidFill>
                  <a:srgbClr val="FFFFFF"/>
                </a:solidFill>
                <a:latin typeface="Times New Roman"/>
              </a:rPr>
              <a:t>Operator</a:t>
            </a:r>
          </a:p>
        </p:txBody>
      </p:sp>
      <p:sp>
        <p:nvSpPr>
          <p:cNvPr id="36" name="Rounded Rectangle 35"/>
          <p:cNvSpPr/>
          <p:nvPr/>
        </p:nvSpPr>
        <p:spPr>
          <a:xfrm>
            <a:off x="5897880" y="3429000"/>
            <a:ext cx="2743200" cy="47548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961888" y="3429000"/>
            <a:ext cx="2651760" cy="475488"/>
          </a:xfrm>
          <a:prstGeom prst="rect">
            <a:avLst/>
          </a:prstGeom>
          <a:noFill/>
        </p:spPr>
        <p:txBody>
          <a:bodyPr wrap="square" anchor="ctr" lIns="45720" rIns="45720">
            <a:spAutoFit/>
          </a:bodyPr>
          <a:lstStyle/>
          <a:p>
            <a:pPr algn="l">
              <a:spcAft>
                <a:spcPts val="0"/>
              </a:spcAft>
            </a:pPr>
            <a:r>
              <a:rPr sz="1100" b="0" i="0">
                <a:solidFill>
                  <a:srgbClr val="1A1A1A"/>
                </a:solidFill>
                <a:latin typeface="Times New Roman"/>
              </a:rPr>
              <a:t>Laptop, ROS 2 Humble, same Wi-Fi · Cyclone DDS</a:t>
            </a:r>
          </a:p>
        </p:txBody>
      </p:sp>
      <p:sp>
        <p:nvSpPr>
          <p:cNvPr id="38" name="Rounded Rectangle 37"/>
          <p:cNvSpPr/>
          <p:nvPr/>
        </p:nvSpPr>
        <p:spPr>
          <a:xfrm>
            <a:off x="502920" y="4206240"/>
            <a:ext cx="8138160" cy="100584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85800" y="4224528"/>
            <a:ext cx="7772400" cy="960120"/>
          </a:xfrm>
          <a:prstGeom prst="rect">
            <a:avLst/>
          </a:prstGeom>
          <a:noFill/>
        </p:spPr>
        <p:txBody>
          <a:bodyPr wrap="square" anchor="ctr" lIns="45720" rIns="45720">
            <a:spAutoFit/>
          </a:bodyPr>
          <a:lstStyle/>
          <a:p>
            <a:pPr algn="l">
              <a:spcAft>
                <a:spcPts val="0"/>
              </a:spcAft>
            </a:pPr>
            <a:r>
              <a:rPr sz="1400" b="1" i="0">
                <a:solidFill>
                  <a:srgbClr val="CC0633"/>
                </a:solidFill>
                <a:latin typeface="Times New Roman"/>
              </a:rPr>
              <a:t>Written for this work: </a:t>
            </a:r>
            <a:r>
              <a:rPr sz="1400" b="0" i="0">
                <a:solidFill>
                  <a:srgbClr val="1A1A1A"/>
                </a:solidFill>
                <a:latin typeface="Times New Roman"/>
              </a:rPr>
              <a:t>lidar driver (47-byte packets, CRC-8, 450 rays), velocity adapter, frontier explorer, Nav2 configuration, the PC mapper app, and a lidar-only calibration test.</a:t>
            </a:r>
          </a:p>
        </p:txBody>
      </p:sp>
      <p:sp>
        <p:nvSpPr>
          <p:cNvPr id="40" name="Rounded Rectangle 39"/>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Standard ROS 2 parts where they exist; small, testable glue where they don't.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Which SLAM, Which Navigation, Which Exploration?</a:t>
            </a:r>
          </a:p>
          <a:p>
            <a:pPr algn="just"/>
            <a:r>
              <a:rPr lang="en-US" sz="2500" dirty="0">
                <a:solidFill>
                  <a:srgbClr val="FFFFFF"/>
                </a:solidFill>
                <a:latin typeface="Times" panose="02020603050405020304" pitchFamily="18" charset="0"/>
                <a:cs typeface="Times" panose="02020603050405020304" pitchFamily="18" charset="0"/>
              </a:rPr>
              <a:t>Related work and the choices made</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4</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graphicFrame>
        <p:nvGraphicFramePr>
          <p:cNvPr id="16" name="Table 15"/>
          <p:cNvGraphicFramePr>
            <a:graphicFrameLocks noGrp="1"/>
          </p:cNvGraphicFramePr>
          <p:nvPr/>
        </p:nvGraphicFramePr>
        <p:xfrm>
          <a:off x="502920" y="1234440"/>
          <a:ext cx="8138160" cy="3401568"/>
        </p:xfrm>
        <a:graphic>
          <a:graphicData uri="http://schemas.openxmlformats.org/drawingml/2006/table">
            <a:tbl>
              <a:tblPr firstRow="0" bandRow="0"/>
              <a:tblGrid>
                <a:gridCol w="1234440"/>
                <a:gridCol w="2743200"/>
                <a:gridCol w="1417320"/>
                <a:gridCol w="2743200"/>
              </a:tblGrid>
              <a:tr h="566928">
                <a:tc>
                  <a:txBody>
                    <a:bodyPr wrap="square"/>
                    <a:lstStyle/>
                    <a:p>
                      <a:r>
                        <a:rPr sz="1100" b="1">
                          <a:solidFill>
                            <a:srgbClr val="FFFFFF"/>
                          </a:solidFill>
                          <a:latin typeface="Times New Roman"/>
                        </a:rPr>
                        <a:t>Component</a:t>
                      </a:r>
                    </a:p>
                  </a:txBody>
                  <a:tcPr marL="54864" marR="54864" marT="18288" marB="18288" anchor="ctr">
                    <a:solidFill>
                      <a:srgbClr val="0000CC"/>
                    </a:solidFill>
                  </a:tcPr>
                </a:tc>
                <a:tc>
                  <a:txBody>
                    <a:bodyPr wrap="square"/>
                    <a:lstStyle/>
                    <a:p>
                      <a:r>
                        <a:rPr sz="1100" b="1">
                          <a:solidFill>
                            <a:srgbClr val="FFFFFF"/>
                          </a:solidFill>
                          <a:latin typeface="Times New Roman"/>
                        </a:rPr>
                        <a:t>Options considered</a:t>
                      </a:r>
                    </a:p>
                  </a:txBody>
                  <a:tcPr marL="54864" marR="54864" marT="18288" marB="18288" anchor="ctr">
                    <a:solidFill>
                      <a:srgbClr val="0000CC"/>
                    </a:solidFill>
                  </a:tcPr>
                </a:tc>
                <a:tc>
                  <a:txBody>
                    <a:bodyPr wrap="square"/>
                    <a:lstStyle/>
                    <a:p>
                      <a:r>
                        <a:rPr sz="1100" b="1">
                          <a:solidFill>
                            <a:srgbClr val="FFFFFF"/>
                          </a:solidFill>
                          <a:latin typeface="Times New Roman"/>
                        </a:rPr>
                        <a:t>Chosen</a:t>
                      </a:r>
                    </a:p>
                  </a:txBody>
                  <a:tcPr marL="54864" marR="54864" marT="18288" marB="18288" anchor="ctr">
                    <a:solidFill>
                      <a:srgbClr val="0000CC"/>
                    </a:solidFill>
                  </a:tcPr>
                </a:tc>
                <a:tc>
                  <a:txBody>
                    <a:bodyPr wrap="square"/>
                    <a:lstStyle/>
                    <a:p>
                      <a:r>
                        <a:rPr sz="1100" b="1">
                          <a:solidFill>
                            <a:srgbClr val="FFFFFF"/>
                          </a:solidFill>
                          <a:latin typeface="Times New Roman"/>
                        </a:rPr>
                        <a:t>Why</a:t>
                      </a:r>
                    </a:p>
                  </a:txBody>
                  <a:tcPr marL="54864" marR="54864" marT="18288" marB="18288" anchor="ctr">
                    <a:solidFill>
                      <a:srgbClr val="0000CC"/>
                    </a:solidFill>
                  </a:tcPr>
                </a:tc>
              </a:tr>
              <a:tr h="566928">
                <a:tc>
                  <a:txBody>
                    <a:bodyPr wrap="square"/>
                    <a:lstStyle/>
                    <a:p>
                      <a:r>
                        <a:rPr sz="1100" b="1">
                          <a:solidFill>
                            <a:srgbClr val="0000CC"/>
                          </a:solidFill>
                          <a:latin typeface="Times New Roman"/>
                        </a:rPr>
                        <a:t>2D SLAM</a:t>
                      </a:r>
                    </a:p>
                  </a:txBody>
                  <a:tcPr marL="54864" marR="54864" marT="18288" marB="18288" anchor="ctr">
                    <a:solidFill>
                      <a:srgbClr val="ECECFA"/>
                    </a:solidFill>
                  </a:tcPr>
                </a:tc>
                <a:tc>
                  <a:txBody>
                    <a:bodyPr wrap="square"/>
                    <a:lstStyle/>
                    <a:p>
                      <a:r>
                        <a:rPr sz="1100" b="0">
                          <a:solidFill>
                            <a:srgbClr val="1A1A1A"/>
                          </a:solidFill>
                          <a:latin typeface="Times New Roman"/>
                        </a:rPr>
                        <a:t>GMapping (RBPF), Cartographer, SLAM Toolbox, Hector</a:t>
                      </a:r>
                    </a:p>
                  </a:txBody>
                  <a:tcPr marL="54864" marR="54864" marT="18288" marB="18288" anchor="ctr">
                    <a:solidFill>
                      <a:srgbClr val="ECECFA"/>
                    </a:solidFill>
                  </a:tcPr>
                </a:tc>
                <a:tc>
                  <a:txBody>
                    <a:bodyPr wrap="square"/>
                    <a:lstStyle/>
                    <a:p>
                      <a:r>
                        <a:rPr sz="1100" b="0">
                          <a:solidFill>
                            <a:srgbClr val="1A1A1A"/>
                          </a:solidFill>
                          <a:latin typeface="Times New Roman"/>
                        </a:rPr>
                        <a:t>Hector SLAM</a:t>
                      </a:r>
                    </a:p>
                  </a:txBody>
                  <a:tcPr marL="54864" marR="54864" marT="18288" marB="18288" anchor="ctr">
                    <a:solidFill>
                      <a:srgbClr val="ECECFA"/>
                    </a:solidFill>
                  </a:tcPr>
                </a:tc>
                <a:tc>
                  <a:txBody>
                    <a:bodyPr wrap="square"/>
                    <a:lstStyle/>
                    <a:p>
                      <a:r>
                        <a:rPr sz="1100" b="0">
                          <a:solidFill>
                            <a:srgbClr val="1A1A1A"/>
                          </a:solidFill>
                          <a:latin typeface="Times New Roman"/>
                        </a:rPr>
                        <a:t>needs no odometry (tracks skid); ≈ 3 % of a Pi core</a:t>
                      </a:r>
                    </a:p>
                  </a:txBody>
                  <a:tcPr marL="54864" marR="54864" marT="18288" marB="18288" anchor="ctr">
                    <a:solidFill>
                      <a:srgbClr val="ECECFA"/>
                    </a:solidFill>
                  </a:tcPr>
                </a:tc>
              </a:tr>
              <a:tr h="566928">
                <a:tc>
                  <a:txBody>
                    <a:bodyPr wrap="square"/>
                    <a:lstStyle/>
                    <a:p>
                      <a:r>
                        <a:rPr sz="1100" b="1">
                          <a:solidFill>
                            <a:srgbClr val="0000CC"/>
                          </a:solidFill>
                          <a:latin typeface="Times New Roman"/>
                        </a:rPr>
                        <a:t>Navigation</a:t>
                      </a:r>
                    </a:p>
                  </a:txBody>
                  <a:tcPr marL="54864" marR="54864" marT="18288" marB="18288" anchor="ctr">
                    <a:solidFill>
                      <a:srgbClr val="FFFFFF"/>
                    </a:solidFill>
                  </a:tcPr>
                </a:tc>
                <a:tc>
                  <a:txBody>
                    <a:bodyPr wrap="square"/>
                    <a:lstStyle/>
                    <a:p>
                      <a:r>
                        <a:rPr sz="1100" b="0">
                          <a:solidFill>
                            <a:srgbClr val="1A1A1A"/>
                          </a:solidFill>
                          <a:latin typeface="Times New Roman"/>
                        </a:rPr>
                        <a:t>Nav2: DWB, MPPI, Regulated Pure Pursuit</a:t>
                      </a:r>
                    </a:p>
                  </a:txBody>
                  <a:tcPr marL="54864" marR="54864" marT="18288" marB="18288" anchor="ctr">
                    <a:solidFill>
                      <a:srgbClr val="FFFFFF"/>
                    </a:solidFill>
                  </a:tcPr>
                </a:tc>
                <a:tc>
                  <a:txBody>
                    <a:bodyPr wrap="square"/>
                    <a:lstStyle/>
                    <a:p>
                      <a:r>
                        <a:rPr sz="1100" b="0">
                          <a:solidFill>
                            <a:srgbClr val="1A1A1A"/>
                          </a:solidFill>
                          <a:latin typeface="Times New Roman"/>
                        </a:rPr>
                        <a:t>Nav2 + RPP</a:t>
                      </a:r>
                    </a:p>
                  </a:txBody>
                  <a:tcPr marL="54864" marR="54864" marT="18288" marB="18288" anchor="ctr">
                    <a:solidFill>
                      <a:srgbClr val="FFFFFF"/>
                    </a:solidFill>
                  </a:tcPr>
                </a:tc>
                <a:tc>
                  <a:txBody>
                    <a:bodyPr wrap="square"/>
                    <a:lstStyle/>
                    <a:p>
                      <a:r>
                        <a:rPr sz="1100" b="0">
                          <a:solidFill>
                            <a:srgbClr val="1A1A1A"/>
                          </a:solidFill>
                          <a:latin typeface="Times New Roman"/>
                        </a:rPr>
                        <a:t>slow diff-drive robot, few parameters, built-in collision check</a:t>
                      </a:r>
                    </a:p>
                  </a:txBody>
                  <a:tcPr marL="54864" marR="54864" marT="18288" marB="18288" anchor="ctr">
                    <a:solidFill>
                      <a:srgbClr val="FFFFFF"/>
                    </a:solidFill>
                  </a:tcPr>
                </a:tc>
              </a:tr>
              <a:tr h="566928">
                <a:tc>
                  <a:txBody>
                    <a:bodyPr wrap="square"/>
                    <a:lstStyle/>
                    <a:p>
                      <a:r>
                        <a:rPr sz="1100" b="1">
                          <a:solidFill>
                            <a:srgbClr val="0000CC"/>
                          </a:solidFill>
                          <a:latin typeface="Times New Roman"/>
                        </a:rPr>
                        <a:t>Planner</a:t>
                      </a:r>
                    </a:p>
                  </a:txBody>
                  <a:tcPr marL="54864" marR="54864" marT="18288" marB="18288" anchor="ctr">
                    <a:solidFill>
                      <a:srgbClr val="ECECFA"/>
                    </a:solidFill>
                  </a:tcPr>
                </a:tc>
                <a:tc>
                  <a:txBody>
                    <a:bodyPr wrap="square"/>
                    <a:lstStyle/>
                    <a:p>
                      <a:r>
                        <a:rPr sz="1100" b="0">
                          <a:solidFill>
                            <a:srgbClr val="1A1A1A"/>
                          </a:solidFill>
                          <a:latin typeface="Times New Roman"/>
                        </a:rPr>
                        <a:t>NavFn, Smac 2D/Hybrid, Theta*</a:t>
                      </a:r>
                    </a:p>
                  </a:txBody>
                  <a:tcPr marL="54864" marR="54864" marT="18288" marB="18288" anchor="ctr">
                    <a:solidFill>
                      <a:srgbClr val="ECECFA"/>
                    </a:solidFill>
                  </a:tcPr>
                </a:tc>
                <a:tc>
                  <a:txBody>
                    <a:bodyPr wrap="square"/>
                    <a:lstStyle/>
                    <a:p>
                      <a:r>
                        <a:rPr sz="1100" b="0">
                          <a:solidFill>
                            <a:srgbClr val="1A1A1A"/>
                          </a:solidFill>
                          <a:latin typeface="Times New Roman"/>
                        </a:rPr>
                        <a:t>NavFn (A*)</a:t>
                      </a:r>
                    </a:p>
                  </a:txBody>
                  <a:tcPr marL="54864" marR="54864" marT="18288" marB="18288" anchor="ctr">
                    <a:solidFill>
                      <a:srgbClr val="ECECFA"/>
                    </a:solidFill>
                  </a:tcPr>
                </a:tc>
                <a:tc>
                  <a:txBody>
                    <a:bodyPr wrap="square"/>
                    <a:lstStyle/>
                    <a:p>
                      <a:r>
                        <a:rPr sz="1100" b="0">
                          <a:solidFill>
                            <a:srgbClr val="1A1A1A"/>
                          </a:solidFill>
                          <a:latin typeface="Times New Roman"/>
                        </a:rPr>
                        <a:t>cheap, allow_unknown for goals at the map's edge</a:t>
                      </a:r>
                    </a:p>
                  </a:txBody>
                  <a:tcPr marL="54864" marR="54864" marT="18288" marB="18288" anchor="ctr">
                    <a:solidFill>
                      <a:srgbClr val="ECECFA"/>
                    </a:solidFill>
                  </a:tcPr>
                </a:tc>
              </a:tr>
              <a:tr h="566928">
                <a:tc>
                  <a:txBody>
                    <a:bodyPr wrap="square"/>
                    <a:lstStyle/>
                    <a:p>
                      <a:r>
                        <a:rPr sz="1100" b="1">
                          <a:solidFill>
                            <a:srgbClr val="0000CC"/>
                          </a:solidFill>
                          <a:latin typeface="Times New Roman"/>
                        </a:rPr>
                        <a:t>Exploration</a:t>
                      </a:r>
                    </a:p>
                  </a:txBody>
                  <a:tcPr marL="54864" marR="54864" marT="18288" marB="18288" anchor="ctr">
                    <a:solidFill>
                      <a:srgbClr val="FFFFFF"/>
                    </a:solidFill>
                  </a:tcPr>
                </a:tc>
                <a:tc>
                  <a:txBody>
                    <a:bodyPr wrap="square"/>
                    <a:lstStyle/>
                    <a:p>
                      <a:r>
                        <a:rPr sz="1100" b="0">
                          <a:solidFill>
                            <a:srgbClr val="1A1A1A"/>
                          </a:solidFill>
                          <a:latin typeface="Times New Roman"/>
                        </a:rPr>
                        <a:t>explore_lite, RRT exploration, information gain</a:t>
                      </a:r>
                    </a:p>
                  </a:txBody>
                  <a:tcPr marL="54864" marR="54864" marT="18288" marB="18288" anchor="ctr">
                    <a:solidFill>
                      <a:srgbClr val="FFFFFF"/>
                    </a:solidFill>
                  </a:tcPr>
                </a:tc>
                <a:tc>
                  <a:txBody>
                    <a:bodyPr wrap="square"/>
                    <a:lstStyle/>
                    <a:p>
                      <a:r>
                        <a:rPr sz="1100" b="0">
                          <a:solidFill>
                            <a:srgbClr val="1A1A1A"/>
                          </a:solidFill>
                          <a:latin typeface="Times New Roman"/>
                        </a:rPr>
                        <a:t>own greedy frontier</a:t>
                      </a:r>
                    </a:p>
                  </a:txBody>
                  <a:tcPr marL="54864" marR="54864" marT="18288" marB="18288" anchor="ctr">
                    <a:solidFill>
                      <a:srgbClr val="FFFFFF"/>
                    </a:solidFill>
                  </a:tcPr>
                </a:tc>
                <a:tc>
                  <a:txBody>
                    <a:bodyPr wrap="square"/>
                    <a:lstStyle/>
                    <a:p>
                      <a:r>
                        <a:rPr sz="1100" b="0">
                          <a:solidFill>
                            <a:srgbClr val="1A1A1A"/>
                          </a:solidFill>
                          <a:latin typeface="Times New Roman"/>
                        </a:rPr>
                        <a:t>every decision logged; blacklist + return home; Jazzy native</a:t>
                      </a:r>
                    </a:p>
                  </a:txBody>
                  <a:tcPr marL="54864" marR="54864" marT="18288" marB="18288" anchor="ctr">
                    <a:solidFill>
                      <a:srgbClr val="FFFFFF"/>
                    </a:solidFill>
                  </a:tcPr>
                </a:tc>
              </a:tr>
              <a:tr h="566928">
                <a:tc>
                  <a:txBody>
                    <a:bodyPr wrap="square"/>
                    <a:lstStyle/>
                    <a:p>
                      <a:r>
                        <a:rPr sz="1100" b="1">
                          <a:solidFill>
                            <a:srgbClr val="0000CC"/>
                          </a:solidFill>
                          <a:latin typeface="Times New Roman"/>
                        </a:rPr>
                        <a:t>Placement</a:t>
                      </a:r>
                    </a:p>
                  </a:txBody>
                  <a:tcPr marL="54864" marR="54864" marT="18288" marB="18288" anchor="ctr">
                    <a:solidFill>
                      <a:srgbClr val="ECECFA"/>
                    </a:solidFill>
                  </a:tcPr>
                </a:tc>
                <a:tc>
                  <a:txBody>
                    <a:bodyPr wrap="square"/>
                    <a:lstStyle/>
                    <a:p>
                      <a:r>
                        <a:rPr sz="1100" b="0">
                          <a:solidFill>
                            <a:srgbClr val="1A1A1A"/>
                          </a:solidFill>
                          <a:latin typeface="Times New Roman"/>
                        </a:rPr>
                        <a:t>SLAM on PC, robot as sensor  vs.  all on robot</a:t>
                      </a:r>
                    </a:p>
                  </a:txBody>
                  <a:tcPr marL="54864" marR="54864" marT="18288" marB="18288" anchor="ctr">
                    <a:solidFill>
                      <a:srgbClr val="ECECFA"/>
                    </a:solidFill>
                  </a:tcPr>
                </a:tc>
                <a:tc>
                  <a:txBody>
                    <a:bodyPr wrap="square"/>
                    <a:lstStyle/>
                    <a:p>
                      <a:r>
                        <a:rPr sz="1100" b="0">
                          <a:solidFill>
                            <a:srgbClr val="1A1A1A"/>
                          </a:solidFill>
                          <a:latin typeface="Times New Roman"/>
                        </a:rPr>
                        <a:t>all on robot</a:t>
                      </a:r>
                    </a:p>
                  </a:txBody>
                  <a:tcPr marL="54864" marR="54864" marT="18288" marB="18288" anchor="ctr">
                    <a:solidFill>
                      <a:srgbClr val="ECECFA"/>
                    </a:solidFill>
                  </a:tcPr>
                </a:tc>
                <a:tc>
                  <a:txBody>
                    <a:bodyPr wrap="square"/>
                    <a:lstStyle/>
                    <a:p>
                      <a:r>
                        <a:rPr sz="1100" b="0">
                          <a:solidFill>
                            <a:srgbClr val="1A1A1A"/>
                          </a:solidFill>
                          <a:latin typeface="Times New Roman"/>
                        </a:rPr>
                        <a:t>Wi-Fi drop must not break the control loop</a:t>
                      </a:r>
                    </a:p>
                  </a:txBody>
                  <a:tcPr marL="54864" marR="54864" marT="18288" marB="18288" anchor="ctr">
                    <a:solidFill>
                      <a:srgbClr val="ECECFA"/>
                    </a:solidFill>
                  </a:tcPr>
                </a:tc>
              </a:tr>
            </a:tbl>
          </a:graphicData>
        </a:graphic>
      </p:graphicFrame>
      <p:sp>
        <p:nvSpPr>
          <p:cNvPr id="17" name="TextBox 16"/>
          <p:cNvSpPr txBox="1"/>
          <p:nvPr/>
        </p:nvSpPr>
        <p:spPr>
          <a:xfrm>
            <a:off x="502920" y="4754880"/>
            <a:ext cx="8138160" cy="457200"/>
          </a:xfrm>
          <a:prstGeom prst="rect">
            <a:avLst/>
          </a:prstGeom>
          <a:noFill/>
        </p:spPr>
        <p:txBody>
          <a:bodyPr wrap="square" anchor="t" lIns="45720" rIns="45720">
            <a:spAutoFit/>
          </a:bodyPr>
          <a:lstStyle/>
          <a:p>
            <a:pPr algn="l">
              <a:spcAft>
                <a:spcPts val="600"/>
              </a:spcAft>
            </a:pPr>
            <a:r>
              <a:rPr sz="1000" b="0" i="1">
                <a:solidFill>
                  <a:srgbClr val="55555F"/>
                </a:solidFill>
                <a:latin typeface="Times New Roman"/>
              </a:rPr>
              <a:t>Kohlbrecher 2011 (Hector) · Grisetti 2007 (GMapping) · Hess 2016 (Cartographer) · Macenski 2020/2023 (Nav2, RPP) · Yamauchi 1997 (frontiers) · Umari 2017 (RRT exploration)</a:t>
            </a:r>
          </a:p>
        </p:txBody>
      </p:sp>
      <p:sp>
        <p:nvSpPr>
          <p:cNvPr id="18" name="Rounded Rectangle 17"/>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Mature parts for SLAM and navigation; the explorer is the only planning logic written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Every Loop on the Robot, the PC Only Watches</a:t>
            </a:r>
          </a:p>
          <a:p>
            <a:pPr algn="just"/>
            <a:r>
              <a:rPr lang="en-US" sz="2500" dirty="0">
                <a:solidFill>
                  <a:srgbClr val="FFFFFF"/>
                </a:solidFill>
                <a:latin typeface="Times" panose="02020603050405020304" pitchFamily="18" charset="0"/>
                <a:cs typeface="Times" panose="02020603050405020304" pitchFamily="18" charset="0"/>
              </a:rPr>
              <a:t>System architecture: nodes, rates and where they run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5</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1883664" cy="17830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1280160"/>
            <a:ext cx="1737360"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Drivers</a:t>
            </a:r>
          </a:p>
        </p:txBody>
      </p:sp>
      <p:sp>
        <p:nvSpPr>
          <p:cNvPr id="18" name="TextBox 17"/>
          <p:cNvSpPr txBox="1"/>
          <p:nvPr/>
        </p:nvSpPr>
        <p:spPr>
          <a:xfrm>
            <a:off x="594360" y="1591056"/>
            <a:ext cx="1737360" cy="274320"/>
          </a:xfrm>
          <a:prstGeom prst="rect">
            <a:avLst/>
          </a:prstGeom>
          <a:noFill/>
        </p:spPr>
        <p:txBody>
          <a:bodyPr wrap="square" anchor="t" lIns="45720" rIns="45720">
            <a:spAutoFit/>
          </a:bodyPr>
          <a:lstStyle/>
          <a:p>
            <a:pPr algn="l">
              <a:spcAft>
                <a:spcPts val="0"/>
              </a:spcAft>
            </a:pPr>
            <a:r>
              <a:rPr sz="900" b="0" i="1">
                <a:solidFill>
                  <a:srgbClr val="55555F"/>
                </a:solidFill>
                <a:latin typeface="Times New Roman"/>
              </a:rPr>
              <a:t>robot-fleet-node.service</a:t>
            </a:r>
          </a:p>
        </p:txBody>
      </p:sp>
      <p:sp>
        <p:nvSpPr>
          <p:cNvPr id="19" name="TextBox 18"/>
          <p:cNvSpPr txBox="1"/>
          <p:nvPr/>
        </p:nvSpPr>
        <p:spPr>
          <a:xfrm>
            <a:off x="594360" y="1847088"/>
            <a:ext cx="1737360" cy="1143000"/>
          </a:xfrm>
          <a:prstGeom prst="rect">
            <a:avLst/>
          </a:prstGeom>
          <a:noFill/>
        </p:spPr>
        <p:txBody>
          <a:bodyPr wrap="square" anchor="t" lIns="45720" rIns="45720">
            <a:spAutoFit/>
          </a:bodyPr>
          <a:lstStyle/>
          <a:p>
            <a:pPr algn="l">
              <a:spcAft>
                <a:spcPts val="100"/>
              </a:spcAft>
            </a:pPr>
            <a:r>
              <a:rPr sz="1050" b="0" i="0">
                <a:solidFill>
                  <a:srgbClr val="1A1A1A"/>
                </a:solidFill>
                <a:latin typeface="Times New Roman"/>
              </a:rPr>
              <a:t>ms200_node  /scan 10 Hz</a:t>
            </a:r>
          </a:p>
          <a:p>
            <a:pPr algn="l">
              <a:spcAft>
                <a:spcPts val="100"/>
              </a:spcAft>
            </a:pPr>
            <a:r>
              <a:rPr sz="1050" b="0" i="0">
                <a:solidFill>
                  <a:srgbClr val="1A1A1A"/>
                </a:solidFill>
                <a:latin typeface="Times New Roman"/>
              </a:rPr>
              <a:t>robot_node  odom 20 Hz,</a:t>
            </a:r>
          </a:p>
          <a:p>
            <a:pPr algn="l">
              <a:spcAft>
                <a:spcPts val="100"/>
              </a:spcAft>
            </a:pPr>
            <a:r>
              <a:rPr sz="1050" b="0" i="0">
                <a:solidFill>
                  <a:srgbClr val="1A1A1A"/>
                </a:solidFill>
                <a:latin typeface="Times New Roman"/>
              </a:rPr>
              <a:t>  cmd_vel, 0.25 m stop</a:t>
            </a:r>
          </a:p>
          <a:p>
            <a:pPr algn="l">
              <a:spcAft>
                <a:spcPts val="100"/>
              </a:spcAft>
            </a:pPr>
            <a:r>
              <a:rPr sz="1050" b="0" i="0">
                <a:solidFill>
                  <a:srgbClr val="1A1A1A"/>
                </a:solidFill>
                <a:latin typeface="Times New Roman"/>
              </a:rPr>
              <a:t>camera_bridge  JPEG 10 Hz</a:t>
            </a:r>
          </a:p>
        </p:txBody>
      </p:sp>
      <p:cxnSp>
        <p:nvCxnSpPr>
          <p:cNvPr id="20" name="Connector 19"/>
          <p:cNvCxnSpPr/>
          <p:nvPr/>
        </p:nvCxnSpPr>
        <p:spPr>
          <a:xfrm>
            <a:off x="1444752" y="3035808"/>
            <a:ext cx="0" cy="27432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587752" y="1234440"/>
            <a:ext cx="1883664" cy="17830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679192" y="1280160"/>
            <a:ext cx="1737360"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SLAM</a:t>
            </a:r>
          </a:p>
        </p:txBody>
      </p:sp>
      <p:sp>
        <p:nvSpPr>
          <p:cNvPr id="23" name="TextBox 22"/>
          <p:cNvSpPr txBox="1"/>
          <p:nvPr/>
        </p:nvSpPr>
        <p:spPr>
          <a:xfrm>
            <a:off x="2679192" y="1591056"/>
            <a:ext cx="1737360" cy="274320"/>
          </a:xfrm>
          <a:prstGeom prst="rect">
            <a:avLst/>
          </a:prstGeom>
          <a:noFill/>
        </p:spPr>
        <p:txBody>
          <a:bodyPr wrap="square" anchor="t" lIns="45720" rIns="45720">
            <a:spAutoFit/>
          </a:bodyPr>
          <a:lstStyle/>
          <a:p>
            <a:pPr algn="l">
              <a:spcAft>
                <a:spcPts val="0"/>
              </a:spcAft>
            </a:pPr>
            <a:r>
              <a:rPr sz="900" b="0" i="1">
                <a:solidFill>
                  <a:srgbClr val="55555F"/>
                </a:solidFill>
                <a:latin typeface="Times New Roman"/>
              </a:rPr>
              <a:t>robot-explore.service</a:t>
            </a:r>
          </a:p>
        </p:txBody>
      </p:sp>
      <p:sp>
        <p:nvSpPr>
          <p:cNvPr id="24" name="TextBox 23"/>
          <p:cNvSpPr txBox="1"/>
          <p:nvPr/>
        </p:nvSpPr>
        <p:spPr>
          <a:xfrm>
            <a:off x="2679192" y="1847088"/>
            <a:ext cx="1737360" cy="1143000"/>
          </a:xfrm>
          <a:prstGeom prst="rect">
            <a:avLst/>
          </a:prstGeom>
          <a:noFill/>
        </p:spPr>
        <p:txBody>
          <a:bodyPr wrap="square" anchor="t" lIns="45720" rIns="45720">
            <a:spAutoFit/>
          </a:bodyPr>
          <a:lstStyle/>
          <a:p>
            <a:pPr algn="l">
              <a:spcAft>
                <a:spcPts val="100"/>
              </a:spcAft>
            </a:pPr>
            <a:r>
              <a:rPr sz="1050" b="0" i="0">
                <a:solidFill>
                  <a:srgbClr val="1A1A1A"/>
                </a:solidFill>
                <a:latin typeface="Times New Roman"/>
              </a:rPr>
              <a:t>hector_mapping</a:t>
            </a:r>
          </a:p>
          <a:p>
            <a:pPr algn="l">
              <a:spcAft>
                <a:spcPts val="100"/>
              </a:spcAft>
            </a:pPr>
            <a:r>
              <a:rPr sz="1050" b="0" i="0">
                <a:solidFill>
                  <a:srgbClr val="1A1A1A"/>
                </a:solidFill>
                <a:latin typeface="Times New Roman"/>
              </a:rPr>
              <a:t>/map 1 Hz, 5 cm, 1024²</a:t>
            </a:r>
          </a:p>
          <a:p>
            <a:pPr algn="l">
              <a:spcAft>
                <a:spcPts val="100"/>
              </a:spcAft>
            </a:pPr>
            <a:r>
              <a:rPr sz="1050" b="0" i="0">
                <a:solidFill>
                  <a:srgbClr val="1A1A1A"/>
                </a:solidFill>
                <a:latin typeface="Times New Roman"/>
              </a:rPr>
              <a:t>TF map → robot04/odom</a:t>
            </a:r>
          </a:p>
        </p:txBody>
      </p:sp>
      <p:cxnSp>
        <p:nvCxnSpPr>
          <p:cNvPr id="25" name="Connector 24"/>
          <p:cNvCxnSpPr/>
          <p:nvPr/>
        </p:nvCxnSpPr>
        <p:spPr>
          <a:xfrm>
            <a:off x="3529584" y="3035808"/>
            <a:ext cx="0" cy="27432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672583" y="1234440"/>
            <a:ext cx="1883664" cy="17830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64023" y="1280160"/>
            <a:ext cx="1737360"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Navigation</a:t>
            </a:r>
          </a:p>
        </p:txBody>
      </p:sp>
      <p:sp>
        <p:nvSpPr>
          <p:cNvPr id="28" name="TextBox 27"/>
          <p:cNvSpPr txBox="1"/>
          <p:nvPr/>
        </p:nvSpPr>
        <p:spPr>
          <a:xfrm>
            <a:off x="4764023" y="1591056"/>
            <a:ext cx="1737360" cy="274320"/>
          </a:xfrm>
          <a:prstGeom prst="rect">
            <a:avLst/>
          </a:prstGeom>
          <a:noFill/>
        </p:spPr>
        <p:txBody>
          <a:bodyPr wrap="square" anchor="t" lIns="45720" rIns="45720">
            <a:spAutoFit/>
          </a:bodyPr>
          <a:lstStyle/>
          <a:p>
            <a:pPr algn="l">
              <a:spcAft>
                <a:spcPts val="0"/>
              </a:spcAft>
            </a:pPr>
            <a:r>
              <a:rPr sz="900" b="0" i="1">
                <a:solidFill>
                  <a:srgbClr val="55555F"/>
                </a:solidFill>
                <a:latin typeface="Times New Roman"/>
              </a:rPr>
              <a:t>robot-explore.service</a:t>
            </a:r>
          </a:p>
        </p:txBody>
      </p:sp>
      <p:sp>
        <p:nvSpPr>
          <p:cNvPr id="29" name="TextBox 28"/>
          <p:cNvSpPr txBox="1"/>
          <p:nvPr/>
        </p:nvSpPr>
        <p:spPr>
          <a:xfrm>
            <a:off x="4764023" y="1847088"/>
            <a:ext cx="1737360" cy="1143000"/>
          </a:xfrm>
          <a:prstGeom prst="rect">
            <a:avLst/>
          </a:prstGeom>
          <a:noFill/>
        </p:spPr>
        <p:txBody>
          <a:bodyPr wrap="square" anchor="t" lIns="45720" rIns="45720">
            <a:spAutoFit/>
          </a:bodyPr>
          <a:lstStyle/>
          <a:p>
            <a:pPr algn="l">
              <a:spcAft>
                <a:spcPts val="100"/>
              </a:spcAft>
            </a:pPr>
            <a:r>
              <a:rPr sz="1050" b="0" i="0">
                <a:solidFill>
                  <a:srgbClr val="1A1A1A"/>
                </a:solidFill>
                <a:latin typeface="Times New Roman"/>
              </a:rPr>
              <a:t>planner 1 Hz (NavFn)</a:t>
            </a:r>
          </a:p>
          <a:p>
            <a:pPr algn="l">
              <a:spcAft>
                <a:spcPts val="100"/>
              </a:spcAft>
            </a:pPr>
            <a:r>
              <a:rPr sz="1050" b="0" i="0">
                <a:solidFill>
                  <a:srgbClr val="1A1A1A"/>
                </a:solidFill>
                <a:latin typeface="Times New Roman"/>
              </a:rPr>
              <a:t>controller 8 Hz (RPP)</a:t>
            </a:r>
          </a:p>
          <a:p>
            <a:pPr algn="l">
              <a:spcAft>
                <a:spcPts val="100"/>
              </a:spcAft>
            </a:pPr>
            <a:r>
              <a:rPr sz="1050" b="0" i="0">
                <a:solidFill>
                  <a:srgbClr val="1A1A1A"/>
                </a:solidFill>
                <a:latin typeface="Times New Roman"/>
              </a:rPr>
              <a:t>local costmap 10 Hz</a:t>
            </a:r>
          </a:p>
          <a:p>
            <a:pPr algn="l">
              <a:spcAft>
                <a:spcPts val="100"/>
              </a:spcAft>
            </a:pPr>
            <a:r>
              <a:rPr sz="1050" b="0" i="0">
                <a:solidFill>
                  <a:srgbClr val="1A1A1A"/>
                </a:solidFill>
                <a:latin typeface="Times New Roman"/>
              </a:rPr>
              <a:t>BT navigator, smoother 20 Hz</a:t>
            </a:r>
          </a:p>
        </p:txBody>
      </p:sp>
      <p:cxnSp>
        <p:nvCxnSpPr>
          <p:cNvPr id="30" name="Connector 29"/>
          <p:cNvCxnSpPr/>
          <p:nvPr/>
        </p:nvCxnSpPr>
        <p:spPr>
          <a:xfrm>
            <a:off x="5614416" y="3035808"/>
            <a:ext cx="0" cy="27432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757416" y="1234440"/>
            <a:ext cx="1883664" cy="17830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48855" y="1280160"/>
            <a:ext cx="1737360"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Explorer</a:t>
            </a:r>
          </a:p>
        </p:txBody>
      </p:sp>
      <p:sp>
        <p:nvSpPr>
          <p:cNvPr id="33" name="TextBox 32"/>
          <p:cNvSpPr txBox="1"/>
          <p:nvPr/>
        </p:nvSpPr>
        <p:spPr>
          <a:xfrm>
            <a:off x="6848855" y="1591056"/>
            <a:ext cx="1737360" cy="274320"/>
          </a:xfrm>
          <a:prstGeom prst="rect">
            <a:avLst/>
          </a:prstGeom>
          <a:noFill/>
        </p:spPr>
        <p:txBody>
          <a:bodyPr wrap="square" anchor="t" lIns="45720" rIns="45720">
            <a:spAutoFit/>
          </a:bodyPr>
          <a:lstStyle/>
          <a:p>
            <a:pPr algn="l">
              <a:spcAft>
                <a:spcPts val="0"/>
              </a:spcAft>
            </a:pPr>
            <a:r>
              <a:rPr sz="900" b="0" i="1">
                <a:solidFill>
                  <a:srgbClr val="55555F"/>
                </a:solidFill>
                <a:latin typeface="Times New Roman"/>
              </a:rPr>
              <a:t>robot-explore.service</a:t>
            </a:r>
          </a:p>
        </p:txBody>
      </p:sp>
      <p:sp>
        <p:nvSpPr>
          <p:cNvPr id="34" name="TextBox 33"/>
          <p:cNvSpPr txBox="1"/>
          <p:nvPr/>
        </p:nvSpPr>
        <p:spPr>
          <a:xfrm>
            <a:off x="6848855" y="1847088"/>
            <a:ext cx="1737360" cy="1143000"/>
          </a:xfrm>
          <a:prstGeom prst="rect">
            <a:avLst/>
          </a:prstGeom>
          <a:noFill/>
        </p:spPr>
        <p:txBody>
          <a:bodyPr wrap="square" anchor="t" lIns="45720" rIns="45720">
            <a:spAutoFit/>
          </a:bodyPr>
          <a:lstStyle/>
          <a:p>
            <a:pPr algn="l">
              <a:spcAft>
                <a:spcPts val="100"/>
              </a:spcAft>
            </a:pPr>
            <a:r>
              <a:rPr sz="1050" b="0" i="0">
                <a:solidFill>
                  <a:srgbClr val="1A1A1A"/>
                </a:solidFill>
                <a:latin typeface="Times New Roman"/>
              </a:rPr>
              <a:t>search every 3 s</a:t>
            </a:r>
          </a:p>
          <a:p>
            <a:pPr algn="l">
              <a:spcAft>
                <a:spcPts val="100"/>
              </a:spcAft>
            </a:pPr>
            <a:r>
              <a:rPr sz="1050" b="0" i="0">
                <a:solidFill>
                  <a:srgbClr val="1A1A1A"/>
                </a:solidFill>
                <a:latin typeface="Times New Roman"/>
              </a:rPr>
              <a:t>NavigateToPose action</a:t>
            </a:r>
          </a:p>
          <a:p>
            <a:pPr algn="l">
              <a:spcAft>
                <a:spcPts val="100"/>
              </a:spcAft>
            </a:pPr>
            <a:r>
              <a:rPr sz="1050" b="0" i="0">
                <a:solidFill>
                  <a:srgbClr val="1A1A1A"/>
                </a:solidFill>
                <a:latin typeface="Times New Roman"/>
              </a:rPr>
              <a:t>/explore/state 1 Hz</a:t>
            </a:r>
          </a:p>
          <a:p>
            <a:pPr algn="l">
              <a:spcAft>
                <a:spcPts val="100"/>
              </a:spcAft>
            </a:pPr>
            <a:r>
              <a:rPr sz="1050" b="0" i="0">
                <a:solidFill>
                  <a:srgbClr val="1A1A1A"/>
                </a:solidFill>
                <a:latin typeface="Times New Roman"/>
              </a:rPr>
              <a:t>JSONL run log</a:t>
            </a:r>
          </a:p>
        </p:txBody>
      </p:sp>
      <p:cxnSp>
        <p:nvCxnSpPr>
          <p:cNvPr id="35" name="Connector 34"/>
          <p:cNvCxnSpPr/>
          <p:nvPr/>
        </p:nvCxnSpPr>
        <p:spPr>
          <a:xfrm>
            <a:off x="7699248" y="3035808"/>
            <a:ext cx="0" cy="27432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02920" y="3337560"/>
            <a:ext cx="8138160" cy="502920"/>
          </a:xfrm>
          <a:prstGeom prst="rect">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02920" y="3337560"/>
            <a:ext cx="8138160" cy="502920"/>
          </a:xfrm>
          <a:prstGeom prst="rect">
            <a:avLst/>
          </a:prstGeom>
          <a:noFill/>
        </p:spPr>
        <p:txBody>
          <a:bodyPr wrap="square" anchor="ctr" lIns="45720" rIns="45720">
            <a:spAutoFit/>
          </a:bodyPr>
          <a:lstStyle/>
          <a:p>
            <a:pPr algn="ctr">
              <a:spcAft>
                <a:spcPts val="0"/>
              </a:spcAft>
            </a:pPr>
            <a:r>
              <a:rPr sz="1500" b="1" i="0">
                <a:solidFill>
                  <a:srgbClr val="FFFFFF"/>
                </a:solidFill>
                <a:latin typeface="Times New Roman"/>
              </a:rPr>
              <a:t>Raspberry Pi 5 · ROS 2 Jazzy · Cyclone DDS · domain 17 · ≈ 1.5 of 4 cores</a:t>
            </a:r>
          </a:p>
        </p:txBody>
      </p:sp>
      <p:cxnSp>
        <p:nvCxnSpPr>
          <p:cNvPr id="38" name="Connector 37"/>
          <p:cNvCxnSpPr/>
          <p:nvPr/>
        </p:nvCxnSpPr>
        <p:spPr>
          <a:xfrm>
            <a:off x="4572000" y="3858768"/>
            <a:ext cx="0" cy="274319"/>
          </a:xfrm>
          <a:prstGeom prst="line">
            <a:avLst/>
          </a:prstGeom>
          <a:ln w="25400">
            <a:solidFill>
              <a:srgbClr val="CC06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02920" y="4160520"/>
            <a:ext cx="4754880" cy="1051560"/>
          </a:xfrm>
          <a:prstGeom prst="roundRect">
            <a:avLst>
              <a:gd name="adj" fmla="val 8000"/>
            </a:avLst>
          </a:prstGeom>
          <a:solidFill>
            <a:srgbClr val="FFFFFF"/>
          </a:solidFill>
          <a:ln w="19050">
            <a:solidFill>
              <a:srgbClr val="CC06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 y="4187952"/>
            <a:ext cx="4572000" cy="1005840"/>
          </a:xfrm>
          <a:prstGeom prst="rect">
            <a:avLst/>
          </a:prstGeom>
          <a:noFill/>
        </p:spPr>
        <p:txBody>
          <a:bodyPr wrap="square" anchor="t" lIns="45720" rIns="45720">
            <a:spAutoFit/>
          </a:bodyPr>
          <a:lstStyle/>
          <a:p>
            <a:pPr algn="l">
              <a:spcAft>
                <a:spcPts val="200"/>
              </a:spcAft>
            </a:pPr>
            <a:r>
              <a:rPr sz="1500" b="1" i="0">
                <a:solidFill>
                  <a:srgbClr val="CC0633"/>
                </a:solidFill>
                <a:latin typeface="Times New Roman"/>
              </a:rPr>
              <a:t>Operator PC: Humble, Wi-Fi</a:t>
            </a:r>
          </a:p>
          <a:p>
            <a:pPr algn="l">
              <a:spcAft>
                <a:spcPts val="200"/>
              </a:spcAft>
            </a:pPr>
            <a:r>
              <a:rPr sz="1100" b="0" i="0">
                <a:solidFill>
                  <a:srgbClr val="55555F"/>
                </a:solidFill>
                <a:latin typeface="Times New Roman"/>
              </a:rPr>
              <a:t>subscribes /map, /plan, /slam_out_pose, JPEG, /explore/state · publishes /explore/control and teleop cmd_vel · starts the stack with ssh systemctl --user</a:t>
            </a:r>
          </a:p>
        </p:txBody>
      </p:sp>
      <p:sp>
        <p:nvSpPr>
          <p:cNvPr id="41" name="Rounded Rectangle 40"/>
          <p:cNvSpPr/>
          <p:nvPr/>
        </p:nvSpPr>
        <p:spPr>
          <a:xfrm>
            <a:off x="5486400" y="4160520"/>
            <a:ext cx="3154680" cy="105156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577840" y="4187952"/>
            <a:ext cx="3017520" cy="1005840"/>
          </a:xfrm>
          <a:prstGeom prst="rect">
            <a:avLst/>
          </a:prstGeom>
          <a:noFill/>
        </p:spPr>
        <p:txBody>
          <a:bodyPr wrap="square" anchor="ctr" lIns="45720" rIns="45720">
            <a:spAutoFit/>
          </a:bodyPr>
          <a:lstStyle/>
          <a:p>
            <a:pPr algn="l">
              <a:spcAft>
                <a:spcPts val="0"/>
              </a:spcAft>
            </a:pPr>
            <a:r>
              <a:rPr sz="1400" b="1" i="0">
                <a:solidFill>
                  <a:srgbClr val="0000CC"/>
                </a:solidFill>
                <a:latin typeface="Times New Roman"/>
              </a:rPr>
              <a:t>Rule: </a:t>
            </a:r>
            <a:r>
              <a:rPr sz="1400" b="0" i="0">
                <a:solidFill>
                  <a:srgbClr val="0000CC"/>
                </a:solidFill>
                <a:latin typeface="Times New Roman"/>
              </a:rPr>
              <a:t>a Wi-Fi drop costs the view, never the control loop</a:t>
            </a:r>
          </a:p>
        </p:txBody>
      </p:sp>
      <p:sp>
        <p:nvSpPr>
          <p:cNvPr id="43" name="Rounded Rectangle 42"/>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Hector on the PC worked for teleop mapping (≈ 20 KB/s, +6 ms); for autonomy it moved on board.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A Lidar Driver and a Frame Tree</a:t>
            </a:r>
          </a:p>
          <a:p>
            <a:pPr algn="just"/>
            <a:r>
              <a:rPr lang="en-US" sz="2500" dirty="0">
                <a:solidFill>
                  <a:srgbClr val="FFFFFF"/>
                </a:solidFill>
                <a:latin typeface="Times" panose="02020603050405020304" pitchFamily="18" charset="0"/>
                <a:cs typeface="Times" panose="02020603050405020304" pitchFamily="18" charset="0"/>
              </a:rPr>
              <a:t>ms200_node (written for this work) and the TF chain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6</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graphicFrame>
        <p:nvGraphicFramePr>
          <p:cNvPr id="16" name="Table 15"/>
          <p:cNvGraphicFramePr>
            <a:graphicFrameLocks noGrp="1"/>
          </p:cNvGraphicFramePr>
          <p:nvPr/>
        </p:nvGraphicFramePr>
        <p:xfrm>
          <a:off x="502920" y="1234440"/>
          <a:ext cx="4114800" cy="2633472"/>
        </p:xfrm>
        <a:graphic>
          <a:graphicData uri="http://schemas.openxmlformats.org/drawingml/2006/table">
            <a:tbl>
              <a:tblPr firstRow="0" bandRow="0"/>
              <a:tblGrid>
                <a:gridCol w="731520"/>
                <a:gridCol w="3383280"/>
              </a:tblGrid>
              <a:tr h="329184">
                <a:tc>
                  <a:txBody>
                    <a:bodyPr wrap="square"/>
                    <a:lstStyle/>
                    <a:p>
                      <a:r>
                        <a:rPr sz="1100" b="1">
                          <a:solidFill>
                            <a:srgbClr val="FFFFFF"/>
                          </a:solidFill>
                          <a:latin typeface="Times New Roman"/>
                        </a:rPr>
                        <a:t>Bytes</a:t>
                      </a:r>
                    </a:p>
                  </a:txBody>
                  <a:tcPr marL="54864" marR="54864" marT="18288" marB="18288" anchor="ctr">
                    <a:solidFill>
                      <a:srgbClr val="0000CC"/>
                    </a:solidFill>
                  </a:tcPr>
                </a:tc>
                <a:tc>
                  <a:txBody>
                    <a:bodyPr wrap="square"/>
                    <a:lstStyle/>
                    <a:p>
                      <a:r>
                        <a:rPr sz="1100" b="1">
                          <a:solidFill>
                            <a:srgbClr val="FFFFFF"/>
                          </a:solidFill>
                          <a:latin typeface="Times New Roman"/>
                        </a:rPr>
                        <a:t>Field (MS200, LD06 layout)</a:t>
                      </a:r>
                    </a:p>
                  </a:txBody>
                  <a:tcPr marL="54864" marR="54864" marT="18288" marB="18288" anchor="ctr">
                    <a:solidFill>
                      <a:srgbClr val="0000CC"/>
                    </a:solidFill>
                  </a:tcPr>
                </a:tc>
              </a:tr>
              <a:tr h="329184">
                <a:tc>
                  <a:txBody>
                    <a:bodyPr wrap="square"/>
                    <a:lstStyle/>
                    <a:p>
                      <a:r>
                        <a:rPr sz="1100" b="0">
                          <a:solidFill>
                            <a:srgbClr val="1A1A1A"/>
                          </a:solidFill>
                          <a:latin typeface="Times New Roman"/>
                        </a:rPr>
                        <a:t>0–1</a:t>
                      </a:r>
                    </a:p>
                  </a:txBody>
                  <a:tcPr marL="54864" marR="54864" marT="18288" marB="18288" anchor="ctr">
                    <a:solidFill>
                      <a:srgbClr val="ECECFA"/>
                    </a:solidFill>
                  </a:tcPr>
                </a:tc>
                <a:tc>
                  <a:txBody>
                    <a:bodyPr wrap="square"/>
                    <a:lstStyle/>
                    <a:p>
                      <a:r>
                        <a:rPr sz="1100" b="0">
                          <a:solidFill>
                            <a:srgbClr val="1A1A1A"/>
                          </a:solidFill>
                          <a:latin typeface="Times New Roman"/>
                        </a:rPr>
                        <a:t>header 0x54 0x2C</a:t>
                      </a:r>
                    </a:p>
                  </a:txBody>
                  <a:tcPr marL="54864" marR="54864" marT="18288" marB="18288" anchor="ctr">
                    <a:solidFill>
                      <a:srgbClr val="ECECFA"/>
                    </a:solidFill>
                  </a:tcPr>
                </a:tc>
              </a:tr>
              <a:tr h="329184">
                <a:tc>
                  <a:txBody>
                    <a:bodyPr wrap="square"/>
                    <a:lstStyle/>
                    <a:p>
                      <a:r>
                        <a:rPr sz="1100" b="0">
                          <a:solidFill>
                            <a:srgbClr val="1A1A1A"/>
                          </a:solidFill>
                          <a:latin typeface="Times New Roman"/>
                        </a:rPr>
                        <a:t>2–3</a:t>
                      </a:r>
                    </a:p>
                  </a:txBody>
                  <a:tcPr marL="54864" marR="54864" marT="18288" marB="18288" anchor="ctr">
                    <a:solidFill>
                      <a:srgbClr val="FFFFFF"/>
                    </a:solidFill>
                  </a:tcPr>
                </a:tc>
                <a:tc>
                  <a:txBody>
                    <a:bodyPr wrap="square"/>
                    <a:lstStyle/>
                    <a:p>
                      <a:r>
                        <a:rPr sz="1100" b="0">
                          <a:solidFill>
                            <a:srgbClr val="1A1A1A"/>
                          </a:solidFill>
                          <a:latin typeface="Times New Roman"/>
                        </a:rPr>
                        <a:t>rotation speed, °/s</a:t>
                      </a:r>
                    </a:p>
                  </a:txBody>
                  <a:tcPr marL="54864" marR="54864" marT="18288" marB="18288" anchor="ctr">
                    <a:solidFill>
                      <a:srgbClr val="FFFFFF"/>
                    </a:solidFill>
                  </a:tcPr>
                </a:tc>
              </a:tr>
              <a:tr h="329184">
                <a:tc>
                  <a:txBody>
                    <a:bodyPr wrap="square"/>
                    <a:lstStyle/>
                    <a:p>
                      <a:r>
                        <a:rPr sz="1100" b="0">
                          <a:solidFill>
                            <a:srgbClr val="1A1A1A"/>
                          </a:solidFill>
                          <a:latin typeface="Times New Roman"/>
                        </a:rPr>
                        <a:t>4–5</a:t>
                      </a:r>
                    </a:p>
                  </a:txBody>
                  <a:tcPr marL="54864" marR="54864" marT="18288" marB="18288" anchor="ctr">
                    <a:solidFill>
                      <a:srgbClr val="ECECFA"/>
                    </a:solidFill>
                  </a:tcPr>
                </a:tc>
                <a:tc>
                  <a:txBody>
                    <a:bodyPr wrap="square"/>
                    <a:lstStyle/>
                    <a:p>
                      <a:r>
                        <a:rPr sz="1100" b="0">
                          <a:solidFill>
                            <a:srgbClr val="1A1A1A"/>
                          </a:solidFill>
                          <a:latin typeface="Times New Roman"/>
                        </a:rPr>
                        <a:t>start angle, 0.01°</a:t>
                      </a:r>
                    </a:p>
                  </a:txBody>
                  <a:tcPr marL="54864" marR="54864" marT="18288" marB="18288" anchor="ctr">
                    <a:solidFill>
                      <a:srgbClr val="ECECFA"/>
                    </a:solidFill>
                  </a:tcPr>
                </a:tc>
              </a:tr>
              <a:tr h="329184">
                <a:tc>
                  <a:txBody>
                    <a:bodyPr wrap="square"/>
                    <a:lstStyle/>
                    <a:p>
                      <a:r>
                        <a:rPr sz="1100" b="0">
                          <a:solidFill>
                            <a:srgbClr val="1A1A1A"/>
                          </a:solidFill>
                          <a:latin typeface="Times New Roman"/>
                        </a:rPr>
                        <a:t>6–41</a:t>
                      </a:r>
                    </a:p>
                  </a:txBody>
                  <a:tcPr marL="54864" marR="54864" marT="18288" marB="18288" anchor="ctr">
                    <a:solidFill>
                      <a:srgbClr val="FFFFFF"/>
                    </a:solidFill>
                  </a:tcPr>
                </a:tc>
                <a:tc>
                  <a:txBody>
                    <a:bodyPr wrap="square"/>
                    <a:lstStyle/>
                    <a:p>
                      <a:r>
                        <a:rPr sz="1100" b="0">
                          <a:solidFill>
                            <a:srgbClr val="1A1A1A"/>
                          </a:solidFill>
                          <a:latin typeface="Times New Roman"/>
                        </a:rPr>
                        <a:t>12 × (range mm u16, intensity u8)</a:t>
                      </a:r>
                    </a:p>
                  </a:txBody>
                  <a:tcPr marL="54864" marR="54864" marT="18288" marB="18288" anchor="ctr">
                    <a:solidFill>
                      <a:srgbClr val="FFFFFF"/>
                    </a:solidFill>
                  </a:tcPr>
                </a:tc>
              </a:tr>
              <a:tr h="329184">
                <a:tc>
                  <a:txBody>
                    <a:bodyPr wrap="square"/>
                    <a:lstStyle/>
                    <a:p>
                      <a:r>
                        <a:rPr sz="1100" b="0">
                          <a:solidFill>
                            <a:srgbClr val="1A1A1A"/>
                          </a:solidFill>
                          <a:latin typeface="Times New Roman"/>
                        </a:rPr>
                        <a:t>42–43</a:t>
                      </a:r>
                    </a:p>
                  </a:txBody>
                  <a:tcPr marL="54864" marR="54864" marT="18288" marB="18288" anchor="ctr">
                    <a:solidFill>
                      <a:srgbClr val="ECECFA"/>
                    </a:solidFill>
                  </a:tcPr>
                </a:tc>
                <a:tc>
                  <a:txBody>
                    <a:bodyPr wrap="square"/>
                    <a:lstStyle/>
                    <a:p>
                      <a:r>
                        <a:rPr sz="1100" b="0">
                          <a:solidFill>
                            <a:srgbClr val="1A1A1A"/>
                          </a:solidFill>
                          <a:latin typeface="Times New Roman"/>
                        </a:rPr>
                        <a:t>end angle, 0.01°</a:t>
                      </a:r>
                    </a:p>
                  </a:txBody>
                  <a:tcPr marL="54864" marR="54864" marT="18288" marB="18288" anchor="ctr">
                    <a:solidFill>
                      <a:srgbClr val="ECECFA"/>
                    </a:solidFill>
                  </a:tcPr>
                </a:tc>
              </a:tr>
              <a:tr h="329184">
                <a:tc>
                  <a:txBody>
                    <a:bodyPr wrap="square"/>
                    <a:lstStyle/>
                    <a:p>
                      <a:r>
                        <a:rPr sz="1100" b="0">
                          <a:solidFill>
                            <a:srgbClr val="1A1A1A"/>
                          </a:solidFill>
                          <a:latin typeface="Times New Roman"/>
                        </a:rPr>
                        <a:t>44–45</a:t>
                      </a:r>
                    </a:p>
                  </a:txBody>
                  <a:tcPr marL="54864" marR="54864" marT="18288" marB="18288" anchor="ctr">
                    <a:solidFill>
                      <a:srgbClr val="FFFFFF"/>
                    </a:solidFill>
                  </a:tcPr>
                </a:tc>
                <a:tc>
                  <a:txBody>
                    <a:bodyPr wrap="square"/>
                    <a:lstStyle/>
                    <a:p>
                      <a:r>
                        <a:rPr sz="1100" b="0">
                          <a:solidFill>
                            <a:srgbClr val="1A1A1A"/>
                          </a:solidFill>
                          <a:latin typeface="Times New Roman"/>
                        </a:rPr>
                        <a:t>time stamp, ms</a:t>
                      </a:r>
                    </a:p>
                  </a:txBody>
                  <a:tcPr marL="54864" marR="54864" marT="18288" marB="18288" anchor="ctr">
                    <a:solidFill>
                      <a:srgbClr val="FFFFFF"/>
                    </a:solidFill>
                  </a:tcPr>
                </a:tc>
              </a:tr>
              <a:tr h="329184">
                <a:tc>
                  <a:txBody>
                    <a:bodyPr wrap="square"/>
                    <a:lstStyle/>
                    <a:p>
                      <a:r>
                        <a:rPr sz="1100" b="0">
                          <a:solidFill>
                            <a:srgbClr val="1A1A1A"/>
                          </a:solidFill>
                          <a:latin typeface="Times New Roman"/>
                        </a:rPr>
                        <a:t>46</a:t>
                      </a:r>
                    </a:p>
                  </a:txBody>
                  <a:tcPr marL="54864" marR="54864" marT="18288" marB="18288" anchor="ctr">
                    <a:solidFill>
                      <a:srgbClr val="ECECFA"/>
                    </a:solidFill>
                  </a:tcPr>
                </a:tc>
                <a:tc>
                  <a:txBody>
                    <a:bodyPr wrap="square"/>
                    <a:lstStyle/>
                    <a:p>
                      <a:r>
                        <a:rPr sz="1100" b="0">
                          <a:solidFill>
                            <a:srgbClr val="1A1A1A"/>
                          </a:solidFill>
                          <a:latin typeface="Times New Roman"/>
                        </a:rPr>
                        <a:t>CRC-8, polynomial 0x4D</a:t>
                      </a:r>
                    </a:p>
                  </a:txBody>
                  <a:tcPr marL="54864" marR="54864" marT="18288" marB="18288" anchor="ctr">
                    <a:solidFill>
                      <a:srgbClr val="ECECFA"/>
                    </a:solidFill>
                  </a:tcPr>
                </a:tc>
              </a:tr>
            </a:tbl>
          </a:graphicData>
        </a:graphic>
      </p:graphicFrame>
      <p:sp>
        <p:nvSpPr>
          <p:cNvPr id="17" name="TextBox 16"/>
          <p:cNvSpPr txBox="1"/>
          <p:nvPr/>
        </p:nvSpPr>
        <p:spPr>
          <a:xfrm>
            <a:off x="502920" y="3977639"/>
            <a:ext cx="4114800" cy="1280160"/>
          </a:xfrm>
          <a:prstGeom prst="rect">
            <a:avLst/>
          </a:prstGeom>
          <a:noFill/>
        </p:spPr>
        <p:txBody>
          <a:bodyPr wrap="square" anchor="t" lIns="45720" rIns="45720">
            <a:spAutoFit/>
          </a:bodyPr>
          <a:lstStyle/>
          <a:p>
            <a:pPr algn="l">
              <a:spcAft>
                <a:spcPts val="300"/>
              </a:spcAft>
            </a:pPr>
            <a:r>
              <a:rPr sz="1100" b="0" i="0">
                <a:solidFill>
                  <a:srgbClr val="55555F"/>
                </a:solidFill>
                <a:latin typeface="Times New Roman"/>
              </a:rPr>
              <a:t>230 400 baud · angle of point k interpolated start → end</a:t>
            </a:r>
          </a:p>
          <a:p>
            <a:pPr algn="l">
              <a:spcAft>
                <a:spcPts val="300"/>
              </a:spcAft>
            </a:pPr>
            <a:r>
              <a:rPr sz="1100" b="0" i="0">
                <a:solidFill>
                  <a:srgbClr val="55555F"/>
                </a:solidFill>
                <a:latin typeface="Times New Roman"/>
              </a:rPr>
              <a:t>revolution ends when the angle wraps → 450 rays (0.8°), nearest return per ray, invalid = inf</a:t>
            </a:r>
          </a:p>
          <a:p>
            <a:pPr algn="l">
              <a:spcAft>
                <a:spcPts val="300"/>
              </a:spcAft>
            </a:pPr>
            <a:r>
              <a:rPr sz="1100" b="0" i="0">
                <a:solidFill>
                  <a:srgbClr val="55555F"/>
                </a:solidFill>
                <a:latin typeface="Times New Roman"/>
              </a:rPr>
              <a:t>device angles clockwise → negated (ROS: counter-clockwise) · drop &lt; 0.10 m (own frame)</a:t>
            </a:r>
          </a:p>
        </p:txBody>
      </p:sp>
      <p:sp>
        <p:nvSpPr>
          <p:cNvPr id="18" name="TextBox 17"/>
          <p:cNvSpPr txBox="1"/>
          <p:nvPr/>
        </p:nvSpPr>
        <p:spPr>
          <a:xfrm>
            <a:off x="4892040" y="1234440"/>
            <a:ext cx="3749039"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TF tree</a:t>
            </a:r>
          </a:p>
        </p:txBody>
      </p:sp>
      <p:sp>
        <p:nvSpPr>
          <p:cNvPr id="19" name="Rounded Rectangle 18"/>
          <p:cNvSpPr/>
          <p:nvPr/>
        </p:nvSpPr>
        <p:spPr>
          <a:xfrm>
            <a:off x="4892040" y="1645920"/>
            <a:ext cx="2103120" cy="45720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892040" y="1645920"/>
            <a:ext cx="2103120" cy="457200"/>
          </a:xfrm>
          <a:prstGeom prst="rect">
            <a:avLst/>
          </a:prstGeom>
          <a:noFill/>
        </p:spPr>
        <p:txBody>
          <a:bodyPr wrap="square" anchor="ctr" lIns="45720" rIns="45720">
            <a:spAutoFit/>
          </a:bodyPr>
          <a:lstStyle/>
          <a:p>
            <a:pPr algn="ctr">
              <a:spcAft>
                <a:spcPts val="0"/>
              </a:spcAft>
            </a:pPr>
            <a:r>
              <a:rPr sz="1200" b="1" i="0">
                <a:solidFill>
                  <a:srgbClr val="FFFFFF"/>
                </a:solidFill>
                <a:latin typeface="Times New Roman"/>
              </a:rPr>
              <a:t>map</a:t>
            </a:r>
          </a:p>
        </p:txBody>
      </p:sp>
      <p:cxnSp>
        <p:nvCxnSpPr>
          <p:cNvPr id="21" name="Connector 20"/>
          <p:cNvCxnSpPr/>
          <p:nvPr/>
        </p:nvCxnSpPr>
        <p:spPr>
          <a:xfrm>
            <a:off x="5943600" y="2103120"/>
            <a:ext cx="0" cy="41148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80760" y="2121408"/>
            <a:ext cx="2560320" cy="365760"/>
          </a:xfrm>
          <a:prstGeom prst="rect">
            <a:avLst/>
          </a:prstGeom>
          <a:noFill/>
        </p:spPr>
        <p:txBody>
          <a:bodyPr wrap="square" anchor="t" lIns="45720" rIns="45720">
            <a:spAutoFit/>
          </a:bodyPr>
          <a:lstStyle/>
          <a:p>
            <a:pPr algn="l">
              <a:spcAft>
                <a:spcPts val="0"/>
              </a:spcAft>
            </a:pPr>
            <a:r>
              <a:rPr sz="1000" b="0" i="1">
                <a:solidFill>
                  <a:srgbClr val="55555F"/>
                </a:solidFill>
                <a:latin typeface="Times New Roman"/>
              </a:rPr>
              <a:t>hector_mapping, at scan time</a:t>
            </a:r>
          </a:p>
        </p:txBody>
      </p:sp>
      <p:sp>
        <p:nvSpPr>
          <p:cNvPr id="23" name="Rounded Rectangle 22"/>
          <p:cNvSpPr/>
          <p:nvPr/>
        </p:nvSpPr>
        <p:spPr>
          <a:xfrm>
            <a:off x="4892040" y="2514600"/>
            <a:ext cx="2103120" cy="45720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892040" y="2514600"/>
            <a:ext cx="2103120" cy="457200"/>
          </a:xfrm>
          <a:prstGeom prst="rect">
            <a:avLst/>
          </a:prstGeom>
          <a:noFill/>
        </p:spPr>
        <p:txBody>
          <a:bodyPr wrap="square" anchor="ctr" lIns="45720" rIns="45720">
            <a:spAutoFit/>
          </a:bodyPr>
          <a:lstStyle/>
          <a:p>
            <a:pPr algn="ctr">
              <a:spcAft>
                <a:spcPts val="0"/>
              </a:spcAft>
            </a:pPr>
            <a:r>
              <a:rPr sz="1200" b="1" i="0">
                <a:solidFill>
                  <a:srgbClr val="FFFFFF"/>
                </a:solidFill>
                <a:latin typeface="Times New Roman"/>
              </a:rPr>
              <a:t>robot04/odom</a:t>
            </a:r>
          </a:p>
        </p:txBody>
      </p:sp>
      <p:cxnSp>
        <p:nvCxnSpPr>
          <p:cNvPr id="25" name="Connector 24"/>
          <p:cNvCxnSpPr/>
          <p:nvPr/>
        </p:nvCxnSpPr>
        <p:spPr>
          <a:xfrm>
            <a:off x="5943600" y="2971800"/>
            <a:ext cx="0" cy="41148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80760" y="2990088"/>
            <a:ext cx="2560320" cy="365760"/>
          </a:xfrm>
          <a:prstGeom prst="rect">
            <a:avLst/>
          </a:prstGeom>
          <a:noFill/>
        </p:spPr>
        <p:txBody>
          <a:bodyPr wrap="square" anchor="t" lIns="45720" rIns="45720">
            <a:spAutoFit/>
          </a:bodyPr>
          <a:lstStyle/>
          <a:p>
            <a:pPr algn="l">
              <a:spcAft>
                <a:spcPts val="0"/>
              </a:spcAft>
            </a:pPr>
            <a:r>
              <a:rPr sz="1000" b="0" i="1">
                <a:solidFill>
                  <a:srgbClr val="55555F"/>
                </a:solidFill>
                <a:latin typeface="Times New Roman"/>
              </a:rPr>
              <a:t>robot_node, encoders, 20 Hz</a:t>
            </a:r>
          </a:p>
        </p:txBody>
      </p:sp>
      <p:sp>
        <p:nvSpPr>
          <p:cNvPr id="27" name="Rounded Rectangle 26"/>
          <p:cNvSpPr/>
          <p:nvPr/>
        </p:nvSpPr>
        <p:spPr>
          <a:xfrm>
            <a:off x="4892040" y="3383280"/>
            <a:ext cx="2103120" cy="45720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892040" y="3383280"/>
            <a:ext cx="2103120" cy="457200"/>
          </a:xfrm>
          <a:prstGeom prst="rect">
            <a:avLst/>
          </a:prstGeom>
          <a:noFill/>
        </p:spPr>
        <p:txBody>
          <a:bodyPr wrap="square" anchor="ctr" lIns="45720" rIns="45720">
            <a:spAutoFit/>
          </a:bodyPr>
          <a:lstStyle/>
          <a:p>
            <a:pPr algn="ctr">
              <a:spcAft>
                <a:spcPts val="0"/>
              </a:spcAft>
            </a:pPr>
            <a:r>
              <a:rPr sz="1200" b="1" i="0">
                <a:solidFill>
                  <a:srgbClr val="FFFFFF"/>
                </a:solidFill>
                <a:latin typeface="Times New Roman"/>
              </a:rPr>
              <a:t>robot04/base_footprint</a:t>
            </a:r>
          </a:p>
        </p:txBody>
      </p:sp>
      <p:cxnSp>
        <p:nvCxnSpPr>
          <p:cNvPr id="29" name="Connector 28"/>
          <p:cNvCxnSpPr/>
          <p:nvPr/>
        </p:nvCxnSpPr>
        <p:spPr>
          <a:xfrm>
            <a:off x="5943600" y="3840480"/>
            <a:ext cx="0" cy="41148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080760" y="3858768"/>
            <a:ext cx="2560320" cy="365760"/>
          </a:xfrm>
          <a:prstGeom prst="rect">
            <a:avLst/>
          </a:prstGeom>
          <a:noFill/>
        </p:spPr>
        <p:txBody>
          <a:bodyPr wrap="square" anchor="t" lIns="45720" rIns="45720">
            <a:spAutoFit/>
          </a:bodyPr>
          <a:lstStyle/>
          <a:p>
            <a:pPr algn="l">
              <a:spcAft>
                <a:spcPts val="0"/>
              </a:spcAft>
            </a:pPr>
            <a:r>
              <a:rPr sz="1000" b="0" i="1">
                <a:solidFill>
                  <a:srgbClr val="55555F"/>
                </a:solidFill>
                <a:latin typeface="Times New Roman"/>
              </a:rPr>
              <a:t>static: z = 0.12 m</a:t>
            </a:r>
          </a:p>
        </p:txBody>
      </p:sp>
      <p:sp>
        <p:nvSpPr>
          <p:cNvPr id="31" name="Rounded Rectangle 30"/>
          <p:cNvSpPr/>
          <p:nvPr/>
        </p:nvSpPr>
        <p:spPr>
          <a:xfrm>
            <a:off x="4892040" y="4251959"/>
            <a:ext cx="2103120" cy="45720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892040" y="4251959"/>
            <a:ext cx="2103120" cy="457200"/>
          </a:xfrm>
          <a:prstGeom prst="rect">
            <a:avLst/>
          </a:prstGeom>
          <a:noFill/>
        </p:spPr>
        <p:txBody>
          <a:bodyPr wrap="square" anchor="ctr" lIns="45720" rIns="45720">
            <a:spAutoFit/>
          </a:bodyPr>
          <a:lstStyle/>
          <a:p>
            <a:pPr algn="ctr">
              <a:spcAft>
                <a:spcPts val="0"/>
              </a:spcAft>
            </a:pPr>
            <a:r>
              <a:rPr sz="1200" b="1" i="0">
                <a:solidFill>
                  <a:srgbClr val="FFFFFF"/>
                </a:solidFill>
                <a:latin typeface="Times New Roman"/>
              </a:rPr>
              <a:t>robot04/laser</a:t>
            </a:r>
          </a:p>
        </p:txBody>
      </p:sp>
      <p:sp>
        <p:nvSpPr>
          <p:cNvPr id="33" name="TextBox 32"/>
          <p:cNvSpPr txBox="1"/>
          <p:nvPr/>
        </p:nvSpPr>
        <p:spPr>
          <a:xfrm>
            <a:off x="4892040" y="4983479"/>
            <a:ext cx="3749039" cy="274320"/>
          </a:xfrm>
          <a:prstGeom prst="rect">
            <a:avLst/>
          </a:prstGeom>
          <a:noFill/>
        </p:spPr>
        <p:txBody>
          <a:bodyPr wrap="square" anchor="t" lIns="45720" rIns="45720">
            <a:spAutoFit/>
          </a:bodyPr>
          <a:lstStyle/>
          <a:p>
            <a:pPr algn="l">
              <a:spcAft>
                <a:spcPts val="600"/>
              </a:spcAft>
            </a:pPr>
            <a:r>
              <a:rPr sz="950" b="0" i="0">
                <a:solidFill>
                  <a:srgbClr val="55555F"/>
                </a:solidFill>
                <a:latin typeface="Times New Roman"/>
              </a:rPr>
              <a:t>udev: /dev/lidar matched by USB ID and port (voice module is a CH340 too)</a:t>
            </a:r>
          </a:p>
        </p:txBody>
      </p:sp>
      <p:sp>
        <p:nvSpPr>
          <p:cNvPr id="34" name="Rounded Rectangle 33"/>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Lidar yaw checked against the camera: 0° is the front, angles counter-clockwise.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Hector SLAM: Scan Matching Without Odometry</a:t>
            </a:r>
          </a:p>
          <a:p>
            <a:pPr algn="just"/>
            <a:r>
              <a:rPr lang="en-US" sz="2500" dirty="0">
                <a:solidFill>
                  <a:srgbClr val="FFFFFF"/>
                </a:solidFill>
                <a:latin typeface="Times" panose="02020603050405020304" pitchFamily="18" charset="0"/>
                <a:cs typeface="Times" panose="02020603050405020304" pitchFamily="18" charset="0"/>
              </a:rPr>
              <a:t>Kohlbrecher et al. 2011, ROS 2 port, running on the Pi</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7</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8138160" cy="1143000"/>
          </a:xfrm>
          <a:prstGeom prst="roundRect">
            <a:avLst>
              <a:gd name="adj" fmla="val 8000"/>
            </a:avLst>
          </a:prstGeom>
          <a:solidFill>
            <a:srgbClr val="FFFFFF"/>
          </a:solidFill>
          <a:ln w="19050">
            <a:solidFill>
              <a:srgbClr val="0000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1280160"/>
            <a:ext cx="7955280" cy="1051560"/>
          </a:xfrm>
          <a:prstGeom prst="rect">
            <a:avLst/>
          </a:prstGeom>
          <a:noFill/>
        </p:spPr>
        <p:txBody>
          <a:bodyPr wrap="square" anchor="ctr" lIns="45720" rIns="45720">
            <a:spAutoFit/>
          </a:bodyPr>
          <a:lstStyle/>
          <a:p>
            <a:pPr algn="ctr">
              <a:spcAft>
                <a:spcPts val="400"/>
              </a:spcAft>
            </a:pPr>
            <a:r>
              <a:rPr sz="1900" b="0" i="0">
                <a:solidFill>
                  <a:srgbClr val="1A1A1A"/>
                </a:solidFill>
                <a:latin typeface="Times New Roman"/>
              </a:rPr>
              <a:t>ξ* = argmin_ξ  Σᵢ [ 1 − M( Sᵢ(ξ) ) ]²</a:t>
            </a:r>
          </a:p>
          <a:p>
            <a:pPr algn="ctr">
              <a:spcAft>
                <a:spcPts val="400"/>
              </a:spcAft>
            </a:pPr>
            <a:r>
              <a:rPr sz="1100" b="0" i="0">
                <a:solidFill>
                  <a:srgbClr val="55555F"/>
                </a:solidFill>
                <a:latin typeface="Times New Roman"/>
              </a:rPr>
              <a:t>ξ = (x, y, ψ) robot pose · Sᵢ(ξ) = scan end point i in the map · M = occupancy, bilinearly interpolated</a:t>
            </a:r>
          </a:p>
        </p:txBody>
      </p:sp>
      <p:sp>
        <p:nvSpPr>
          <p:cNvPr id="18" name="Rounded Rectangle 17"/>
          <p:cNvSpPr/>
          <p:nvPr/>
        </p:nvSpPr>
        <p:spPr>
          <a:xfrm>
            <a:off x="502920" y="2514600"/>
            <a:ext cx="8138160" cy="960120"/>
          </a:xfrm>
          <a:prstGeom prst="roundRect">
            <a:avLst>
              <a:gd name="adj" fmla="val 8000"/>
            </a:avLst>
          </a:prstGeom>
          <a:solidFill>
            <a:srgbClr val="FFFFFF"/>
          </a:solidFill>
          <a:ln w="19050">
            <a:solidFill>
              <a:srgbClr val="0000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94360" y="2560320"/>
            <a:ext cx="7955280" cy="868680"/>
          </a:xfrm>
          <a:prstGeom prst="rect">
            <a:avLst/>
          </a:prstGeom>
          <a:noFill/>
        </p:spPr>
        <p:txBody>
          <a:bodyPr wrap="square" anchor="ctr" lIns="45720" rIns="45720">
            <a:spAutoFit/>
          </a:bodyPr>
          <a:lstStyle/>
          <a:p>
            <a:pPr algn="ctr">
              <a:spcAft>
                <a:spcPts val="400"/>
              </a:spcAft>
            </a:pPr>
            <a:r>
              <a:rPr sz="1400" b="0" i="0">
                <a:solidFill>
                  <a:srgbClr val="1A1A1A"/>
                </a:solidFill>
                <a:latin typeface="Times New Roman"/>
              </a:rPr>
              <a:t>Δξ = H⁻¹ Σᵢ [ ∇M(Sᵢ(ξ)) ∂Sᵢ/∂ξ ]ᵀ [ 1 − M(Sᵢ(ξ)) ],   H = Σᵢ [∇M ∂Sᵢ/∂ξ]ᵀ[∇M ∂Sᵢ/∂ξ]</a:t>
            </a:r>
          </a:p>
          <a:p>
            <a:pPr algn="ctr">
              <a:spcAft>
                <a:spcPts val="400"/>
              </a:spcAft>
            </a:pPr>
            <a:r>
              <a:rPr sz="1100" b="0" i="0">
                <a:solidFill>
                  <a:srgbClr val="55555F"/>
                </a:solidFill>
                <a:latin typeface="Times New Roman"/>
              </a:rPr>
              <a:t>Gauss–Newton step; coarse map level first, then fine (2 levels) to avoid local minima</a:t>
            </a:r>
          </a:p>
        </p:txBody>
      </p:sp>
      <p:graphicFrame>
        <p:nvGraphicFramePr>
          <p:cNvPr id="20" name="Table 19"/>
          <p:cNvGraphicFramePr>
            <a:graphicFrameLocks noGrp="1"/>
          </p:cNvGraphicFramePr>
          <p:nvPr/>
        </p:nvGraphicFramePr>
        <p:xfrm>
          <a:off x="502920" y="3611880"/>
          <a:ext cx="8138160" cy="1005840"/>
        </p:xfrm>
        <a:graphic>
          <a:graphicData uri="http://schemas.openxmlformats.org/drawingml/2006/table">
            <a:tbl>
              <a:tblPr firstRow="0" bandRow="0"/>
              <a:tblGrid>
                <a:gridCol w="1645920"/>
                <a:gridCol w="1325880"/>
                <a:gridCol w="960120"/>
                <a:gridCol w="1463040"/>
                <a:gridCol w="1463040"/>
                <a:gridCol w="1280160"/>
              </a:tblGrid>
              <a:tr h="502920">
                <a:tc>
                  <a:txBody>
                    <a:bodyPr wrap="square"/>
                    <a:lstStyle/>
                    <a:p>
                      <a:r>
                        <a:rPr sz="1050" b="1">
                          <a:solidFill>
                            <a:srgbClr val="FFFFFF"/>
                          </a:solidFill>
                          <a:latin typeface="Times New Roman"/>
                        </a:rPr>
                        <a:t>Map</a:t>
                      </a:r>
                    </a:p>
                  </a:txBody>
                  <a:tcPr marL="54864" marR="54864" marT="18288" marB="18288" anchor="ctr">
                    <a:solidFill>
                      <a:srgbClr val="0000CC"/>
                    </a:solidFill>
                  </a:tcPr>
                </a:tc>
                <a:tc>
                  <a:txBody>
                    <a:bodyPr wrap="square"/>
                    <a:lstStyle/>
                    <a:p>
                      <a:r>
                        <a:rPr sz="1050" b="1">
                          <a:solidFill>
                            <a:srgbClr val="FFFFFF"/>
                          </a:solidFill>
                          <a:latin typeface="Times New Roman"/>
                        </a:rPr>
                        <a:t>Updates</a:t>
                      </a:r>
                    </a:p>
                  </a:txBody>
                  <a:tcPr marL="54864" marR="54864" marT="18288" marB="18288" anchor="ctr">
                    <a:solidFill>
                      <a:srgbClr val="0000CC"/>
                    </a:solidFill>
                  </a:tcPr>
                </a:tc>
                <a:tc>
                  <a:txBody>
                    <a:bodyPr wrap="square"/>
                    <a:lstStyle/>
                    <a:p>
                      <a:r>
                        <a:rPr sz="1050" b="1">
                          <a:solidFill>
                            <a:srgbClr val="FFFFFF"/>
                          </a:solidFill>
                          <a:latin typeface="Times New Roman"/>
                        </a:rPr>
                        <a:t>Scan window</a:t>
                      </a:r>
                    </a:p>
                  </a:txBody>
                  <a:tcPr marL="54864" marR="54864" marT="18288" marB="18288" anchor="ctr">
                    <a:solidFill>
                      <a:srgbClr val="0000CC"/>
                    </a:solidFill>
                  </a:tcPr>
                </a:tc>
                <a:tc>
                  <a:txBody>
                    <a:bodyPr wrap="square"/>
                    <a:lstStyle/>
                    <a:p>
                      <a:r>
                        <a:rPr sz="1050" b="1">
                          <a:solidFill>
                            <a:srgbClr val="FFFFFF"/>
                          </a:solidFill>
                          <a:latin typeface="Times New Roman"/>
                        </a:rPr>
                        <a:t>Occupancy update</a:t>
                      </a:r>
                    </a:p>
                  </a:txBody>
                  <a:tcPr marL="54864" marR="54864" marT="18288" marB="18288" anchor="ctr">
                    <a:solidFill>
                      <a:srgbClr val="0000CC"/>
                    </a:solidFill>
                  </a:tcPr>
                </a:tc>
                <a:tc>
                  <a:txBody>
                    <a:bodyPr wrap="square"/>
                    <a:lstStyle/>
                    <a:p>
                      <a:r>
                        <a:rPr sz="1050" b="1">
                          <a:solidFill>
                            <a:srgbClr val="FFFFFF"/>
                          </a:solidFill>
                          <a:latin typeface="Times New Roman"/>
                        </a:rPr>
                        <a:t>Frames</a:t>
                      </a:r>
                    </a:p>
                  </a:txBody>
                  <a:tcPr marL="54864" marR="54864" marT="18288" marB="18288" anchor="ctr">
                    <a:solidFill>
                      <a:srgbClr val="0000CC"/>
                    </a:solidFill>
                  </a:tcPr>
                </a:tc>
                <a:tc>
                  <a:txBody>
                    <a:bodyPr wrap="square"/>
                    <a:lstStyle/>
                    <a:p>
                      <a:r>
                        <a:rPr sz="1050" b="1">
                          <a:solidFill>
                            <a:srgbClr val="FFFFFF"/>
                          </a:solidFill>
                          <a:latin typeface="Times New Roman"/>
                        </a:rPr>
                        <a:t>Cost on the Pi</a:t>
                      </a:r>
                    </a:p>
                  </a:txBody>
                  <a:tcPr marL="54864" marR="54864" marT="18288" marB="18288" anchor="ctr">
                    <a:solidFill>
                      <a:srgbClr val="0000CC"/>
                    </a:solidFill>
                  </a:tcPr>
                </a:tc>
              </a:tr>
              <a:tr h="502920">
                <a:tc>
                  <a:txBody>
                    <a:bodyPr wrap="square"/>
                    <a:lstStyle/>
                    <a:p>
                      <a:r>
                        <a:rPr sz="1050" b="0">
                          <a:solidFill>
                            <a:srgbClr val="1A1A1A"/>
                          </a:solidFill>
                          <a:latin typeface="Times New Roman"/>
                        </a:rPr>
                        <a:t>5 cm, 1024² (51 m), 2 levels</a:t>
                      </a:r>
                    </a:p>
                  </a:txBody>
                  <a:tcPr marL="54864" marR="54864" marT="18288" marB="18288" anchor="ctr">
                    <a:solidFill>
                      <a:srgbClr val="ECECFA"/>
                    </a:solidFill>
                  </a:tcPr>
                </a:tc>
                <a:tc>
                  <a:txBody>
                    <a:bodyPr wrap="square"/>
                    <a:lstStyle/>
                    <a:p>
                      <a:r>
                        <a:rPr sz="1050" b="0">
                          <a:solidFill>
                            <a:srgbClr val="1A1A1A"/>
                          </a:solidFill>
                          <a:latin typeface="Times New Roman"/>
                        </a:rPr>
                        <a:t>every 0.2 m / 0.06 rad</a:t>
                      </a:r>
                    </a:p>
                  </a:txBody>
                  <a:tcPr marL="54864" marR="54864" marT="18288" marB="18288" anchor="ctr">
                    <a:solidFill>
                      <a:srgbClr val="ECECFA"/>
                    </a:solidFill>
                  </a:tcPr>
                </a:tc>
                <a:tc>
                  <a:txBody>
                    <a:bodyPr wrap="square"/>
                    <a:lstStyle/>
                    <a:p>
                      <a:r>
                        <a:rPr sz="1050" b="0">
                          <a:solidFill>
                            <a:srgbClr val="1A1A1A"/>
                          </a:solidFill>
                          <a:latin typeface="Times New Roman"/>
                        </a:rPr>
                        <a:t>0.12–8 m</a:t>
                      </a:r>
                    </a:p>
                  </a:txBody>
                  <a:tcPr marL="54864" marR="54864" marT="18288" marB="18288" anchor="ctr">
                    <a:solidFill>
                      <a:srgbClr val="ECECFA"/>
                    </a:solidFill>
                  </a:tcPr>
                </a:tc>
                <a:tc>
                  <a:txBody>
                    <a:bodyPr wrap="square"/>
                    <a:lstStyle/>
                    <a:p>
                      <a:r>
                        <a:rPr sz="1050" b="0">
                          <a:solidFill>
                            <a:srgbClr val="1A1A1A"/>
                          </a:solidFill>
                          <a:latin typeface="Times New Roman"/>
                        </a:rPr>
                        <a:t>free 0.4 · occupied 0.9</a:t>
                      </a:r>
                    </a:p>
                  </a:txBody>
                  <a:tcPr marL="54864" marR="54864" marT="18288" marB="18288" anchor="ctr">
                    <a:solidFill>
                      <a:srgbClr val="ECECFA"/>
                    </a:solidFill>
                  </a:tcPr>
                </a:tc>
                <a:tc>
                  <a:txBody>
                    <a:bodyPr wrap="square"/>
                    <a:lstStyle/>
                    <a:p>
                      <a:r>
                        <a:rPr sz="1050" b="0">
                          <a:solidFill>
                            <a:srgbClr val="1A1A1A"/>
                          </a:solidFill>
                          <a:latin typeface="Times New Roman"/>
                        </a:rPr>
                        <a:t>map → robot04/odom</a:t>
                      </a:r>
                    </a:p>
                  </a:txBody>
                  <a:tcPr marL="54864" marR="54864" marT="18288" marB="18288" anchor="ctr">
                    <a:solidFill>
                      <a:srgbClr val="ECECFA"/>
                    </a:solidFill>
                  </a:tcPr>
                </a:tc>
                <a:tc>
                  <a:txBody>
                    <a:bodyPr wrap="square"/>
                    <a:lstStyle/>
                    <a:p>
                      <a:r>
                        <a:rPr sz="1050" b="0">
                          <a:solidFill>
                            <a:srgbClr val="1A1A1A"/>
                          </a:solidFill>
                          <a:latin typeface="Times New Roman"/>
                        </a:rPr>
                        <a:t>≈ 3 % of a core</a:t>
                      </a:r>
                    </a:p>
                  </a:txBody>
                  <a:tcPr marL="54864" marR="54864" marT="18288" marB="18288" anchor="ctr">
                    <a:solidFill>
                      <a:srgbClr val="ECECFA"/>
                    </a:solidFill>
                  </a:tcPr>
                </a:tc>
              </a:tr>
            </a:tbl>
          </a:graphicData>
        </a:graphic>
      </p:graphicFrame>
      <p:sp>
        <p:nvSpPr>
          <p:cNvPr id="21" name="Rounded Rectangle 20"/>
          <p:cNvSpPr/>
          <p:nvPr/>
        </p:nvSpPr>
        <p:spPr>
          <a:xfrm>
            <a:off x="502920" y="4663440"/>
            <a:ext cx="8138160" cy="566928"/>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4663440"/>
            <a:ext cx="7863840" cy="566928"/>
          </a:xfrm>
          <a:prstGeom prst="rect">
            <a:avLst/>
          </a:prstGeom>
          <a:noFill/>
        </p:spPr>
        <p:txBody>
          <a:bodyPr wrap="square" anchor="ctr" lIns="45720" rIns="45720">
            <a:spAutoFit/>
          </a:bodyPr>
          <a:lstStyle/>
          <a:p>
            <a:pPr algn="l">
              <a:spcAft>
                <a:spcPts val="0"/>
              </a:spcAft>
            </a:pPr>
            <a:r>
              <a:rPr sz="1200" b="0" i="0">
                <a:solidFill>
                  <a:srgbClr val="CC0633"/>
                </a:solidFill>
                <a:latin typeface="Times New Roman"/>
              </a:rPr>
              <a:t>No loop closure: Hector's map is only as good as each match. It holds at ≤ 0.6 rad/s turning; it fails if the robot's motion is not what the controller believes (slide 15).</a:t>
            </a:r>
          </a:p>
        </p:txBody>
      </p:sp>
      <p:sp>
        <p:nvSpPr>
          <p:cNvPr id="23" name="Rounded Rectangle 22"/>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Odometry-free SLAM suits tracks: the map is the only reference the pose needs.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Nav2 on a Raspberry Pi: The Configuration</a:t>
            </a:r>
          </a:p>
          <a:p>
            <a:pPr algn="just"/>
            <a:r>
              <a:rPr lang="en-US" sz="2500" dirty="0">
                <a:solidFill>
                  <a:srgbClr val="FFFFFF"/>
                </a:solidFill>
                <a:latin typeface="Times" panose="02020603050405020304" pitchFamily="18" charset="0"/>
                <a:cs typeface="Times" panose="02020603050405020304" pitchFamily="18" charset="0"/>
              </a:rPr>
              <a:t>config/nav2.yaml (servers started directly, no bringup)</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8</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graphicFrame>
        <p:nvGraphicFramePr>
          <p:cNvPr id="16" name="Table 15"/>
          <p:cNvGraphicFramePr>
            <a:graphicFrameLocks noGrp="1"/>
          </p:cNvGraphicFramePr>
          <p:nvPr/>
        </p:nvGraphicFramePr>
        <p:xfrm>
          <a:off x="502920" y="1234440"/>
          <a:ext cx="4846320" cy="3657600"/>
        </p:xfrm>
        <a:graphic>
          <a:graphicData uri="http://schemas.openxmlformats.org/drawingml/2006/table">
            <a:tbl>
              <a:tblPr firstRow="0" bandRow="0"/>
              <a:tblGrid>
                <a:gridCol w="1463040"/>
                <a:gridCol w="3383280"/>
              </a:tblGrid>
              <a:tr h="365760">
                <a:tc>
                  <a:txBody>
                    <a:bodyPr wrap="square"/>
                    <a:lstStyle/>
                    <a:p>
                      <a:r>
                        <a:rPr sz="1000" b="1">
                          <a:solidFill>
                            <a:srgbClr val="FFFFFF"/>
                          </a:solidFill>
                          <a:latin typeface="Times New Roman"/>
                        </a:rPr>
                        <a:t>Server</a:t>
                      </a:r>
                    </a:p>
                  </a:txBody>
                  <a:tcPr marL="54864" marR="54864" marT="18288" marB="18288" anchor="ctr">
                    <a:solidFill>
                      <a:srgbClr val="0000CC"/>
                    </a:solidFill>
                  </a:tcPr>
                </a:tc>
                <a:tc>
                  <a:txBody>
                    <a:bodyPr wrap="square"/>
                    <a:lstStyle/>
                    <a:p>
                      <a:r>
                        <a:rPr sz="1000" b="1">
                          <a:solidFill>
                            <a:srgbClr val="FFFFFF"/>
                          </a:solidFill>
                          <a:latin typeface="Times New Roman"/>
                        </a:rPr>
                        <a:t>Plugin / key parameters</a:t>
                      </a:r>
                    </a:p>
                  </a:txBody>
                  <a:tcPr marL="54864" marR="54864" marT="18288" marB="18288" anchor="ctr">
                    <a:solidFill>
                      <a:srgbClr val="0000CC"/>
                    </a:solidFill>
                  </a:tcPr>
                </a:tc>
              </a:tr>
              <a:tr h="365760">
                <a:tc>
                  <a:txBody>
                    <a:bodyPr wrap="square"/>
                    <a:lstStyle/>
                    <a:p>
                      <a:r>
                        <a:rPr sz="1000" b="0">
                          <a:solidFill>
                            <a:srgbClr val="1A1A1A"/>
                          </a:solidFill>
                          <a:latin typeface="Times New Roman"/>
                        </a:rPr>
                        <a:t>planner_server</a:t>
                      </a:r>
                    </a:p>
                  </a:txBody>
                  <a:tcPr marL="54864" marR="54864" marT="18288" marB="18288" anchor="ctr">
                    <a:solidFill>
                      <a:srgbClr val="ECECFA"/>
                    </a:solidFill>
                  </a:tcPr>
                </a:tc>
                <a:tc>
                  <a:txBody>
                    <a:bodyPr wrap="square"/>
                    <a:lstStyle/>
                    <a:p>
                      <a:r>
                        <a:rPr sz="1000" b="0">
                          <a:solidFill>
                            <a:srgbClr val="1A1A1A"/>
                          </a:solidFill>
                          <a:latin typeface="Times New Roman"/>
                        </a:rPr>
                        <a:t>NavFn, A*, allow_unknown, tolerance 0.3 m</a:t>
                      </a:r>
                    </a:p>
                  </a:txBody>
                  <a:tcPr marL="54864" marR="54864" marT="18288" marB="18288" anchor="ctr">
                    <a:solidFill>
                      <a:srgbClr val="ECECFA"/>
                    </a:solidFill>
                  </a:tcPr>
                </a:tc>
              </a:tr>
              <a:tr h="365760">
                <a:tc>
                  <a:txBody>
                    <a:bodyPr wrap="square"/>
                    <a:lstStyle/>
                    <a:p>
                      <a:r>
                        <a:rPr sz="1000" b="0">
                          <a:solidFill>
                            <a:srgbClr val="1A1A1A"/>
                          </a:solidFill>
                          <a:latin typeface="Times New Roman"/>
                        </a:rPr>
                        <a:t>controller_server</a:t>
                      </a:r>
                    </a:p>
                  </a:txBody>
                  <a:tcPr marL="54864" marR="54864" marT="18288" marB="18288" anchor="ctr">
                    <a:solidFill>
                      <a:srgbClr val="FFFFFF"/>
                    </a:solidFill>
                  </a:tcPr>
                </a:tc>
                <a:tc>
                  <a:txBody>
                    <a:bodyPr wrap="square"/>
                    <a:lstStyle/>
                    <a:p>
                      <a:r>
                        <a:rPr sz="1000" b="0">
                          <a:solidFill>
                            <a:srgbClr val="1A1A1A"/>
                          </a:solidFill>
                          <a:latin typeface="Times New Roman"/>
                        </a:rPr>
                        <a:t>RPP, 8 Hz, 0.10 m/s, lookahead 0.25–0.6 m</a:t>
                      </a:r>
                    </a:p>
                  </a:txBody>
                  <a:tcPr marL="54864" marR="54864" marT="18288" marB="18288" anchor="ctr">
                    <a:solidFill>
                      <a:srgbClr val="FFFFFF"/>
                    </a:solidFill>
                  </a:tcPr>
                </a:tc>
              </a:tr>
              <a:tr h="365760">
                <a:tc>
                  <a:txBody>
                    <a:bodyPr wrap="square"/>
                    <a:lstStyle/>
                    <a:p>
                      <a:r>
                        <a:rPr sz="1000" b="0">
                          <a:solidFill>
                            <a:srgbClr val="1A1A1A"/>
                          </a:solidFill>
                          <a:latin typeface="Times New Roman"/>
                        </a:rPr>
                        <a:t>  goal checker</a:t>
                      </a:r>
                    </a:p>
                  </a:txBody>
                  <a:tcPr marL="54864" marR="54864" marT="18288" marB="18288" anchor="ctr">
                    <a:solidFill>
                      <a:srgbClr val="ECECFA"/>
                    </a:solidFill>
                  </a:tcPr>
                </a:tc>
                <a:tc>
                  <a:txBody>
                    <a:bodyPr wrap="square"/>
                    <a:lstStyle/>
                    <a:p>
                      <a:r>
                        <a:rPr sz="1000" b="0">
                          <a:solidFill>
                            <a:srgbClr val="1A1A1A"/>
                          </a:solidFill>
                          <a:latin typeface="Times New Roman"/>
                        </a:rPr>
                        <a:t>0.20 m, any heading</a:t>
                      </a:r>
                    </a:p>
                  </a:txBody>
                  <a:tcPr marL="54864" marR="54864" marT="18288" marB="18288" anchor="ctr">
                    <a:solidFill>
                      <a:srgbClr val="ECECFA"/>
                    </a:solidFill>
                  </a:tcPr>
                </a:tc>
              </a:tr>
              <a:tr h="365760">
                <a:tc>
                  <a:txBody>
                    <a:bodyPr wrap="square"/>
                    <a:lstStyle/>
                    <a:p>
                      <a:r>
                        <a:rPr sz="1000" b="0">
                          <a:solidFill>
                            <a:srgbClr val="1A1A1A"/>
                          </a:solidFill>
                          <a:latin typeface="Times New Roman"/>
                        </a:rPr>
                        <a:t>  progress checker</a:t>
                      </a:r>
                    </a:p>
                  </a:txBody>
                  <a:tcPr marL="54864" marR="54864" marT="18288" marB="18288" anchor="ctr">
                    <a:solidFill>
                      <a:srgbClr val="FFFFFF"/>
                    </a:solidFill>
                  </a:tcPr>
                </a:tc>
                <a:tc>
                  <a:txBody>
                    <a:bodyPr wrap="square"/>
                    <a:lstStyle/>
                    <a:p>
                      <a:r>
                        <a:rPr sz="1000" b="0">
                          <a:solidFill>
                            <a:srgbClr val="1A1A1A"/>
                          </a:solidFill>
                          <a:latin typeface="Times New Roman"/>
                        </a:rPr>
                        <a:t>0.10 m in 20 s</a:t>
                      </a:r>
                    </a:p>
                  </a:txBody>
                  <a:tcPr marL="54864" marR="54864" marT="18288" marB="18288" anchor="ctr">
                    <a:solidFill>
                      <a:srgbClr val="FFFFFF"/>
                    </a:solidFill>
                  </a:tcPr>
                </a:tc>
              </a:tr>
              <a:tr h="365760">
                <a:tc>
                  <a:txBody>
                    <a:bodyPr wrap="square"/>
                    <a:lstStyle/>
                    <a:p>
                      <a:r>
                        <a:rPr sz="1000" b="0">
                          <a:solidFill>
                            <a:srgbClr val="1A1A1A"/>
                          </a:solidFill>
                          <a:latin typeface="Times New Roman"/>
                        </a:rPr>
                        <a:t>local costmap</a:t>
                      </a:r>
                    </a:p>
                  </a:txBody>
                  <a:tcPr marL="54864" marR="54864" marT="18288" marB="18288" anchor="ctr">
                    <a:solidFill>
                      <a:srgbClr val="ECECFA"/>
                    </a:solidFill>
                  </a:tcPr>
                </a:tc>
                <a:tc>
                  <a:txBody>
                    <a:bodyPr wrap="square"/>
                    <a:lstStyle/>
                    <a:p>
                      <a:r>
                        <a:rPr sz="1000" b="0">
                          <a:solidFill>
                            <a:srgbClr val="1A1A1A"/>
                          </a:solidFill>
                          <a:latin typeface="Times New Roman"/>
                        </a:rPr>
                        <a:t>odom frame, 3 × 3 m rolling, 10 Hz, inflation 0.40</a:t>
                      </a:r>
                    </a:p>
                  </a:txBody>
                  <a:tcPr marL="54864" marR="54864" marT="18288" marB="18288" anchor="ctr">
                    <a:solidFill>
                      <a:srgbClr val="ECECFA"/>
                    </a:solidFill>
                  </a:tcPr>
                </a:tc>
              </a:tr>
              <a:tr h="365760">
                <a:tc>
                  <a:txBody>
                    <a:bodyPr wrap="square"/>
                    <a:lstStyle/>
                    <a:p>
                      <a:r>
                        <a:rPr sz="1000" b="0">
                          <a:solidFill>
                            <a:srgbClr val="1A1A1A"/>
                          </a:solidFill>
                          <a:latin typeface="Times New Roman"/>
                        </a:rPr>
                        <a:t>global costmap</a:t>
                      </a:r>
                    </a:p>
                  </a:txBody>
                  <a:tcPr marL="54864" marR="54864" marT="18288" marB="18288" anchor="ctr">
                    <a:solidFill>
                      <a:srgbClr val="FFFFFF"/>
                    </a:solidFill>
                  </a:tcPr>
                </a:tc>
                <a:tc>
                  <a:txBody>
                    <a:bodyPr wrap="square"/>
                    <a:lstStyle/>
                    <a:p>
                      <a:r>
                        <a:rPr sz="1000" b="0">
                          <a:solidFill>
                            <a:srgbClr val="1A1A1A"/>
                          </a:solidFill>
                          <a:latin typeface="Times New Roman"/>
                        </a:rPr>
                        <a:t>map frame, static (/map) + scan, inflation 0.45</a:t>
                      </a:r>
                    </a:p>
                  </a:txBody>
                  <a:tcPr marL="54864" marR="54864" marT="18288" marB="18288" anchor="ctr">
                    <a:solidFill>
                      <a:srgbClr val="FFFFFF"/>
                    </a:solidFill>
                  </a:tcPr>
                </a:tc>
              </a:tr>
              <a:tr h="365760">
                <a:tc>
                  <a:txBody>
                    <a:bodyPr wrap="square"/>
                    <a:lstStyle/>
                    <a:p>
                      <a:r>
                        <a:rPr sz="1000" b="0">
                          <a:solidFill>
                            <a:srgbClr val="1A1A1A"/>
                          </a:solidFill>
                          <a:latin typeface="Times New Roman"/>
                        </a:rPr>
                        <a:t>behavior_server</a:t>
                      </a:r>
                    </a:p>
                  </a:txBody>
                  <a:tcPr marL="54864" marR="54864" marT="18288" marB="18288" anchor="ctr">
                    <a:solidFill>
                      <a:srgbClr val="ECECFA"/>
                    </a:solidFill>
                  </a:tcPr>
                </a:tc>
                <a:tc>
                  <a:txBody>
                    <a:bodyPr wrap="square"/>
                    <a:lstStyle/>
                    <a:p>
                      <a:r>
                        <a:rPr sz="1000" b="0">
                          <a:solidFill>
                            <a:srgbClr val="1A1A1A"/>
                          </a:solidFill>
                          <a:latin typeface="Times New Roman"/>
                        </a:rPr>
                        <a:t>spin, backup, wait</a:t>
                      </a:r>
                    </a:p>
                  </a:txBody>
                  <a:tcPr marL="54864" marR="54864" marT="18288" marB="18288" anchor="ctr">
                    <a:solidFill>
                      <a:srgbClr val="ECECFA"/>
                    </a:solidFill>
                  </a:tcPr>
                </a:tc>
              </a:tr>
              <a:tr h="365760">
                <a:tc>
                  <a:txBody>
                    <a:bodyPr wrap="square"/>
                    <a:lstStyle/>
                    <a:p>
                      <a:r>
                        <a:rPr sz="1000" b="0">
                          <a:solidFill>
                            <a:srgbClr val="1A1A1A"/>
                          </a:solidFill>
                          <a:latin typeface="Times New Roman"/>
                        </a:rPr>
                        <a:t>velocity_smoother</a:t>
                      </a:r>
                    </a:p>
                  </a:txBody>
                  <a:tcPr marL="54864" marR="54864" marT="18288" marB="18288" anchor="ctr">
                    <a:solidFill>
                      <a:srgbClr val="FFFFFF"/>
                    </a:solidFill>
                  </a:tcPr>
                </a:tc>
                <a:tc>
                  <a:txBody>
                    <a:bodyPr wrap="square"/>
                    <a:lstStyle/>
                    <a:p>
                      <a:r>
                        <a:rPr sz="1000" b="0">
                          <a:solidFill>
                            <a:srgbClr val="1A1A1A"/>
                          </a:solidFill>
                          <a:latin typeface="Times New Roman"/>
                        </a:rPr>
                        <a:t>20 Hz, ≤ 0.12 m/s, ≤ 0.8 rad/s, open loop</a:t>
                      </a:r>
                    </a:p>
                  </a:txBody>
                  <a:tcPr marL="54864" marR="54864" marT="18288" marB="18288" anchor="ctr">
                    <a:solidFill>
                      <a:srgbClr val="FFFFFF"/>
                    </a:solidFill>
                  </a:tcPr>
                </a:tc>
              </a:tr>
              <a:tr h="365760">
                <a:tc>
                  <a:txBody>
                    <a:bodyPr wrap="square"/>
                    <a:lstStyle/>
                    <a:p>
                      <a:r>
                        <a:rPr sz="1000" b="0">
                          <a:solidFill>
                            <a:srgbClr val="1A1A1A"/>
                          </a:solidFill>
                          <a:latin typeface="Times New Roman"/>
                        </a:rPr>
                        <a:t>bt_navigator</a:t>
                      </a:r>
                    </a:p>
                  </a:txBody>
                  <a:tcPr marL="54864" marR="54864" marT="18288" marB="18288" anchor="ctr">
                    <a:solidFill>
                      <a:srgbClr val="ECECFA"/>
                    </a:solidFill>
                  </a:tcPr>
                </a:tc>
                <a:tc>
                  <a:txBody>
                    <a:bodyPr wrap="square"/>
                    <a:lstStyle/>
                    <a:p>
                      <a:r>
                        <a:rPr sz="1000" b="0">
                          <a:solidFill>
                            <a:srgbClr val="1A1A1A"/>
                          </a:solidFill>
                          <a:latin typeface="Times New Roman"/>
                        </a:rPr>
                        <a:t>navigate_to_pose w/ replanning + recovery</a:t>
                      </a:r>
                    </a:p>
                  </a:txBody>
                  <a:tcPr marL="54864" marR="54864" marT="18288" marB="18288" anchor="ctr">
                    <a:solidFill>
                      <a:srgbClr val="ECECFA"/>
                    </a:solidFill>
                  </a:tcPr>
                </a:tc>
              </a:tr>
            </a:tbl>
          </a:graphicData>
        </a:graphic>
      </p:graphicFrame>
      <p:sp>
        <p:nvSpPr>
          <p:cNvPr id="17" name="TextBox 16"/>
          <p:cNvSpPr txBox="1"/>
          <p:nvPr/>
        </p:nvSpPr>
        <p:spPr>
          <a:xfrm>
            <a:off x="5577840" y="1234440"/>
            <a:ext cx="3063240"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Regulated Pure Pursuit</a:t>
            </a:r>
          </a:p>
        </p:txBody>
      </p:sp>
      <p:sp>
        <p:nvSpPr>
          <p:cNvPr id="18" name="Rounded Rectangle 17"/>
          <p:cNvSpPr/>
          <p:nvPr/>
        </p:nvSpPr>
        <p:spPr>
          <a:xfrm>
            <a:off x="5577840" y="1645920"/>
            <a:ext cx="3063240" cy="1143000"/>
          </a:xfrm>
          <a:prstGeom prst="roundRect">
            <a:avLst>
              <a:gd name="adj" fmla="val 8000"/>
            </a:avLst>
          </a:prstGeom>
          <a:solidFill>
            <a:srgbClr val="FFFFFF"/>
          </a:solidFill>
          <a:ln w="19050">
            <a:solidFill>
              <a:srgbClr val="0000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79" y="1691640"/>
            <a:ext cx="2880360" cy="1051560"/>
          </a:xfrm>
          <a:prstGeom prst="rect">
            <a:avLst/>
          </a:prstGeom>
          <a:noFill/>
        </p:spPr>
        <p:txBody>
          <a:bodyPr wrap="square" anchor="ctr" lIns="45720" rIns="45720">
            <a:spAutoFit/>
          </a:bodyPr>
          <a:lstStyle/>
          <a:p>
            <a:pPr algn="ctr">
              <a:spcAft>
                <a:spcPts val="400"/>
              </a:spcAft>
            </a:pPr>
            <a:r>
              <a:rPr sz="1700" b="0" i="0">
                <a:solidFill>
                  <a:srgbClr val="1A1A1A"/>
                </a:solidFill>
                <a:latin typeface="Times New Roman"/>
              </a:rPr>
              <a:t>κ = 2 y_L / L²</a:t>
            </a:r>
          </a:p>
          <a:p>
            <a:pPr algn="ctr">
              <a:spcAft>
                <a:spcPts val="400"/>
              </a:spcAft>
            </a:pPr>
            <a:r>
              <a:rPr sz="1700" b="0" i="0">
                <a:solidFill>
                  <a:srgbClr val="1A1A1A"/>
                </a:solidFill>
                <a:latin typeface="Times New Roman"/>
              </a:rPr>
              <a:t>ω = v κ</a:t>
            </a:r>
          </a:p>
        </p:txBody>
      </p:sp>
      <p:sp>
        <p:nvSpPr>
          <p:cNvPr id="20" name="TextBox 19"/>
          <p:cNvSpPr txBox="1"/>
          <p:nvPr/>
        </p:nvSpPr>
        <p:spPr>
          <a:xfrm>
            <a:off x="5577840" y="2834640"/>
            <a:ext cx="3063240" cy="2377440"/>
          </a:xfrm>
          <a:prstGeom prst="rect">
            <a:avLst/>
          </a:prstGeom>
          <a:noFill/>
        </p:spPr>
        <p:txBody>
          <a:bodyPr wrap="square" anchor="t" lIns="45720" rIns="45720">
            <a:spAutoFit/>
          </a:bodyPr>
          <a:lstStyle/>
          <a:p>
            <a:pPr algn="l">
              <a:spcAft>
                <a:spcPts val="400"/>
              </a:spcAft>
            </a:pPr>
            <a:r>
              <a:rPr sz="1100" b="0" i="0">
                <a:solidFill>
                  <a:srgbClr val="55555F"/>
                </a:solidFill>
                <a:latin typeface="Times New Roman"/>
              </a:rPr>
              <a:t>L: lookahead distance, y_L: lateral offset of the carrot</a:t>
            </a:r>
          </a:p>
          <a:p>
            <a:pPr algn="l">
              <a:spcAft>
                <a:spcPts val="400"/>
              </a:spcAft>
            </a:pPr>
            <a:r>
              <a:rPr sz="1100" b="0" i="0">
                <a:solidFill>
                  <a:srgbClr val="55555F"/>
                </a:solidFill>
                <a:latin typeface="Times New Roman"/>
              </a:rPr>
              <a:t>v reduced on tight curves (r &lt; 0.5 m) and near obstacles (costmap cost)</a:t>
            </a:r>
          </a:p>
          <a:p>
            <a:pPr algn="l">
              <a:spcAft>
                <a:spcPts val="400"/>
              </a:spcAft>
            </a:pPr>
            <a:r>
              <a:rPr sz="1100" b="0" i="0">
                <a:solidFill>
                  <a:srgbClr val="55555F"/>
                </a:solidFill>
                <a:latin typeface="Times New Roman"/>
              </a:rPr>
              <a:t>rotate in place first when heading error &gt; 0.6 rad, at 0.6 rad/s</a:t>
            </a:r>
          </a:p>
          <a:p>
            <a:pPr algn="l">
              <a:spcAft>
                <a:spcPts val="400"/>
              </a:spcAft>
            </a:pPr>
            <a:r>
              <a:rPr sz="1100" b="0" i="0">
                <a:solidFill>
                  <a:srgbClr val="55555F"/>
                </a:solidFill>
                <a:latin typeface="Times New Roman"/>
              </a:rPr>
              <a:t>collision check of the arc up to the carrot, 1.5 s ahead</a:t>
            </a:r>
          </a:p>
          <a:p>
            <a:pPr algn="l">
              <a:spcAft>
                <a:spcPts val="400"/>
              </a:spcAft>
            </a:pPr>
            <a:r>
              <a:rPr sz="1100" b="0" i="0">
                <a:solidFill>
                  <a:srgbClr val="55555F"/>
                </a:solidFill>
                <a:latin typeface="Times New Roman"/>
              </a:rPr>
              <a:t>robot = circle r = 0.15 m</a:t>
            </a:r>
          </a:p>
        </p:txBody>
      </p:sp>
      <p:sp>
        <p:nvSpPr>
          <p:cNvPr id="21" name="Rounded Rectangle 2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TF tolerance 1.0 s: Hector stamps map → odom with the scan time, 0.1–0.2 s old.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Obstacle Avoidance in Three Layers</a:t>
            </a:r>
          </a:p>
          <a:p>
            <a:pPr algn="just"/>
            <a:r>
              <a:rPr lang="en-US" sz="2500" dirty="0">
                <a:solidFill>
                  <a:srgbClr val="FFFFFF"/>
                </a:solidFill>
                <a:latin typeface="Times" panose="02020603050405020304" pitchFamily="18" charset="0"/>
                <a:cs typeface="Times" panose="02020603050405020304" pitchFamily="18" charset="0"/>
              </a:rPr>
              <a:t>Each layer works even if the one above fails</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9</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5120640" cy="84124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1252728"/>
            <a:ext cx="4892040" cy="822960"/>
          </a:xfrm>
          <a:prstGeom prst="rect">
            <a:avLst/>
          </a:prstGeom>
          <a:noFill/>
        </p:spPr>
        <p:txBody>
          <a:bodyPr wrap="square" anchor="t" lIns="45720" rIns="45720">
            <a:spAutoFit/>
          </a:bodyPr>
          <a:lstStyle/>
          <a:p>
            <a:pPr algn="l">
              <a:spcAft>
                <a:spcPts val="100"/>
              </a:spcAft>
            </a:pPr>
            <a:r>
              <a:rPr sz="1400" b="1" i="0">
                <a:solidFill>
                  <a:srgbClr val="0000CC"/>
                </a:solidFill>
                <a:latin typeface="Times New Roman"/>
              </a:rPr>
              <a:t>Layer 1  Global planner (1 Hz)</a:t>
            </a:r>
          </a:p>
          <a:p>
            <a:pPr algn="l">
              <a:spcAft>
                <a:spcPts val="100"/>
              </a:spcAft>
            </a:pPr>
            <a:r>
              <a:rPr sz="1100" b="0" i="0">
                <a:solidFill>
                  <a:srgbClr val="0000CC"/>
                </a:solidFill>
                <a:latin typeface="Times New Roman"/>
              </a:rPr>
              <a:t>NavFn on Hector's map + live scan; inflation 0.45 m keeps paths off walls; replans around new obstacles</a:t>
            </a:r>
          </a:p>
        </p:txBody>
      </p:sp>
      <p:cxnSp>
        <p:nvCxnSpPr>
          <p:cNvPr id="18" name="Connector 17"/>
          <p:cNvCxnSpPr/>
          <p:nvPr/>
        </p:nvCxnSpPr>
        <p:spPr>
          <a:xfrm>
            <a:off x="3063240" y="2084832"/>
            <a:ext cx="0" cy="164592"/>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2920" y="2258568"/>
            <a:ext cx="5120640" cy="84124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2276856"/>
            <a:ext cx="4892040" cy="822960"/>
          </a:xfrm>
          <a:prstGeom prst="rect">
            <a:avLst/>
          </a:prstGeom>
          <a:noFill/>
        </p:spPr>
        <p:txBody>
          <a:bodyPr wrap="square" anchor="t" lIns="45720" rIns="45720">
            <a:spAutoFit/>
          </a:bodyPr>
          <a:lstStyle/>
          <a:p>
            <a:pPr algn="l">
              <a:spcAft>
                <a:spcPts val="100"/>
              </a:spcAft>
            </a:pPr>
            <a:r>
              <a:rPr sz="1400" b="1" i="0">
                <a:solidFill>
                  <a:srgbClr val="0000CC"/>
                </a:solidFill>
                <a:latin typeface="Times New Roman"/>
              </a:rPr>
              <a:t>Layer 2  Local controller (8 Hz)</a:t>
            </a:r>
          </a:p>
          <a:p>
            <a:pPr algn="l">
              <a:spcAft>
                <a:spcPts val="100"/>
              </a:spcAft>
            </a:pPr>
            <a:r>
              <a:rPr sz="1100" b="0" i="0">
                <a:solidFill>
                  <a:srgbClr val="0000CC"/>
                </a:solidFill>
                <a:latin typeface="Times New Roman"/>
              </a:rPr>
              <a:t>3 × 3 m costmap from the latest scan (raytrace clears, marks to 3.5 m); RPP stops if its arc collides within 1.5 s</a:t>
            </a:r>
          </a:p>
        </p:txBody>
      </p:sp>
      <p:cxnSp>
        <p:nvCxnSpPr>
          <p:cNvPr id="21" name="Connector 20"/>
          <p:cNvCxnSpPr/>
          <p:nvPr/>
        </p:nvCxnSpPr>
        <p:spPr>
          <a:xfrm>
            <a:off x="3063240" y="3108960"/>
            <a:ext cx="0" cy="164592"/>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2920" y="3282696"/>
            <a:ext cx="5120640" cy="841248"/>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0080" y="3300984"/>
            <a:ext cx="4892040" cy="822960"/>
          </a:xfrm>
          <a:prstGeom prst="rect">
            <a:avLst/>
          </a:prstGeom>
          <a:noFill/>
        </p:spPr>
        <p:txBody>
          <a:bodyPr wrap="square" anchor="t" lIns="45720" rIns="45720">
            <a:spAutoFit/>
          </a:bodyPr>
          <a:lstStyle/>
          <a:p>
            <a:pPr algn="l">
              <a:spcAft>
                <a:spcPts val="100"/>
              </a:spcAft>
            </a:pPr>
            <a:r>
              <a:rPr sz="1400" b="1" i="0">
                <a:solidFill>
                  <a:srgbClr val="0000CC"/>
                </a:solidFill>
                <a:latin typeface="Times New Roman"/>
              </a:rPr>
              <a:t>Layer 3  Motor node (20 Hz)</a:t>
            </a:r>
          </a:p>
          <a:p>
            <a:pPr algn="l">
              <a:spcAft>
                <a:spcPts val="100"/>
              </a:spcAft>
            </a:pPr>
            <a:r>
              <a:rPr sz="1100" b="0" i="0">
                <a:solidFill>
                  <a:srgbClr val="0000CC"/>
                </a:solidFill>
                <a:latin typeface="Times New Roman"/>
              </a:rPr>
              <a:t>independent of Nav2: refuses or stops motion toward anything closer than 0.25 m in ±25° of travel; stops 0.5 s after the last command</a:t>
            </a:r>
          </a:p>
        </p:txBody>
      </p:sp>
      <p:sp>
        <p:nvSpPr>
          <p:cNvPr id="24" name="Rounded Rectangle 23"/>
          <p:cNvSpPr/>
          <p:nvPr/>
        </p:nvSpPr>
        <p:spPr>
          <a:xfrm>
            <a:off x="502920" y="4343400"/>
            <a:ext cx="5120640" cy="86868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343400"/>
            <a:ext cx="4892040" cy="868680"/>
          </a:xfrm>
          <a:prstGeom prst="rect">
            <a:avLst/>
          </a:prstGeom>
          <a:noFill/>
        </p:spPr>
        <p:txBody>
          <a:bodyPr wrap="square" anchor="ctr" lIns="45720" rIns="45720">
            <a:spAutoFit/>
          </a:bodyPr>
          <a:lstStyle/>
          <a:p>
            <a:pPr algn="l">
              <a:spcAft>
                <a:spcPts val="0"/>
              </a:spcAft>
            </a:pPr>
            <a:r>
              <a:rPr sz="1200" b="1" i="0">
                <a:solidFill>
                  <a:srgbClr val="CC0633"/>
                </a:solidFill>
                <a:latin typeface="Times New Roman"/>
              </a:rPr>
              <a:t>Blind spots: one plane at 12 cm. Stairs, cables, chair-leg crossbars and table tops are invisible to all three layers.</a:t>
            </a:r>
          </a:p>
        </p:txBody>
      </p:sp>
      <p:sp>
        <p:nvSpPr>
          <p:cNvPr id="26" name="TextBox 25"/>
          <p:cNvSpPr txBox="1"/>
          <p:nvPr/>
        </p:nvSpPr>
        <p:spPr>
          <a:xfrm>
            <a:off x="5897880" y="1234440"/>
            <a:ext cx="2743200"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Operator override</a:t>
            </a:r>
          </a:p>
        </p:txBody>
      </p:sp>
      <p:sp>
        <p:nvSpPr>
          <p:cNvPr id="27" name="TextBox 26"/>
          <p:cNvSpPr txBox="1"/>
          <p:nvPr/>
        </p:nvSpPr>
        <p:spPr>
          <a:xfrm>
            <a:off x="5897880" y="1645920"/>
            <a:ext cx="2743200" cy="3566160"/>
          </a:xfrm>
          <a:prstGeom prst="rect">
            <a:avLst/>
          </a:prstGeom>
          <a:noFill/>
        </p:spPr>
        <p:txBody>
          <a:bodyPr wrap="square" anchor="t" lIns="45720" rIns="45720">
            <a:spAutoFit/>
          </a:bodyPr>
          <a:lstStyle/>
          <a:p>
            <a:pPr algn="l">
              <a:spcAft>
                <a:spcPts val="600"/>
              </a:spcAft>
            </a:pPr>
            <a:r>
              <a:rPr sz="1200" b="0" i="0">
                <a:solidFill>
                  <a:srgbClr val="1A1A1A"/>
                </a:solidFill>
                <a:latin typeface="Times New Roman"/>
              </a:rPr>
              <a:t>Any drive key, button, Space or STOP sends pause first</a:t>
            </a:r>
          </a:p>
          <a:p>
            <a:pPr algn="l">
              <a:spcAft>
                <a:spcPts val="600"/>
              </a:spcAft>
            </a:pPr>
            <a:r>
              <a:rPr sz="1200" b="0" i="0">
                <a:solidFill>
                  <a:srgbClr val="1A1A1A"/>
                </a:solidFill>
                <a:latin typeface="Times New Roman"/>
              </a:rPr>
              <a:t>pause → explorer cancels the Nav2 goal, adapter is muted</a:t>
            </a:r>
          </a:p>
          <a:p>
            <a:pPr algn="l">
              <a:spcAft>
                <a:spcPts val="600"/>
              </a:spcAft>
            </a:pPr>
            <a:r>
              <a:rPr sz="1200" b="0" i="0">
                <a:solidFill>
                  <a:srgbClr val="1A1A1A"/>
                </a:solidFill>
                <a:latin typeface="Times New Roman"/>
              </a:rPr>
              <a:t>teleop cmd_vel then owns the motors</a:t>
            </a:r>
          </a:p>
          <a:p>
            <a:pPr algn="l">
              <a:spcAft>
                <a:spcPts val="600"/>
              </a:spcAft>
            </a:pPr>
            <a:r>
              <a:rPr sz="1200" b="0" i="0">
                <a:solidFill>
                  <a:srgbClr val="1A1A1A"/>
                </a:solidFill>
                <a:latin typeface="Times New Roman"/>
              </a:rPr>
              <a:t>Explore resumes from the same map</a:t>
            </a:r>
          </a:p>
          <a:p>
            <a:pPr algn="l">
              <a:spcAft>
                <a:spcPts val="600"/>
              </a:spcAft>
            </a:pPr>
            <a:r>
              <a:rPr sz="1200" b="0" i="0">
                <a:solidFill>
                  <a:srgbClr val="1A1A1A"/>
                </a:solidFill>
                <a:latin typeface="Times New Roman"/>
              </a:rPr>
              <a:t>One run: zero interventions</a:t>
            </a:r>
          </a:p>
        </p:txBody>
      </p:sp>
      <p:sp>
        <p:nvSpPr>
          <p:cNvPr id="28" name="Rounded Rectangle 27"/>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The last layer does not trust the first two.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From m/s to Track Commands</a:t>
            </a:r>
          </a:p>
          <a:p>
            <a:pPr algn="just"/>
            <a:r>
              <a:rPr lang="en-US" sz="2500" dirty="0">
                <a:solidFill>
                  <a:srgbClr val="FFFFFF"/>
                </a:solidFill>
                <a:latin typeface="Times" panose="02020603050405020304" pitchFamily="18" charset="0"/>
                <a:cs typeface="Times" panose="02020603050405020304" pitchFamily="18" charset="0"/>
              </a:rPr>
              <a:t>cmd_vel_adapter and the kinematic calibration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10</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4206240" cy="1463040"/>
          </a:xfrm>
          <a:prstGeom prst="roundRect">
            <a:avLst>
              <a:gd name="adj" fmla="val 8000"/>
            </a:avLst>
          </a:prstGeom>
          <a:solidFill>
            <a:srgbClr val="FFFFFF"/>
          </a:solidFill>
          <a:ln w="19050">
            <a:solidFill>
              <a:srgbClr val="0000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1280160"/>
            <a:ext cx="4023359" cy="1371600"/>
          </a:xfrm>
          <a:prstGeom prst="rect">
            <a:avLst/>
          </a:prstGeom>
          <a:noFill/>
        </p:spPr>
        <p:txBody>
          <a:bodyPr wrap="square" anchor="ctr" lIns="45720" rIns="45720">
            <a:spAutoFit/>
          </a:bodyPr>
          <a:lstStyle/>
          <a:p>
            <a:pPr algn="ctr">
              <a:spcAft>
                <a:spcPts val="400"/>
              </a:spcAft>
            </a:pPr>
            <a:r>
              <a:rPr sz="1500" b="0" i="0">
                <a:solidFill>
                  <a:srgbClr val="1A1A1A"/>
                </a:solidFill>
                <a:latin typeface="Times New Roman"/>
              </a:rPr>
              <a:t>f = v / v_max         t = ω b / (2 v_max)</a:t>
            </a:r>
          </a:p>
          <a:p>
            <a:pPr algn="ctr">
              <a:spcAft>
                <a:spcPts val="400"/>
              </a:spcAft>
            </a:pPr>
            <a:r>
              <a:rPr sz="1500" b="0" i="0">
                <a:solidFill>
                  <a:srgbClr val="1A1A1A"/>
                </a:solidFill>
                <a:latin typeface="Times New Roman"/>
              </a:rPr>
              <a:t>ℓ = f − t          r = f + t</a:t>
            </a:r>
          </a:p>
          <a:p>
            <a:pPr algn="ctr">
              <a:spcAft>
                <a:spcPts val="400"/>
              </a:spcAft>
            </a:pPr>
            <a:r>
              <a:rPr sz="1100" b="0" i="0">
                <a:solidFill>
                  <a:srgbClr val="55555F"/>
                </a:solidFill>
                <a:latin typeface="Times New Roman"/>
              </a:rPr>
              <a:t>v_max = 0.153 m/s · b = 0.105 m (effective) · |ℓ|, |r| ≥ 0.12 if ≠ 0</a:t>
            </a:r>
          </a:p>
        </p:txBody>
      </p:sp>
      <p:sp>
        <p:nvSpPr>
          <p:cNvPr id="18" name="TextBox 17"/>
          <p:cNvSpPr txBox="1"/>
          <p:nvPr/>
        </p:nvSpPr>
        <p:spPr>
          <a:xfrm>
            <a:off x="502920" y="2834640"/>
            <a:ext cx="4206240" cy="2377440"/>
          </a:xfrm>
          <a:prstGeom prst="rect">
            <a:avLst/>
          </a:prstGeom>
          <a:noFill/>
        </p:spPr>
        <p:txBody>
          <a:bodyPr wrap="square" anchor="t" lIns="45720" rIns="45720">
            <a:spAutoFit/>
          </a:bodyPr>
          <a:lstStyle/>
          <a:p>
            <a:pPr algn="l">
              <a:spcAft>
                <a:spcPts val="500"/>
              </a:spcAft>
            </a:pPr>
            <a:r>
              <a:rPr sz="1200" b="0" i="0">
                <a:solidFill>
                  <a:srgbClr val="55555F"/>
                </a:solidFill>
                <a:latin typeface="Times New Roman"/>
              </a:rPr>
              <a:t>robot_node takes fractions −1…1 of max speed, not m/s</a:t>
            </a:r>
          </a:p>
          <a:p>
            <a:pPr algn="l">
              <a:spcAft>
                <a:spcPts val="500"/>
              </a:spcAft>
            </a:pPr>
            <a:r>
              <a:rPr sz="1200" b="0" i="0">
                <a:solidFill>
                  <a:srgbClr val="55555F"/>
                </a:solidFill>
                <a:latin typeface="Times New Roman"/>
              </a:rPr>
              <a:t>tracks do not move below ≈ 0.1 of max: each non-zero track raised to 0.12</a:t>
            </a:r>
          </a:p>
          <a:p>
            <a:pPr algn="l">
              <a:spcAft>
                <a:spcPts val="500"/>
              </a:spcAft>
            </a:pPr>
            <a:r>
              <a:rPr sz="1200" b="0" i="0">
                <a:solidFill>
                  <a:srgbClr val="55555F"/>
                </a:solidFill>
                <a:latin typeface="Times New Roman"/>
              </a:rPr>
              <a:t>both scaled down together if one saturates: curvature kept</a:t>
            </a:r>
          </a:p>
          <a:p>
            <a:pPr algn="l">
              <a:spcAft>
                <a:spcPts val="500"/>
              </a:spcAft>
            </a:pPr>
            <a:r>
              <a:rPr sz="1200" b="0" i="0">
                <a:solidFill>
                  <a:srgbClr val="55555F"/>
                </a:solidFill>
                <a:latin typeface="Times New Roman"/>
              </a:rPr>
              <a:t>muted until Explore, and on pause/stop</a:t>
            </a:r>
          </a:p>
        </p:txBody>
      </p:sp>
      <p:graphicFrame>
        <p:nvGraphicFramePr>
          <p:cNvPr id="19" name="Table 18"/>
          <p:cNvGraphicFramePr>
            <a:graphicFrameLocks noGrp="1"/>
          </p:cNvGraphicFramePr>
          <p:nvPr/>
        </p:nvGraphicFramePr>
        <p:xfrm>
          <a:off x="4937760" y="1234440"/>
          <a:ext cx="3703320" cy="2688336"/>
        </p:xfrm>
        <a:graphic>
          <a:graphicData uri="http://schemas.openxmlformats.org/drawingml/2006/table">
            <a:tbl>
              <a:tblPr firstRow="0" bandRow="0"/>
              <a:tblGrid>
                <a:gridCol w="1325880"/>
                <a:gridCol w="1188720"/>
                <a:gridCol w="1188720"/>
              </a:tblGrid>
              <a:tr h="384048">
                <a:tc>
                  <a:txBody>
                    <a:bodyPr wrap="square"/>
                    <a:lstStyle/>
                    <a:p>
                      <a:r>
                        <a:rPr sz="1100" b="1">
                          <a:solidFill>
                            <a:srgbClr val="FFFFFF"/>
                          </a:solidFill>
                          <a:latin typeface="Times New Roman"/>
                        </a:rPr>
                        <a:t>Command</a:t>
                      </a:r>
                    </a:p>
                  </a:txBody>
                  <a:tcPr marL="54864" marR="54864" marT="18288" marB="18288" anchor="ctr">
                    <a:solidFill>
                      <a:srgbClr val="0000CC"/>
                    </a:solidFill>
                  </a:tcPr>
                </a:tc>
                <a:tc>
                  <a:txBody>
                    <a:bodyPr wrap="square"/>
                    <a:lstStyle/>
                    <a:p>
                      <a:r>
                        <a:rPr sz="1100" b="1">
                          <a:solidFill>
                            <a:srgbClr val="FFFFFF"/>
                          </a:solidFill>
                          <a:latin typeface="Times New Roman"/>
                        </a:rPr>
                        <a:t>Measured</a:t>
                      </a:r>
                    </a:p>
                  </a:txBody>
                  <a:tcPr marL="54864" marR="54864" marT="18288" marB="18288" anchor="ctr">
                    <a:solidFill>
                      <a:srgbClr val="0000CC"/>
                    </a:solidFill>
                  </a:tcPr>
                </a:tc>
                <a:tc>
                  <a:txBody>
                    <a:bodyPr wrap="square"/>
                    <a:lstStyle/>
                    <a:p>
                      <a:r>
                        <a:rPr sz="1100" b="1">
                          <a:solidFill>
                            <a:srgbClr val="FFFFFF"/>
                          </a:solidFill>
                          <a:latin typeface="Times New Roman"/>
                        </a:rPr>
                        <a:t>Model</a:t>
                      </a:r>
                    </a:p>
                  </a:txBody>
                  <a:tcPr marL="54864" marR="54864" marT="18288" marB="18288" anchor="ctr">
                    <a:solidFill>
                      <a:srgbClr val="0000CC"/>
                    </a:solidFill>
                  </a:tcPr>
                </a:tc>
              </a:tr>
              <a:tr h="384048">
                <a:tc>
                  <a:txBody>
                    <a:bodyPr wrap="square"/>
                    <a:lstStyle/>
                    <a:p>
                      <a:r>
                        <a:rPr sz="1100" b="0">
                          <a:solidFill>
                            <a:srgbClr val="1A1A1A"/>
                          </a:solidFill>
                          <a:latin typeface="Times New Roman"/>
                        </a:rPr>
                        <a:t>fwd 0.15, 2 s</a:t>
                      </a:r>
                    </a:p>
                  </a:txBody>
                  <a:tcPr marL="54864" marR="54864" marT="18288" marB="18288" anchor="ctr">
                    <a:solidFill>
                      <a:srgbClr val="ECECFA"/>
                    </a:solidFill>
                  </a:tcPr>
                </a:tc>
                <a:tc>
                  <a:txBody>
                    <a:bodyPr wrap="square"/>
                    <a:lstStyle/>
                    <a:p>
                      <a:r>
                        <a:rPr sz="1100" b="0">
                          <a:solidFill>
                            <a:srgbClr val="1A1A1A"/>
                          </a:solidFill>
                          <a:latin typeface="Times New Roman"/>
                        </a:rPr>
                        <a:t>0.017 m/s</a:t>
                      </a:r>
                    </a:p>
                  </a:txBody>
                  <a:tcPr marL="54864" marR="54864" marT="18288" marB="18288" anchor="ctr">
                    <a:solidFill>
                      <a:srgbClr val="ECECFA"/>
                    </a:solidFill>
                  </a:tcPr>
                </a:tc>
                <a:tc>
                  <a:txBody>
                    <a:bodyPr wrap="square"/>
                    <a:lstStyle/>
                    <a:p>
                      <a:r>
                        <a:rPr sz="1100" b="0">
                          <a:solidFill>
                            <a:srgbClr val="1A1A1A"/>
                          </a:solidFill>
                          <a:latin typeface="Times New Roman"/>
                        </a:rPr>
                        <a:t>0.023 (ramp)</a:t>
                      </a:r>
                    </a:p>
                  </a:txBody>
                  <a:tcPr marL="54864" marR="54864" marT="18288" marB="18288" anchor="ctr">
                    <a:solidFill>
                      <a:srgbClr val="ECECFA"/>
                    </a:solidFill>
                  </a:tcPr>
                </a:tc>
              </a:tr>
              <a:tr h="384048">
                <a:tc>
                  <a:txBody>
                    <a:bodyPr wrap="square"/>
                    <a:lstStyle/>
                    <a:p>
                      <a:r>
                        <a:rPr sz="1100" b="0">
                          <a:solidFill>
                            <a:srgbClr val="1A1A1A"/>
                          </a:solidFill>
                          <a:latin typeface="Times New Roman"/>
                        </a:rPr>
                        <a:t>fwd 0.30, 2 s</a:t>
                      </a:r>
                    </a:p>
                  </a:txBody>
                  <a:tcPr marL="54864" marR="54864" marT="18288" marB="18288" anchor="ctr">
                    <a:solidFill>
                      <a:srgbClr val="FFFFFF"/>
                    </a:solidFill>
                  </a:tcPr>
                </a:tc>
                <a:tc>
                  <a:txBody>
                    <a:bodyPr wrap="square"/>
                    <a:lstStyle/>
                    <a:p>
                      <a:r>
                        <a:rPr sz="1100" b="0">
                          <a:solidFill>
                            <a:srgbClr val="1A1A1A"/>
                          </a:solidFill>
                          <a:latin typeface="Times New Roman"/>
                        </a:rPr>
                        <a:t>0.047 m/s</a:t>
                      </a:r>
                    </a:p>
                  </a:txBody>
                  <a:tcPr marL="54864" marR="54864" marT="18288" marB="18288" anchor="ctr">
                    <a:solidFill>
                      <a:srgbClr val="FFFFFF"/>
                    </a:solidFill>
                  </a:tcPr>
                </a:tc>
                <a:tc>
                  <a:txBody>
                    <a:bodyPr wrap="square"/>
                    <a:lstStyle/>
                    <a:p>
                      <a:r>
                        <a:rPr sz="1100" b="0">
                          <a:solidFill>
                            <a:srgbClr val="1A1A1A"/>
                          </a:solidFill>
                          <a:latin typeface="Times New Roman"/>
                        </a:rPr>
                        <a:t>0.046 m/s</a:t>
                      </a:r>
                    </a:p>
                  </a:txBody>
                  <a:tcPr marL="54864" marR="54864" marT="18288" marB="18288" anchor="ctr">
                    <a:solidFill>
                      <a:srgbClr val="FFFFFF"/>
                    </a:solidFill>
                  </a:tcPr>
                </a:tc>
              </a:tr>
              <a:tr h="384048">
                <a:tc>
                  <a:txBody>
                    <a:bodyPr wrap="square"/>
                    <a:lstStyle/>
                    <a:p>
                      <a:r>
                        <a:rPr sz="1100" b="0">
                          <a:solidFill>
                            <a:srgbClr val="1A1A1A"/>
                          </a:solidFill>
                          <a:latin typeface="Times New Roman"/>
                        </a:rPr>
                        <a:t>fwd 0.60, 2 s</a:t>
                      </a:r>
                    </a:p>
                  </a:txBody>
                  <a:tcPr marL="54864" marR="54864" marT="18288" marB="18288" anchor="ctr">
                    <a:solidFill>
                      <a:srgbClr val="ECECFA"/>
                    </a:solidFill>
                  </a:tcPr>
                </a:tc>
                <a:tc>
                  <a:txBody>
                    <a:bodyPr wrap="square"/>
                    <a:lstStyle/>
                    <a:p>
                      <a:r>
                        <a:rPr sz="1100" b="0">
                          <a:solidFill>
                            <a:srgbClr val="1A1A1A"/>
                          </a:solidFill>
                          <a:latin typeface="Times New Roman"/>
                        </a:rPr>
                        <a:t>0.091 m/s</a:t>
                      </a:r>
                    </a:p>
                  </a:txBody>
                  <a:tcPr marL="54864" marR="54864" marT="18288" marB="18288" anchor="ctr">
                    <a:solidFill>
                      <a:srgbClr val="ECECFA"/>
                    </a:solidFill>
                  </a:tcPr>
                </a:tc>
                <a:tc>
                  <a:txBody>
                    <a:bodyPr wrap="square"/>
                    <a:lstStyle/>
                    <a:p>
                      <a:r>
                        <a:rPr sz="1100" b="0">
                          <a:solidFill>
                            <a:srgbClr val="1A1A1A"/>
                          </a:solidFill>
                          <a:latin typeface="Times New Roman"/>
                        </a:rPr>
                        <a:t>0.092 m/s</a:t>
                      </a:r>
                    </a:p>
                  </a:txBody>
                  <a:tcPr marL="54864" marR="54864" marT="18288" marB="18288" anchor="ctr">
                    <a:solidFill>
                      <a:srgbClr val="ECECFA"/>
                    </a:solidFill>
                  </a:tcPr>
                </a:tc>
              </a:tr>
              <a:tr h="384048">
                <a:tc>
                  <a:txBody>
                    <a:bodyPr wrap="square"/>
                    <a:lstStyle/>
                    <a:p>
                      <a:r>
                        <a:rPr sz="1100" b="0">
                          <a:solidFill>
                            <a:srgbClr val="1A1A1A"/>
                          </a:solidFill>
                          <a:latin typeface="Times New Roman"/>
                        </a:rPr>
                        <a:t>turn 0.10</a:t>
                      </a:r>
                    </a:p>
                  </a:txBody>
                  <a:tcPr marL="54864" marR="54864" marT="18288" marB="18288" anchor="ctr">
                    <a:solidFill>
                      <a:srgbClr val="FFFFFF"/>
                    </a:solidFill>
                  </a:tcPr>
                </a:tc>
                <a:tc>
                  <a:txBody>
                    <a:bodyPr wrap="square"/>
                    <a:lstStyle/>
                    <a:p>
                      <a:r>
                        <a:rPr sz="1100" b="0">
                          <a:solidFill>
                            <a:srgbClr val="1A1A1A"/>
                          </a:solidFill>
                          <a:latin typeface="Times New Roman"/>
                        </a:rPr>
                        <a:t>0.05 rad/s</a:t>
                      </a:r>
                    </a:p>
                  </a:txBody>
                  <a:tcPr marL="54864" marR="54864" marT="18288" marB="18288" anchor="ctr">
                    <a:solidFill>
                      <a:srgbClr val="FFFFFF"/>
                    </a:solidFill>
                  </a:tcPr>
                </a:tc>
                <a:tc>
                  <a:txBody>
                    <a:bodyPr wrap="square"/>
                    <a:lstStyle/>
                    <a:p>
                      <a:r>
                        <a:rPr sz="1100" b="0">
                          <a:solidFill>
                            <a:srgbClr val="1A1A1A"/>
                          </a:solidFill>
                          <a:latin typeface="Times New Roman"/>
                        </a:rPr>
                        <a:t>deadband</a:t>
                      </a:r>
                    </a:p>
                  </a:txBody>
                  <a:tcPr marL="54864" marR="54864" marT="18288" marB="18288" anchor="ctr">
                    <a:solidFill>
                      <a:srgbClr val="FFFFFF"/>
                    </a:solidFill>
                  </a:tcPr>
                </a:tc>
              </a:tr>
              <a:tr h="384048">
                <a:tc>
                  <a:txBody>
                    <a:bodyPr wrap="square"/>
                    <a:lstStyle/>
                    <a:p>
                      <a:r>
                        <a:rPr sz="1100" b="0">
                          <a:solidFill>
                            <a:srgbClr val="1A1A1A"/>
                          </a:solidFill>
                          <a:latin typeface="Times New Roman"/>
                        </a:rPr>
                        <a:t>turn 0.25, 1.5 s</a:t>
                      </a:r>
                    </a:p>
                  </a:txBody>
                  <a:tcPr marL="54864" marR="54864" marT="18288" marB="18288" anchor="ctr">
                    <a:solidFill>
                      <a:srgbClr val="ECECFA"/>
                    </a:solidFill>
                  </a:tcPr>
                </a:tc>
                <a:tc>
                  <a:txBody>
                    <a:bodyPr wrap="square"/>
                    <a:lstStyle/>
                    <a:p>
                      <a:r>
                        <a:rPr sz="1100" b="0">
                          <a:solidFill>
                            <a:srgbClr val="1A1A1A"/>
                          </a:solidFill>
                          <a:latin typeface="Times New Roman"/>
                        </a:rPr>
                        <a:t>43° (scan)</a:t>
                      </a:r>
                    </a:p>
                  </a:txBody>
                  <a:tcPr marL="54864" marR="54864" marT="18288" marB="18288" anchor="ctr">
                    <a:solidFill>
                      <a:srgbClr val="ECECFA"/>
                    </a:solidFill>
                  </a:tcPr>
                </a:tc>
                <a:tc>
                  <a:txBody>
                    <a:bodyPr wrap="square"/>
                    <a:lstStyle/>
                    <a:p>
                      <a:r>
                        <a:rPr sz="1100" b="0">
                          <a:solidFill>
                            <a:srgbClr val="1A1A1A"/>
                          </a:solidFill>
                          <a:latin typeface="Times New Roman"/>
                        </a:rPr>
                        <a:t>47° (encoders)</a:t>
                      </a:r>
                    </a:p>
                  </a:txBody>
                  <a:tcPr marL="54864" marR="54864" marT="18288" marB="18288" anchor="ctr">
                    <a:solidFill>
                      <a:srgbClr val="ECECFA"/>
                    </a:solidFill>
                  </a:tcPr>
                </a:tc>
              </a:tr>
              <a:tr h="384048">
                <a:tc>
                  <a:txBody>
                    <a:bodyPr wrap="square"/>
                    <a:lstStyle/>
                    <a:p>
                      <a:r>
                        <a:rPr sz="1100" b="0">
                          <a:solidFill>
                            <a:srgbClr val="1A1A1A"/>
                          </a:solidFill>
                          <a:latin typeface="Times New Roman"/>
                        </a:rPr>
                        <a:t>turn 0.40, 1.5 s</a:t>
                      </a:r>
                    </a:p>
                  </a:txBody>
                  <a:tcPr marL="54864" marR="54864" marT="18288" marB="18288" anchor="ctr">
                    <a:solidFill>
                      <a:srgbClr val="FFFFFF"/>
                    </a:solidFill>
                  </a:tcPr>
                </a:tc>
                <a:tc>
                  <a:txBody>
                    <a:bodyPr wrap="square"/>
                    <a:lstStyle/>
                    <a:p>
                      <a:r>
                        <a:rPr sz="1100" b="0">
                          <a:solidFill>
                            <a:srgbClr val="1A1A1A"/>
                          </a:solidFill>
                          <a:latin typeface="Times New Roman"/>
                        </a:rPr>
                        <a:t>82° (scan)</a:t>
                      </a:r>
                    </a:p>
                  </a:txBody>
                  <a:tcPr marL="54864" marR="54864" marT="18288" marB="18288" anchor="ctr">
                    <a:solidFill>
                      <a:srgbClr val="FFFFFF"/>
                    </a:solidFill>
                  </a:tcPr>
                </a:tc>
                <a:tc>
                  <a:txBody>
                    <a:bodyPr wrap="square"/>
                    <a:lstStyle/>
                    <a:p>
                      <a:r>
                        <a:rPr sz="1100" b="0">
                          <a:solidFill>
                            <a:srgbClr val="1A1A1A"/>
                          </a:solidFill>
                          <a:latin typeface="Times New Roman"/>
                        </a:rPr>
                        <a:t>85° (encoders)</a:t>
                      </a:r>
                    </a:p>
                  </a:txBody>
                  <a:tcPr marL="54864" marR="54864" marT="18288" marB="18288" anchor="ctr">
                    <a:solidFill>
                      <a:srgbClr val="FFFFFF"/>
                    </a:solidFill>
                  </a:tcPr>
                </a:tc>
              </a:tr>
            </a:tbl>
          </a:graphicData>
        </a:graphic>
      </p:graphicFrame>
      <p:sp>
        <p:nvSpPr>
          <p:cNvPr id="20" name="TextBox 19"/>
          <p:cNvSpPr txBox="1"/>
          <p:nvPr/>
        </p:nvSpPr>
        <p:spPr>
          <a:xfrm>
            <a:off x="4937760" y="4023360"/>
            <a:ext cx="3703320" cy="1188720"/>
          </a:xfrm>
          <a:prstGeom prst="rect">
            <a:avLst/>
          </a:prstGeom>
          <a:noFill/>
        </p:spPr>
        <p:txBody>
          <a:bodyPr wrap="square" anchor="t" lIns="45720" rIns="45720">
            <a:spAutoFit/>
          </a:bodyPr>
          <a:lstStyle/>
          <a:p>
            <a:pPr algn="l">
              <a:spcAft>
                <a:spcPts val="0"/>
              </a:spcAft>
            </a:pPr>
            <a:r>
              <a:rPr sz="1100" b="0" i="1">
                <a:solidFill>
                  <a:srgbClr val="55555F"/>
                </a:solidFill>
                <a:latin typeface="Times New Roman"/>
              </a:rPr>
              <a:t>Linear: encoders; rotation: lidar scan alignment. Scan / encoder yaw = 0.954 → b = 0.10 / 0.954 = 0.105 m, far below the 0.17 m between track centres: tracks skid when turning in place.</a:t>
            </a:r>
          </a:p>
        </p:txBody>
      </p:sp>
      <p:sp>
        <p:nvSpPr>
          <p:cNvPr id="21" name="Rounded Rectangle 2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A two-line adapter, but every constant in it was measured on the floor.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Where to Go Next: The Frontier Search</a:t>
            </a:r>
          </a:p>
          <a:p>
            <a:pPr algn="just"/>
            <a:r>
              <a:rPr lang="en-US" sz="2500" dirty="0">
                <a:solidFill>
                  <a:srgbClr val="FFFFFF"/>
                </a:solidFill>
                <a:latin typeface="Times" panose="02020603050405020304" pitchFamily="18" charset="0"/>
                <a:cs typeface="Times" panose="02020603050405020304" pitchFamily="18" charset="0"/>
              </a:rPr>
              <a:t>explorer.py + frontiers.py, every 3 s on the Pi</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11</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Oval 15"/>
          <p:cNvSpPr/>
          <p:nvPr/>
        </p:nvSpPr>
        <p:spPr>
          <a:xfrm>
            <a:off x="502920" y="1261872"/>
            <a:ext cx="384048" cy="384048"/>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Times New Roman"/>
              </a:rPr>
              <a:t>1</a:t>
            </a:r>
          </a:p>
        </p:txBody>
      </p:sp>
      <p:sp>
        <p:nvSpPr>
          <p:cNvPr id="17" name="TextBox 16"/>
          <p:cNvSpPr txBox="1"/>
          <p:nvPr/>
        </p:nvSpPr>
        <p:spPr>
          <a:xfrm>
            <a:off x="978408" y="1207008"/>
            <a:ext cx="3931920" cy="548640"/>
          </a:xfrm>
          <a:prstGeom prst="rect">
            <a:avLst/>
          </a:prstGeom>
          <a:noFill/>
        </p:spPr>
        <p:txBody>
          <a:bodyPr wrap="square" anchor="ctr" lIns="45720" rIns="45720">
            <a:spAutoFit/>
          </a:bodyPr>
          <a:lstStyle/>
          <a:p>
            <a:pPr algn="l">
              <a:spcAft>
                <a:spcPts val="0"/>
              </a:spcAft>
            </a:pPr>
            <a:r>
              <a:rPr sz="1150" b="0" i="0">
                <a:solidFill>
                  <a:srgbClr val="1A1A1A"/>
                </a:solidFill>
                <a:latin typeface="Times New Roman"/>
              </a:rPr>
              <a:t>Classify: free p ≤ 25, occupied p ≥ 65, unknown −1; crop to the known area</a:t>
            </a:r>
          </a:p>
        </p:txBody>
      </p:sp>
      <p:sp>
        <p:nvSpPr>
          <p:cNvPr id="18" name="Oval 17"/>
          <p:cNvSpPr/>
          <p:nvPr/>
        </p:nvSpPr>
        <p:spPr>
          <a:xfrm>
            <a:off x="502920" y="1828800"/>
            <a:ext cx="384048" cy="384048"/>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Times New Roman"/>
              </a:rPr>
              <a:t>2</a:t>
            </a:r>
          </a:p>
        </p:txBody>
      </p:sp>
      <p:sp>
        <p:nvSpPr>
          <p:cNvPr id="19" name="TextBox 18"/>
          <p:cNvSpPr txBox="1"/>
          <p:nvPr/>
        </p:nvSpPr>
        <p:spPr>
          <a:xfrm>
            <a:off x="978408" y="1773936"/>
            <a:ext cx="3931920" cy="548640"/>
          </a:xfrm>
          <a:prstGeom prst="rect">
            <a:avLst/>
          </a:prstGeom>
          <a:noFill/>
        </p:spPr>
        <p:txBody>
          <a:bodyPr wrap="square" anchor="ctr" lIns="45720" rIns="45720">
            <a:spAutoFit/>
          </a:bodyPr>
          <a:lstStyle/>
          <a:p>
            <a:pPr algn="l">
              <a:spcAft>
                <a:spcPts val="0"/>
              </a:spcAft>
            </a:pPr>
            <a:r>
              <a:rPr sz="1150" b="0" i="0">
                <a:solidFill>
                  <a:srgbClr val="1A1A1A"/>
                </a:solidFill>
                <a:latin typeface="Times New Roman"/>
              </a:rPr>
              <a:t>Clearance c = EDT(¬occupied) · res;  traversable = free ∧ c ≥ 0.15 m</a:t>
            </a:r>
          </a:p>
        </p:txBody>
      </p:sp>
      <p:sp>
        <p:nvSpPr>
          <p:cNvPr id="20" name="Oval 19"/>
          <p:cNvSpPr/>
          <p:nvPr/>
        </p:nvSpPr>
        <p:spPr>
          <a:xfrm>
            <a:off x="502920" y="2395728"/>
            <a:ext cx="384048" cy="384048"/>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Times New Roman"/>
              </a:rPr>
              <a:t>3</a:t>
            </a:r>
          </a:p>
        </p:txBody>
      </p:sp>
      <p:sp>
        <p:nvSpPr>
          <p:cNvPr id="21" name="TextBox 20"/>
          <p:cNvSpPr txBox="1"/>
          <p:nvPr/>
        </p:nvSpPr>
        <p:spPr>
          <a:xfrm>
            <a:off x="978408" y="2340864"/>
            <a:ext cx="3931920" cy="548640"/>
          </a:xfrm>
          <a:prstGeom prst="rect">
            <a:avLst/>
          </a:prstGeom>
          <a:noFill/>
        </p:spPr>
        <p:txBody>
          <a:bodyPr wrap="square" anchor="ctr" lIns="45720" rIns="45720">
            <a:spAutoFit/>
          </a:bodyPr>
          <a:lstStyle/>
          <a:p>
            <a:pPr algn="l">
              <a:spcAft>
                <a:spcPts val="0"/>
              </a:spcAft>
            </a:pPr>
            <a:r>
              <a:rPr sz="1150" b="0" i="0">
                <a:solidFill>
                  <a:srgbClr val="1A1A1A"/>
                </a:solidFill>
                <a:latin typeface="Times New Roman"/>
              </a:rPr>
              <a:t>Dijkstra (8-connected) from the robot's cell → geodesic distance d</a:t>
            </a:r>
          </a:p>
        </p:txBody>
      </p:sp>
      <p:sp>
        <p:nvSpPr>
          <p:cNvPr id="22" name="Oval 21"/>
          <p:cNvSpPr/>
          <p:nvPr/>
        </p:nvSpPr>
        <p:spPr>
          <a:xfrm>
            <a:off x="502920" y="2962656"/>
            <a:ext cx="384048" cy="384048"/>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Times New Roman"/>
              </a:rPr>
              <a:t>4</a:t>
            </a:r>
          </a:p>
        </p:txBody>
      </p:sp>
      <p:sp>
        <p:nvSpPr>
          <p:cNvPr id="23" name="TextBox 22"/>
          <p:cNvSpPr txBox="1"/>
          <p:nvPr/>
        </p:nvSpPr>
        <p:spPr>
          <a:xfrm>
            <a:off x="978408" y="2907791"/>
            <a:ext cx="3931920" cy="548640"/>
          </a:xfrm>
          <a:prstGeom prst="rect">
            <a:avLst/>
          </a:prstGeom>
          <a:noFill/>
        </p:spPr>
        <p:txBody>
          <a:bodyPr wrap="square" anchor="ctr" lIns="45720" rIns="45720">
            <a:spAutoFit/>
          </a:bodyPr>
          <a:lstStyle/>
          <a:p>
            <a:pPr algn="l">
              <a:spcAft>
                <a:spcPts val="0"/>
              </a:spcAft>
            </a:pPr>
            <a:r>
              <a:rPr sz="1150" b="0" i="0">
                <a:solidFill>
                  <a:srgbClr val="1A1A1A"/>
                </a:solidFill>
                <a:latin typeface="Times New Roman"/>
              </a:rPr>
              <a:t>Frontier = free cell with an unknown 4-neighbour; 8-connected clusters ≥ 0.30 m</a:t>
            </a:r>
          </a:p>
        </p:txBody>
      </p:sp>
      <p:sp>
        <p:nvSpPr>
          <p:cNvPr id="24" name="Oval 23"/>
          <p:cNvSpPr/>
          <p:nvPr/>
        </p:nvSpPr>
        <p:spPr>
          <a:xfrm>
            <a:off x="502920" y="3529584"/>
            <a:ext cx="384048" cy="384048"/>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Times New Roman"/>
              </a:rPr>
              <a:t>5</a:t>
            </a:r>
          </a:p>
        </p:txBody>
      </p:sp>
      <p:sp>
        <p:nvSpPr>
          <p:cNvPr id="25" name="TextBox 24"/>
          <p:cNvSpPr txBox="1"/>
          <p:nvPr/>
        </p:nvSpPr>
        <p:spPr>
          <a:xfrm>
            <a:off x="978408" y="3474720"/>
            <a:ext cx="3931920" cy="548640"/>
          </a:xfrm>
          <a:prstGeom prst="rect">
            <a:avLst/>
          </a:prstGeom>
          <a:noFill/>
        </p:spPr>
        <p:txBody>
          <a:bodyPr wrap="square" anchor="ctr" lIns="45720" rIns="45720">
            <a:spAutoFit/>
          </a:bodyPr>
          <a:lstStyle/>
          <a:p>
            <a:pPr algn="l">
              <a:spcAft>
                <a:spcPts val="0"/>
              </a:spcAft>
            </a:pPr>
            <a:r>
              <a:rPr sz="1150" b="0" i="0">
                <a:solidFill>
                  <a:srgbClr val="1A1A1A"/>
                </a:solidFill>
                <a:latin typeface="Times New Roman"/>
              </a:rPr>
              <a:t>Goal of a cluster: reachable cell within 0.35 m, nearest its centroid</a:t>
            </a:r>
          </a:p>
        </p:txBody>
      </p:sp>
      <p:sp>
        <p:nvSpPr>
          <p:cNvPr id="26" name="Oval 25"/>
          <p:cNvSpPr/>
          <p:nvPr/>
        </p:nvSpPr>
        <p:spPr>
          <a:xfrm>
            <a:off x="502920" y="4096511"/>
            <a:ext cx="384048" cy="384048"/>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Times New Roman"/>
              </a:rPr>
              <a:t>6</a:t>
            </a:r>
          </a:p>
        </p:txBody>
      </p:sp>
      <p:sp>
        <p:nvSpPr>
          <p:cNvPr id="27" name="TextBox 26"/>
          <p:cNvSpPr txBox="1"/>
          <p:nvPr/>
        </p:nvSpPr>
        <p:spPr>
          <a:xfrm>
            <a:off x="978408" y="4041648"/>
            <a:ext cx="3931920" cy="548640"/>
          </a:xfrm>
          <a:prstGeom prst="rect">
            <a:avLst/>
          </a:prstGeom>
          <a:noFill/>
        </p:spPr>
        <p:txBody>
          <a:bodyPr wrap="square" anchor="ctr" lIns="45720" rIns="45720">
            <a:spAutoFit/>
          </a:bodyPr>
          <a:lstStyle/>
          <a:p>
            <a:pPr algn="l">
              <a:spcAft>
                <a:spcPts val="0"/>
              </a:spcAft>
            </a:pPr>
            <a:r>
              <a:rPr sz="1150" b="0" i="0">
                <a:solidFill>
                  <a:srgbClr val="1A1A1A"/>
                </a:solidFill>
                <a:latin typeface="Times New Roman"/>
              </a:rPr>
              <a:t>Score = d − 0.5 · min(L, 1.5 m);  lowest wins</a:t>
            </a:r>
          </a:p>
        </p:txBody>
      </p:sp>
      <p:graphicFrame>
        <p:nvGraphicFramePr>
          <p:cNvPr id="28" name="Table 27"/>
          <p:cNvGraphicFramePr>
            <a:graphicFrameLocks noGrp="1"/>
          </p:cNvGraphicFramePr>
          <p:nvPr/>
        </p:nvGraphicFramePr>
        <p:xfrm>
          <a:off x="5120640" y="1234440"/>
          <a:ext cx="3520439" cy="1536192"/>
        </p:xfrm>
        <a:graphic>
          <a:graphicData uri="http://schemas.openxmlformats.org/drawingml/2006/table">
            <a:tbl>
              <a:tblPr firstRow="0" bandRow="0"/>
              <a:tblGrid>
                <a:gridCol w="1874519"/>
                <a:gridCol w="1645920"/>
              </a:tblGrid>
              <a:tr h="384048">
                <a:tc>
                  <a:txBody>
                    <a:bodyPr wrap="square"/>
                    <a:lstStyle/>
                    <a:p>
                      <a:r>
                        <a:rPr sz="1100" b="1">
                          <a:solidFill>
                            <a:srgbClr val="FFFFFF"/>
                          </a:solidFill>
                          <a:latin typeface="Times New Roman"/>
                        </a:rPr>
                        <a:t>Search on the Pi</a:t>
                      </a:r>
                    </a:p>
                  </a:txBody>
                  <a:tcPr marL="54864" marR="54864" marT="18288" marB="18288" anchor="ctr">
                    <a:solidFill>
                      <a:srgbClr val="0000CC"/>
                    </a:solidFill>
                  </a:tcPr>
                </a:tc>
                <a:tc>
                  <a:txBody>
                    <a:bodyPr wrap="square"/>
                    <a:lstStyle/>
                    <a:p>
                      <a:r>
                        <a:rPr sz="1100" b="1">
                          <a:solidFill>
                            <a:srgbClr val="FFFFFF"/>
                          </a:solidFill>
                          <a:latin typeface="Times New Roman"/>
                        </a:rPr>
                        <a:t/>
                      </a:r>
                    </a:p>
                  </a:txBody>
                  <a:tcPr marL="54864" marR="54864" marT="18288" marB="18288" anchor="ctr">
                    <a:solidFill>
                      <a:srgbClr val="0000CC"/>
                    </a:solidFill>
                  </a:tcPr>
                </a:tc>
              </a:tr>
              <a:tr h="384048">
                <a:tc>
                  <a:txBody>
                    <a:bodyPr wrap="square"/>
                    <a:lstStyle/>
                    <a:p>
                      <a:r>
                        <a:rPr sz="1100" b="0">
                          <a:solidFill>
                            <a:srgbClr val="1A1A1A"/>
                          </a:solidFill>
                          <a:latin typeface="Times New Roman"/>
                        </a:rPr>
                        <a:t>mean / max</a:t>
                      </a:r>
                    </a:p>
                  </a:txBody>
                  <a:tcPr marL="54864" marR="54864" marT="18288" marB="18288" anchor="ctr">
                    <a:solidFill>
                      <a:srgbClr val="ECECFA"/>
                    </a:solidFill>
                  </a:tcPr>
                </a:tc>
                <a:tc>
                  <a:txBody>
                    <a:bodyPr wrap="square"/>
                    <a:lstStyle/>
                    <a:p>
                      <a:r>
                        <a:rPr sz="1100" b="0">
                          <a:solidFill>
                            <a:srgbClr val="1A1A1A"/>
                          </a:solidFill>
                          <a:latin typeface="Times New Roman"/>
                        </a:rPr>
                        <a:t>50 / 58 ms</a:t>
                      </a:r>
                    </a:p>
                  </a:txBody>
                  <a:tcPr marL="54864" marR="54864" marT="18288" marB="18288" anchor="ctr">
                    <a:solidFill>
                      <a:srgbClr val="ECECFA"/>
                    </a:solidFill>
                  </a:tcPr>
                </a:tc>
              </a:tr>
              <a:tr h="384048">
                <a:tc>
                  <a:txBody>
                    <a:bodyPr wrap="square"/>
                    <a:lstStyle/>
                    <a:p>
                      <a:r>
                        <a:rPr sz="1100" b="0">
                          <a:solidFill>
                            <a:srgbClr val="1A1A1A"/>
                          </a:solidFill>
                          <a:latin typeface="Times New Roman"/>
                        </a:rPr>
                        <a:t>candidates per search</a:t>
                      </a:r>
                    </a:p>
                  </a:txBody>
                  <a:tcPr marL="54864" marR="54864" marT="18288" marB="18288" anchor="ctr">
                    <a:solidFill>
                      <a:srgbClr val="FFFFFF"/>
                    </a:solidFill>
                  </a:tcPr>
                </a:tc>
                <a:tc>
                  <a:txBody>
                    <a:bodyPr wrap="square"/>
                    <a:lstStyle/>
                    <a:p>
                      <a:r>
                        <a:rPr sz="1100" b="0">
                          <a:solidFill>
                            <a:srgbClr val="1A1A1A"/>
                          </a:solidFill>
                          <a:latin typeface="Times New Roman"/>
                        </a:rPr>
                        <a:t>11.1</a:t>
                      </a:r>
                    </a:p>
                  </a:txBody>
                  <a:tcPr marL="54864" marR="54864" marT="18288" marB="18288" anchor="ctr">
                    <a:solidFill>
                      <a:srgbClr val="FFFFFF"/>
                    </a:solidFill>
                  </a:tcPr>
                </a:tc>
              </a:tr>
              <a:tr h="384048">
                <a:tc>
                  <a:txBody>
                    <a:bodyPr wrap="square"/>
                    <a:lstStyle/>
                    <a:p>
                      <a:r>
                        <a:rPr sz="1100" b="0">
                          <a:solidFill>
                            <a:srgbClr val="1A1A1A"/>
                          </a:solidFill>
                          <a:latin typeface="Times New Roman"/>
                        </a:rPr>
                        <a:t>map cells searched</a:t>
                      </a:r>
                    </a:p>
                  </a:txBody>
                  <a:tcPr marL="54864" marR="54864" marT="18288" marB="18288" anchor="ctr">
                    <a:solidFill>
                      <a:srgbClr val="ECECFA"/>
                    </a:solidFill>
                  </a:tcPr>
                </a:tc>
                <a:tc>
                  <a:txBody>
                    <a:bodyPr wrap="square"/>
                    <a:lstStyle/>
                    <a:p>
                      <a:r>
                        <a:rPr sz="1100" b="0">
                          <a:solidFill>
                            <a:srgbClr val="1A1A1A"/>
                          </a:solidFill>
                          <a:latin typeface="Times New Roman"/>
                        </a:rPr>
                        <a:t>known area + 20 cells</a:t>
                      </a:r>
                    </a:p>
                  </a:txBody>
                  <a:tcPr marL="54864" marR="54864" marT="18288" marB="18288" anchor="ctr">
                    <a:solidFill>
                      <a:srgbClr val="ECECFA"/>
                    </a:solidFill>
                  </a:tcPr>
                </a:tc>
              </a:tr>
            </a:tbl>
          </a:graphicData>
        </a:graphic>
      </p:graphicFrame>
      <p:sp>
        <p:nvSpPr>
          <p:cNvPr id="29" name="Rounded Rectangle 28"/>
          <p:cNvSpPr/>
          <p:nvPr/>
        </p:nvSpPr>
        <p:spPr>
          <a:xfrm>
            <a:off x="5120640" y="2971800"/>
            <a:ext cx="3520440" cy="169164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212080" y="2999232"/>
            <a:ext cx="3337560" cy="1645920"/>
          </a:xfrm>
          <a:prstGeom prst="rect">
            <a:avLst/>
          </a:prstGeom>
          <a:noFill/>
        </p:spPr>
        <p:txBody>
          <a:bodyPr wrap="square" anchor="t" lIns="45720" rIns="45720">
            <a:spAutoFit/>
          </a:bodyPr>
          <a:lstStyle/>
          <a:p>
            <a:pPr algn="l">
              <a:spcAft>
                <a:spcPts val="300"/>
              </a:spcAft>
            </a:pPr>
            <a:r>
              <a:rPr sz="1200" b="1" i="0">
                <a:solidFill>
                  <a:srgbClr val="CC0633"/>
                </a:solidFill>
                <a:latin typeface="Times New Roman"/>
              </a:rPr>
              <a:t>Why the cap on L: </a:t>
            </a:r>
          </a:p>
          <a:p>
            <a:pPr algn="l">
              <a:spcAft>
                <a:spcPts val="300"/>
              </a:spcAft>
            </a:pPr>
            <a:r>
              <a:rPr sz="1200" b="0" i="0">
                <a:solidFill>
                  <a:srgbClr val="1A1A1A"/>
                </a:solidFill>
                <a:latin typeface="Times New Roman"/>
              </a:rPr>
              <a:t>the ragged edge of a long scan merged into one 38.9 m "frontier"; uncapped, its bonus outweighed every distance and the robot chased it.</a:t>
            </a:r>
          </a:p>
        </p:txBody>
      </p:sp>
      <p:sp>
        <p:nvSpPr>
          <p:cNvPr id="31" name="Rounded Rectangle 3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Nearest-frontier greedy (Yamauchi 1997) with a capped size bonus.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Goals, Failures and Going Home</a:t>
            </a:r>
          </a:p>
          <a:p>
            <a:pPr algn="just"/>
            <a:r>
              <a:rPr lang="en-US" sz="2500" dirty="0">
                <a:solidFill>
                  <a:srgbClr val="FFFFFF"/>
                </a:solidFill>
                <a:latin typeface="Times" panose="02020603050405020304" pitchFamily="18" charset="0"/>
                <a:cs typeface="Times" panose="02020603050405020304" pitchFamily="18" charset="0"/>
              </a:rPr>
              <a:t>The explorer's state machine</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12</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80160"/>
            <a:ext cx="1371600" cy="54864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2920" y="1280160"/>
            <a:ext cx="1371600" cy="548640"/>
          </a:xfrm>
          <a:prstGeom prst="rect">
            <a:avLst/>
          </a:prstGeom>
          <a:noFill/>
        </p:spPr>
        <p:txBody>
          <a:bodyPr wrap="square" anchor="ctr" lIns="45720" rIns="45720">
            <a:spAutoFit/>
          </a:bodyPr>
          <a:lstStyle/>
          <a:p>
            <a:pPr algn="ctr">
              <a:spcAft>
                <a:spcPts val="0"/>
              </a:spcAft>
            </a:pPr>
            <a:r>
              <a:rPr sz="1400" b="1" i="0">
                <a:solidFill>
                  <a:srgbClr val="FFFFFF"/>
                </a:solidFill>
                <a:latin typeface="Times New Roman"/>
              </a:rPr>
              <a:t>idle</a:t>
            </a:r>
          </a:p>
        </p:txBody>
      </p:sp>
      <p:sp>
        <p:nvSpPr>
          <p:cNvPr id="18" name="Rounded Rectangle 17"/>
          <p:cNvSpPr/>
          <p:nvPr/>
        </p:nvSpPr>
        <p:spPr>
          <a:xfrm>
            <a:off x="2240280" y="1280160"/>
            <a:ext cx="1371600" cy="54864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240280" y="1280160"/>
            <a:ext cx="1371600" cy="548640"/>
          </a:xfrm>
          <a:prstGeom prst="rect">
            <a:avLst/>
          </a:prstGeom>
          <a:noFill/>
        </p:spPr>
        <p:txBody>
          <a:bodyPr wrap="square" anchor="ctr" lIns="45720" rIns="45720">
            <a:spAutoFit/>
          </a:bodyPr>
          <a:lstStyle/>
          <a:p>
            <a:pPr algn="ctr">
              <a:spcAft>
                <a:spcPts val="0"/>
              </a:spcAft>
            </a:pPr>
            <a:r>
              <a:rPr sz="1400" b="1" i="0">
                <a:solidFill>
                  <a:srgbClr val="FFFFFF"/>
                </a:solidFill>
                <a:latin typeface="Times New Roman"/>
              </a:rPr>
              <a:t>exploring</a:t>
            </a:r>
          </a:p>
        </p:txBody>
      </p:sp>
      <p:sp>
        <p:nvSpPr>
          <p:cNvPr id="20" name="Rounded Rectangle 19"/>
          <p:cNvSpPr/>
          <p:nvPr/>
        </p:nvSpPr>
        <p:spPr>
          <a:xfrm>
            <a:off x="3977639" y="1280160"/>
            <a:ext cx="1371600" cy="54864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977639" y="1280160"/>
            <a:ext cx="1371600" cy="548640"/>
          </a:xfrm>
          <a:prstGeom prst="rect">
            <a:avLst/>
          </a:prstGeom>
          <a:noFill/>
        </p:spPr>
        <p:txBody>
          <a:bodyPr wrap="square" anchor="ctr" lIns="45720" rIns="45720">
            <a:spAutoFit/>
          </a:bodyPr>
          <a:lstStyle/>
          <a:p>
            <a:pPr algn="ctr">
              <a:spcAft>
                <a:spcPts val="0"/>
              </a:spcAft>
            </a:pPr>
            <a:r>
              <a:rPr sz="1400" b="1" i="0">
                <a:solidFill>
                  <a:srgbClr val="FFFFFF"/>
                </a:solidFill>
                <a:latin typeface="Times New Roman"/>
              </a:rPr>
              <a:t>returning</a:t>
            </a:r>
          </a:p>
        </p:txBody>
      </p:sp>
      <p:sp>
        <p:nvSpPr>
          <p:cNvPr id="22" name="Rounded Rectangle 21"/>
          <p:cNvSpPr/>
          <p:nvPr/>
        </p:nvSpPr>
        <p:spPr>
          <a:xfrm>
            <a:off x="5715000" y="1280160"/>
            <a:ext cx="1371600" cy="54864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715000" y="1280160"/>
            <a:ext cx="1371600" cy="548640"/>
          </a:xfrm>
          <a:prstGeom prst="rect">
            <a:avLst/>
          </a:prstGeom>
          <a:noFill/>
        </p:spPr>
        <p:txBody>
          <a:bodyPr wrap="square" anchor="ctr" lIns="45720" rIns="45720">
            <a:spAutoFit/>
          </a:bodyPr>
          <a:lstStyle/>
          <a:p>
            <a:pPr algn="ctr">
              <a:spcAft>
                <a:spcPts val="0"/>
              </a:spcAft>
            </a:pPr>
            <a:r>
              <a:rPr sz="1400" b="1" i="0">
                <a:solidFill>
                  <a:srgbClr val="FFFFFF"/>
                </a:solidFill>
                <a:latin typeface="Times New Roman"/>
              </a:rPr>
              <a:t>done</a:t>
            </a:r>
          </a:p>
        </p:txBody>
      </p:sp>
      <p:cxnSp>
        <p:nvCxnSpPr>
          <p:cNvPr id="24" name="Connector 23"/>
          <p:cNvCxnSpPr/>
          <p:nvPr/>
        </p:nvCxnSpPr>
        <p:spPr>
          <a:xfrm>
            <a:off x="1892808" y="1554480"/>
            <a:ext cx="329184" cy="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91640" y="1847088"/>
            <a:ext cx="777240" cy="274320"/>
          </a:xfrm>
          <a:prstGeom prst="rect">
            <a:avLst/>
          </a:prstGeom>
          <a:noFill/>
        </p:spPr>
        <p:txBody>
          <a:bodyPr wrap="square" anchor="t" lIns="45720" rIns="45720">
            <a:spAutoFit/>
          </a:bodyPr>
          <a:lstStyle/>
          <a:p>
            <a:pPr algn="ctr">
              <a:spcAft>
                <a:spcPts val="0"/>
              </a:spcAft>
            </a:pPr>
            <a:r>
              <a:rPr sz="900" b="0" i="1">
                <a:solidFill>
                  <a:srgbClr val="55555F"/>
                </a:solidFill>
                <a:latin typeface="Times New Roman"/>
              </a:rPr>
              <a:t>Explore</a:t>
            </a:r>
          </a:p>
        </p:txBody>
      </p:sp>
      <p:cxnSp>
        <p:nvCxnSpPr>
          <p:cNvPr id="26" name="Connector 25"/>
          <p:cNvCxnSpPr/>
          <p:nvPr/>
        </p:nvCxnSpPr>
        <p:spPr>
          <a:xfrm>
            <a:off x="3630168" y="1554480"/>
            <a:ext cx="329184" cy="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429000" y="1847088"/>
            <a:ext cx="777240" cy="274320"/>
          </a:xfrm>
          <a:prstGeom prst="rect">
            <a:avLst/>
          </a:prstGeom>
          <a:noFill/>
        </p:spPr>
        <p:txBody>
          <a:bodyPr wrap="square" anchor="t" lIns="45720" rIns="45720">
            <a:spAutoFit/>
          </a:bodyPr>
          <a:lstStyle/>
          <a:p>
            <a:pPr algn="ctr">
              <a:spcAft>
                <a:spcPts val="0"/>
              </a:spcAft>
            </a:pPr>
            <a:r>
              <a:rPr sz="900" b="0" i="1">
                <a:solidFill>
                  <a:srgbClr val="55555F"/>
                </a:solidFill>
                <a:latin typeface="Times New Roman"/>
              </a:rPr>
              <a:t>no frontier ×3</a:t>
            </a:r>
          </a:p>
        </p:txBody>
      </p:sp>
      <p:cxnSp>
        <p:nvCxnSpPr>
          <p:cNvPr id="28" name="Connector 27"/>
          <p:cNvCxnSpPr/>
          <p:nvPr/>
        </p:nvCxnSpPr>
        <p:spPr>
          <a:xfrm>
            <a:off x="5367527" y="1554480"/>
            <a:ext cx="329185" cy="0"/>
          </a:xfrm>
          <a:prstGeom prst="line">
            <a:avLst/>
          </a:prstGeom>
          <a:ln w="25400">
            <a:solidFill>
              <a:srgbClr val="0000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166359" y="1847088"/>
            <a:ext cx="777240" cy="274320"/>
          </a:xfrm>
          <a:prstGeom prst="rect">
            <a:avLst/>
          </a:prstGeom>
          <a:noFill/>
        </p:spPr>
        <p:txBody>
          <a:bodyPr wrap="square" anchor="t" lIns="45720" rIns="45720">
            <a:spAutoFit/>
          </a:bodyPr>
          <a:lstStyle/>
          <a:p>
            <a:pPr algn="ctr">
              <a:spcAft>
                <a:spcPts val="0"/>
              </a:spcAft>
            </a:pPr>
            <a:r>
              <a:rPr sz="900" b="0" i="1">
                <a:solidFill>
                  <a:srgbClr val="55555F"/>
                </a:solidFill>
                <a:latin typeface="Times New Roman"/>
              </a:rPr>
              <a:t>start reached</a:t>
            </a:r>
          </a:p>
        </p:txBody>
      </p:sp>
      <p:sp>
        <p:nvSpPr>
          <p:cNvPr id="30" name="Rounded Rectangle 29"/>
          <p:cNvSpPr/>
          <p:nvPr/>
        </p:nvSpPr>
        <p:spPr>
          <a:xfrm>
            <a:off x="7315200" y="1280160"/>
            <a:ext cx="1325880" cy="54864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0" y="1280160"/>
            <a:ext cx="1325880" cy="548640"/>
          </a:xfrm>
          <a:prstGeom prst="rect">
            <a:avLst/>
          </a:prstGeom>
          <a:noFill/>
        </p:spPr>
        <p:txBody>
          <a:bodyPr wrap="square" anchor="ctr" lIns="45720" rIns="45720">
            <a:spAutoFit/>
          </a:bodyPr>
          <a:lstStyle/>
          <a:p>
            <a:pPr algn="ctr">
              <a:spcAft>
                <a:spcPts val="0"/>
              </a:spcAft>
            </a:pPr>
            <a:r>
              <a:rPr sz="1300" b="1" i="0">
                <a:solidFill>
                  <a:srgbClr val="CC0633"/>
                </a:solidFill>
                <a:latin typeface="Times New Roman"/>
              </a:rPr>
              <a:t>paused</a:t>
            </a:r>
          </a:p>
        </p:txBody>
      </p:sp>
      <p:sp>
        <p:nvSpPr>
          <p:cNvPr id="32" name="TextBox 31"/>
          <p:cNvSpPr txBox="1"/>
          <p:nvPr/>
        </p:nvSpPr>
        <p:spPr>
          <a:xfrm>
            <a:off x="7178040" y="1847088"/>
            <a:ext cx="1600200" cy="274320"/>
          </a:xfrm>
          <a:prstGeom prst="rect">
            <a:avLst/>
          </a:prstGeom>
          <a:noFill/>
        </p:spPr>
        <p:txBody>
          <a:bodyPr wrap="square" anchor="t" lIns="45720" rIns="45720">
            <a:spAutoFit/>
          </a:bodyPr>
          <a:lstStyle/>
          <a:p>
            <a:pPr algn="ctr">
              <a:spcAft>
                <a:spcPts val="0"/>
              </a:spcAft>
            </a:pPr>
            <a:r>
              <a:rPr sz="900" b="0" i="1">
                <a:solidFill>
                  <a:srgbClr val="55555F"/>
                </a:solidFill>
                <a:latin typeface="Times New Roman"/>
              </a:rPr>
              <a:t>from any, by the operator</a:t>
            </a:r>
          </a:p>
        </p:txBody>
      </p:sp>
      <p:graphicFrame>
        <p:nvGraphicFramePr>
          <p:cNvPr id="33" name="Table 32"/>
          <p:cNvGraphicFramePr>
            <a:graphicFrameLocks noGrp="1"/>
          </p:cNvGraphicFramePr>
          <p:nvPr/>
        </p:nvGraphicFramePr>
        <p:xfrm>
          <a:off x="502920" y="2286000"/>
          <a:ext cx="8138160" cy="2468880"/>
        </p:xfrm>
        <a:graphic>
          <a:graphicData uri="http://schemas.openxmlformats.org/drawingml/2006/table">
            <a:tbl>
              <a:tblPr firstRow="0" bandRow="0"/>
              <a:tblGrid>
                <a:gridCol w="3657600"/>
                <a:gridCol w="3383280"/>
                <a:gridCol w="1097280"/>
              </a:tblGrid>
              <a:tr h="411480">
                <a:tc>
                  <a:txBody>
                    <a:bodyPr wrap="square"/>
                    <a:lstStyle/>
                    <a:p>
                      <a:r>
                        <a:rPr sz="1100" b="1">
                          <a:solidFill>
                            <a:srgbClr val="FFFFFF"/>
                          </a:solidFill>
                          <a:latin typeface="Times New Roman"/>
                        </a:rPr>
                        <a:t>A goal ends when …</a:t>
                      </a:r>
                    </a:p>
                  </a:txBody>
                  <a:tcPr marL="54864" marR="54864" marT="18288" marB="18288" anchor="ctr">
                    <a:solidFill>
                      <a:srgbClr val="0000CC"/>
                    </a:solidFill>
                  </a:tcPr>
                </a:tc>
                <a:tc>
                  <a:txBody>
                    <a:bodyPr wrap="square"/>
                    <a:lstStyle/>
                    <a:p>
                      <a:r>
                        <a:rPr sz="1100" b="1">
                          <a:solidFill>
                            <a:srgbClr val="FFFFFF"/>
                          </a:solidFill>
                          <a:latin typeface="Times New Roman"/>
                        </a:rPr>
                        <a:t>Then</a:t>
                      </a:r>
                    </a:p>
                  </a:txBody>
                  <a:tcPr marL="54864" marR="54864" marT="18288" marB="18288" anchor="ctr">
                    <a:solidFill>
                      <a:srgbClr val="0000CC"/>
                    </a:solidFill>
                  </a:tcPr>
                </a:tc>
                <a:tc>
                  <a:txBody>
                    <a:bodyPr wrap="square"/>
                    <a:lstStyle/>
                    <a:p>
                      <a:r>
                        <a:rPr sz="1100" b="1">
                          <a:solidFill>
                            <a:srgbClr val="FFFFFF"/>
                          </a:solidFill>
                          <a:latin typeface="Times New Roman"/>
                        </a:rPr>
                        <a:t>In the run</a:t>
                      </a:r>
                    </a:p>
                  </a:txBody>
                  <a:tcPr marL="54864" marR="54864" marT="18288" marB="18288" anchor="ctr">
                    <a:solidFill>
                      <a:srgbClr val="0000CC"/>
                    </a:solidFill>
                  </a:tcPr>
                </a:tc>
              </a:tr>
              <a:tr h="411480">
                <a:tc>
                  <a:txBody>
                    <a:bodyPr wrap="square"/>
                    <a:lstStyle/>
                    <a:p>
                      <a:r>
                        <a:rPr sz="1100" b="0">
                          <a:solidFill>
                            <a:srgbClr val="1A1A1A"/>
                          </a:solidFill>
                          <a:latin typeface="Times New Roman"/>
                        </a:rPr>
                        <a:t>Nav2 reports success</a:t>
                      </a:r>
                    </a:p>
                  </a:txBody>
                  <a:tcPr marL="54864" marR="54864" marT="18288" marB="18288" anchor="ctr">
                    <a:solidFill>
                      <a:srgbClr val="ECECFA"/>
                    </a:solidFill>
                  </a:tcPr>
                </a:tc>
                <a:tc>
                  <a:txBody>
                    <a:bodyPr wrap="square"/>
                    <a:lstStyle/>
                    <a:p>
                      <a:r>
                        <a:rPr sz="1100" b="0">
                          <a:solidFill>
                            <a:srgbClr val="1A1A1A"/>
                          </a:solidFill>
                          <a:latin typeface="Times New Roman"/>
                        </a:rPr>
                        <a:t>blacklist goal + its frontier (pockets under furniture never clear)</a:t>
                      </a:r>
                    </a:p>
                  </a:txBody>
                  <a:tcPr marL="54864" marR="54864" marT="18288" marB="18288" anchor="ctr">
                    <a:solidFill>
                      <a:srgbClr val="ECECFA"/>
                    </a:solidFill>
                  </a:tcPr>
                </a:tc>
                <a:tc>
                  <a:txBody>
                    <a:bodyPr wrap="square"/>
                    <a:lstStyle/>
                    <a:p>
                      <a:r>
                        <a:rPr sz="1100" b="0">
                          <a:solidFill>
                            <a:srgbClr val="1A1A1A"/>
                          </a:solidFill>
                          <a:latin typeface="Times New Roman"/>
                        </a:rPr>
                        <a:t>24</a:t>
                      </a:r>
                    </a:p>
                  </a:txBody>
                  <a:tcPr marL="54864" marR="54864" marT="18288" marB="18288" anchor="ctr">
                    <a:solidFill>
                      <a:srgbClr val="ECECFA"/>
                    </a:solidFill>
                  </a:tcPr>
                </a:tc>
              </a:tr>
              <a:tr h="411480">
                <a:tc>
                  <a:txBody>
                    <a:bodyPr wrap="square"/>
                    <a:lstStyle/>
                    <a:p>
                      <a:r>
                        <a:rPr sz="1100" b="0">
                          <a:solidFill>
                            <a:srgbClr val="1A1A1A"/>
                          </a:solidFill>
                          <a:latin typeface="Times New Roman"/>
                        </a:rPr>
                        <a:t>its frontier is seen on the way (no frontier within 0.6 m of it)</a:t>
                      </a:r>
                    </a:p>
                  </a:txBody>
                  <a:tcPr marL="54864" marR="54864" marT="18288" marB="18288" anchor="ctr">
                    <a:solidFill>
                      <a:srgbClr val="FFFFFF"/>
                    </a:solidFill>
                  </a:tcPr>
                </a:tc>
                <a:tc>
                  <a:txBody>
                    <a:bodyPr wrap="square"/>
                    <a:lstStyle/>
                    <a:p>
                      <a:r>
                        <a:rPr sz="1100" b="0">
                          <a:solidFill>
                            <a:srgbClr val="1A1A1A"/>
                          </a:solidFill>
                          <a:latin typeface="Times New Roman"/>
                        </a:rPr>
                        <a:t>cancel, take the next</a:t>
                      </a:r>
                    </a:p>
                  </a:txBody>
                  <a:tcPr marL="54864" marR="54864" marT="18288" marB="18288" anchor="ctr">
                    <a:solidFill>
                      <a:srgbClr val="FFFFFF"/>
                    </a:solidFill>
                  </a:tcPr>
                </a:tc>
                <a:tc>
                  <a:txBody>
                    <a:bodyPr wrap="square"/>
                    <a:lstStyle/>
                    <a:p>
                      <a:r>
                        <a:rPr sz="1100" b="0">
                          <a:solidFill>
                            <a:srgbClr val="1A1A1A"/>
                          </a:solidFill>
                          <a:latin typeface="Times New Roman"/>
                        </a:rPr>
                        <a:t>5</a:t>
                      </a:r>
                    </a:p>
                  </a:txBody>
                  <a:tcPr marL="54864" marR="54864" marT="18288" marB="18288" anchor="ctr">
                    <a:solidFill>
                      <a:srgbClr val="FFFFFF"/>
                    </a:solidFill>
                  </a:tcPr>
                </a:tc>
              </a:tr>
              <a:tr h="411480">
                <a:tc>
                  <a:txBody>
                    <a:bodyPr wrap="square"/>
                    <a:lstStyle/>
                    <a:p>
                      <a:r>
                        <a:rPr sz="1100" b="0">
                          <a:solidFill>
                            <a:srgbClr val="1A1A1A"/>
                          </a:solidFill>
                          <a:latin typeface="Times New Roman"/>
                        </a:rPr>
                        <a:t>Nav2 aborts, or &lt; 0.15 m / 0.5 rad progress in 30 s</a:t>
                      </a:r>
                    </a:p>
                  </a:txBody>
                  <a:tcPr marL="54864" marR="54864" marT="18288" marB="18288" anchor="ctr">
                    <a:solidFill>
                      <a:srgbClr val="ECECFA"/>
                    </a:solidFill>
                  </a:tcPr>
                </a:tc>
                <a:tc>
                  <a:txBody>
                    <a:bodyPr wrap="square"/>
                    <a:lstStyle/>
                    <a:p>
                      <a:r>
                        <a:rPr sz="1100" b="0">
                          <a:solidFill>
                            <a:srgbClr val="1A1A1A"/>
                          </a:solidFill>
                          <a:latin typeface="Times New Roman"/>
                        </a:rPr>
                        <a:t>blacklist (0.4 m radius)</a:t>
                      </a:r>
                    </a:p>
                  </a:txBody>
                  <a:tcPr marL="54864" marR="54864" marT="18288" marB="18288" anchor="ctr">
                    <a:solidFill>
                      <a:srgbClr val="ECECFA"/>
                    </a:solidFill>
                  </a:tcPr>
                </a:tc>
                <a:tc>
                  <a:txBody>
                    <a:bodyPr wrap="square"/>
                    <a:lstStyle/>
                    <a:p>
                      <a:r>
                        <a:rPr sz="1100" b="0">
                          <a:solidFill>
                            <a:srgbClr val="1A1A1A"/>
                          </a:solidFill>
                          <a:latin typeface="Times New Roman"/>
                        </a:rPr>
                        <a:t>0</a:t>
                      </a:r>
                    </a:p>
                  </a:txBody>
                  <a:tcPr marL="54864" marR="54864" marT="18288" marB="18288" anchor="ctr">
                    <a:solidFill>
                      <a:srgbClr val="ECECFA"/>
                    </a:solidFill>
                  </a:tcPr>
                </a:tc>
              </a:tr>
              <a:tr h="411480">
                <a:tc>
                  <a:txBody>
                    <a:bodyPr wrap="square"/>
                    <a:lstStyle/>
                    <a:p>
                      <a:r>
                        <a:rPr sz="1100" b="0">
                          <a:solidFill>
                            <a:srgbClr val="1A1A1A"/>
                          </a:solidFill>
                          <a:latin typeface="Times New Roman"/>
                        </a:rPr>
                        <a:t>timeout 40 s + 2.5 · d / 0.05 m/s</a:t>
                      </a:r>
                    </a:p>
                  </a:txBody>
                  <a:tcPr marL="54864" marR="54864" marT="18288" marB="18288" anchor="ctr">
                    <a:solidFill>
                      <a:srgbClr val="FFFFFF"/>
                    </a:solidFill>
                  </a:tcPr>
                </a:tc>
                <a:tc>
                  <a:txBody>
                    <a:bodyPr wrap="square"/>
                    <a:lstStyle/>
                    <a:p>
                      <a:r>
                        <a:rPr sz="1100" b="0">
                          <a:solidFill>
                            <a:srgbClr val="1A1A1A"/>
                          </a:solidFill>
                          <a:latin typeface="Times New Roman"/>
                        </a:rPr>
                        <a:t>blacklist</a:t>
                      </a:r>
                    </a:p>
                  </a:txBody>
                  <a:tcPr marL="54864" marR="54864" marT="18288" marB="18288" anchor="ctr">
                    <a:solidFill>
                      <a:srgbClr val="FFFFFF"/>
                    </a:solidFill>
                  </a:tcPr>
                </a:tc>
                <a:tc>
                  <a:txBody>
                    <a:bodyPr wrap="square"/>
                    <a:lstStyle/>
                    <a:p>
                      <a:r>
                        <a:rPr sz="1100" b="0">
                          <a:solidFill>
                            <a:srgbClr val="1A1A1A"/>
                          </a:solidFill>
                          <a:latin typeface="Times New Roman"/>
                        </a:rPr>
                        <a:t>1</a:t>
                      </a:r>
                    </a:p>
                  </a:txBody>
                  <a:tcPr marL="54864" marR="54864" marT="18288" marB="18288" anchor="ctr">
                    <a:solidFill>
                      <a:srgbClr val="FFFFFF"/>
                    </a:solidFill>
                  </a:tcPr>
                </a:tc>
              </a:tr>
              <a:tr h="411480">
                <a:tc>
                  <a:txBody>
                    <a:bodyPr wrap="square"/>
                    <a:lstStyle/>
                    <a:p>
                      <a:r>
                        <a:rPr sz="1100" b="0">
                          <a:solidFill>
                            <a:srgbClr val="1A1A1A"/>
                          </a:solidFill>
                          <a:latin typeface="Times New Roman"/>
                        </a:rPr>
                        <a:t>battery &lt; 7.0 V or 45 min</a:t>
                      </a:r>
                    </a:p>
                  </a:txBody>
                  <a:tcPr marL="54864" marR="54864" marT="18288" marB="18288" anchor="ctr">
                    <a:solidFill>
                      <a:srgbClr val="ECECFA"/>
                    </a:solidFill>
                  </a:tcPr>
                </a:tc>
                <a:tc>
                  <a:txBody>
                    <a:bodyPr wrap="square"/>
                    <a:lstStyle/>
                    <a:p>
                      <a:r>
                        <a:rPr sz="1100" b="0">
                          <a:solidFill>
                            <a:srgbClr val="1A1A1A"/>
                          </a:solidFill>
                          <a:latin typeface="Times New Roman"/>
                        </a:rPr>
                        <a:t>return home</a:t>
                      </a:r>
                    </a:p>
                  </a:txBody>
                  <a:tcPr marL="54864" marR="54864" marT="18288" marB="18288" anchor="ctr">
                    <a:solidFill>
                      <a:srgbClr val="ECECFA"/>
                    </a:solidFill>
                  </a:tcPr>
                </a:tc>
                <a:tc>
                  <a:txBody>
                    <a:bodyPr wrap="square"/>
                    <a:lstStyle/>
                    <a:p>
                      <a:r>
                        <a:rPr sz="1100" b="0">
                          <a:solidFill>
                            <a:srgbClr val="1A1A1A"/>
                          </a:solidFill>
                          <a:latin typeface="Times New Roman"/>
                        </a:rPr>
                        <a:t>–</a:t>
                      </a:r>
                    </a:p>
                  </a:txBody>
                  <a:tcPr marL="54864" marR="54864" marT="18288" marB="18288" anchor="ctr">
                    <a:solidFill>
                      <a:srgbClr val="ECECFA"/>
                    </a:solidFill>
                  </a:tcPr>
                </a:tc>
              </a:tr>
            </a:tbl>
          </a:graphicData>
        </a:graphic>
      </p:graphicFrame>
      <p:sp>
        <p:nvSpPr>
          <p:cNvPr id="34" name="TextBox 33"/>
          <p:cNvSpPr txBox="1"/>
          <p:nvPr/>
        </p:nvSpPr>
        <p:spPr>
          <a:xfrm>
            <a:off x="502920" y="4846320"/>
            <a:ext cx="8138160" cy="411480"/>
          </a:xfrm>
          <a:prstGeom prst="rect">
            <a:avLst/>
          </a:prstGeom>
          <a:noFill/>
        </p:spPr>
        <p:txBody>
          <a:bodyPr wrap="square" anchor="t" lIns="45720" rIns="45720">
            <a:spAutoFit/>
          </a:bodyPr>
          <a:lstStyle/>
          <a:p>
            <a:pPr algn="l">
              <a:spcAft>
                <a:spcPts val="600"/>
              </a:spcAft>
            </a:pPr>
            <a:r>
              <a:rPr sz="1100" b="0" i="1">
                <a:solidFill>
                  <a:srgbClr val="55555F"/>
                </a:solidFill>
                <a:latin typeface="Times New Roman"/>
              </a:rPr>
              <a:t>Every event and a 5 s sample (area, frontiers, battery) → ~/explore_logs/&lt;time&gt;.jsonl; the results slides are computed from it.</a:t>
            </a:r>
          </a:p>
        </p:txBody>
      </p:sp>
      <p:sp>
        <p:nvSpPr>
          <p:cNvPr id="35" name="Rounded Rectangle 34"/>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Without blacklisting reached goals, the robot re-sent one goal 39 times in two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Checking the Explorer Before the Robot</a:t>
            </a:r>
          </a:p>
          <a:p>
            <a:pPr algn="just"/>
            <a:r>
              <a:rPr lang="en-US" sz="2500" dirty="0">
                <a:solidFill>
                  <a:srgbClr val="FFFFFF"/>
                </a:solidFill>
                <a:latin typeface="Times" panose="02020603050405020304" pitchFamily="18" charset="0"/>
                <a:cs typeface="Times" panose="02020603050405020304" pitchFamily="18" charset="0"/>
              </a:rPr>
              <a:t>tools/sim_explore.py: synthetic apartment, ray-cast lidar</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13</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sim_explore.png"/>
          <p:cNvPicPr>
            <a:picLocks noChangeAspect="1"/>
          </p:cNvPicPr>
          <p:nvPr/>
        </p:nvPicPr>
        <p:blipFill>
          <a:blip r:embed="rId2"/>
          <a:stretch>
            <a:fillRect/>
          </a:stretch>
        </p:blipFill>
        <p:spPr>
          <a:xfrm>
            <a:off x="740228" y="1188720"/>
            <a:ext cx="7663542" cy="2926080"/>
          </a:xfrm>
          <a:prstGeom prst="rect">
            <a:avLst/>
          </a:prstGeom>
        </p:spPr>
      </p:pic>
      <p:sp>
        <p:nvSpPr>
          <p:cNvPr id="17" name="Rounded Rectangle 16"/>
          <p:cNvSpPr/>
          <p:nvPr/>
        </p:nvSpPr>
        <p:spPr>
          <a:xfrm>
            <a:off x="502920" y="4160520"/>
            <a:ext cx="1920240" cy="10972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4360" y="4206240"/>
            <a:ext cx="173736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100 %</a:t>
            </a:r>
          </a:p>
        </p:txBody>
      </p:sp>
      <p:sp>
        <p:nvSpPr>
          <p:cNvPr id="19" name="TextBox 18"/>
          <p:cNvSpPr txBox="1"/>
          <p:nvPr/>
        </p:nvSpPr>
        <p:spPr>
          <a:xfrm>
            <a:off x="594360" y="4773168"/>
            <a:ext cx="1737360" cy="45720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of 64 m² free space mapped</a:t>
            </a:r>
          </a:p>
        </p:txBody>
      </p:sp>
      <p:sp>
        <p:nvSpPr>
          <p:cNvPr id="20" name="Rounded Rectangle 19"/>
          <p:cNvSpPr/>
          <p:nvPr/>
        </p:nvSpPr>
        <p:spPr>
          <a:xfrm>
            <a:off x="2560320" y="4160520"/>
            <a:ext cx="1920240" cy="10972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651760" y="4206240"/>
            <a:ext cx="173736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21.9 m</a:t>
            </a:r>
          </a:p>
        </p:txBody>
      </p:sp>
      <p:sp>
        <p:nvSpPr>
          <p:cNvPr id="22" name="TextBox 21"/>
          <p:cNvSpPr txBox="1"/>
          <p:nvPr/>
        </p:nvSpPr>
        <p:spPr>
          <a:xfrm>
            <a:off x="2651760" y="4773168"/>
            <a:ext cx="1737360" cy="45720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driven</a:t>
            </a:r>
          </a:p>
        </p:txBody>
      </p:sp>
      <p:sp>
        <p:nvSpPr>
          <p:cNvPr id="23" name="Rounded Rectangle 22"/>
          <p:cNvSpPr/>
          <p:nvPr/>
        </p:nvSpPr>
        <p:spPr>
          <a:xfrm>
            <a:off x="4617720" y="4160520"/>
            <a:ext cx="1920240" cy="10972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709159" y="4206240"/>
            <a:ext cx="173736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40</a:t>
            </a:r>
          </a:p>
        </p:txBody>
      </p:sp>
      <p:sp>
        <p:nvSpPr>
          <p:cNvPr id="25" name="TextBox 24"/>
          <p:cNvSpPr txBox="1"/>
          <p:nvPr/>
        </p:nvSpPr>
        <p:spPr>
          <a:xfrm>
            <a:off x="4709159" y="4773168"/>
            <a:ext cx="1737360" cy="45720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frontier goals</a:t>
            </a:r>
          </a:p>
        </p:txBody>
      </p:sp>
      <p:sp>
        <p:nvSpPr>
          <p:cNvPr id="26" name="Rounded Rectangle 25"/>
          <p:cNvSpPr/>
          <p:nvPr/>
        </p:nvSpPr>
        <p:spPr>
          <a:xfrm>
            <a:off x="6675120" y="4160520"/>
            <a:ext cx="1965960" cy="10972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766559" y="4206240"/>
            <a:ext cx="178308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36 ms</a:t>
            </a:r>
          </a:p>
        </p:txBody>
      </p:sp>
      <p:sp>
        <p:nvSpPr>
          <p:cNvPr id="28" name="TextBox 27"/>
          <p:cNvSpPr txBox="1"/>
          <p:nvPr/>
        </p:nvSpPr>
        <p:spPr>
          <a:xfrm>
            <a:off x="6766559" y="4773168"/>
            <a:ext cx="1783080" cy="45720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per search (laptop)</a:t>
            </a:r>
          </a:p>
        </p:txBody>
      </p:sp>
      <p:sp>
        <p:nvSpPr>
          <p:cNvPr id="29" name="Rounded Rectangle 28"/>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No SLAM error, no controller: tests goal choice and termination only.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Distributing the Load: Measured, Not Assumed</a:t>
            </a:r>
          </a:p>
          <a:p>
            <a:pPr algn="just"/>
            <a:r>
              <a:rPr lang="en-US" sz="2500" dirty="0">
                <a:solidFill>
                  <a:srgbClr val="FFFFFF"/>
                </a:solidFill>
                <a:latin typeface="Times" panose="02020603050405020304" pitchFamily="18" charset="0"/>
                <a:cs typeface="Times" panose="02020603050405020304" pitchFamily="18" charset="0"/>
              </a:rPr>
              <a:t>CPU on the Pi 5 while exploring · network · middleware</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14</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graphicFrame>
        <p:nvGraphicFramePr>
          <p:cNvPr id="16" name="Table 15"/>
          <p:cNvGraphicFramePr>
            <a:graphicFrameLocks noGrp="1"/>
          </p:cNvGraphicFramePr>
          <p:nvPr/>
        </p:nvGraphicFramePr>
        <p:xfrm>
          <a:off x="502920" y="1234440"/>
          <a:ext cx="3931920" cy="3511296"/>
        </p:xfrm>
        <a:graphic>
          <a:graphicData uri="http://schemas.openxmlformats.org/drawingml/2006/table">
            <a:tbl>
              <a:tblPr firstRow="0" bandRow="0"/>
              <a:tblGrid>
                <a:gridCol w="2834640"/>
                <a:gridCol w="1097280"/>
              </a:tblGrid>
              <a:tr h="292608">
                <a:tc>
                  <a:txBody>
                    <a:bodyPr wrap="square"/>
                    <a:lstStyle/>
                    <a:p>
                      <a:r>
                        <a:rPr sz="1000" b="1">
                          <a:solidFill>
                            <a:srgbClr val="FFFFFF"/>
                          </a:solidFill>
                          <a:latin typeface="Times New Roman"/>
                        </a:rPr>
                        <a:t>Process (Pi 5)</a:t>
                      </a:r>
                    </a:p>
                  </a:txBody>
                  <a:tcPr marL="54864" marR="54864" marT="18288" marB="18288" anchor="ctr">
                    <a:solidFill>
                      <a:srgbClr val="0000CC"/>
                    </a:solidFill>
                  </a:tcPr>
                </a:tc>
                <a:tc>
                  <a:txBody>
                    <a:bodyPr wrap="square"/>
                    <a:lstStyle/>
                    <a:p>
                      <a:r>
                        <a:rPr sz="1000" b="1">
                          <a:solidFill>
                            <a:srgbClr val="FFFFFF"/>
                          </a:solidFill>
                          <a:latin typeface="Times New Roman"/>
                        </a:rPr>
                        <a:t>% of a core</a:t>
                      </a:r>
                    </a:p>
                  </a:txBody>
                  <a:tcPr marL="54864" marR="54864" marT="18288" marB="18288" anchor="ctr">
                    <a:solidFill>
                      <a:srgbClr val="0000CC"/>
                    </a:solidFill>
                  </a:tcPr>
                </a:tc>
              </a:tr>
              <a:tr h="292608">
                <a:tc>
                  <a:txBody>
                    <a:bodyPr wrap="square"/>
                    <a:lstStyle/>
                    <a:p>
                      <a:r>
                        <a:rPr sz="1000" b="0">
                          <a:solidFill>
                            <a:srgbClr val="1A1A1A"/>
                          </a:solidFill>
                          <a:latin typeface="Times New Roman"/>
                        </a:rPr>
                        <a:t>aurora930 camera driver</a:t>
                      </a:r>
                    </a:p>
                  </a:txBody>
                  <a:tcPr marL="54864" marR="54864" marT="18288" marB="18288" anchor="ctr">
                    <a:solidFill>
                      <a:srgbClr val="ECECFA"/>
                    </a:solidFill>
                  </a:tcPr>
                </a:tc>
                <a:tc>
                  <a:txBody>
                    <a:bodyPr wrap="square"/>
                    <a:lstStyle/>
                    <a:p>
                      <a:r>
                        <a:rPr sz="1000" b="0">
                          <a:solidFill>
                            <a:srgbClr val="1A1A1A"/>
                          </a:solidFill>
                          <a:latin typeface="Times New Roman"/>
                        </a:rPr>
                        <a:t>26</a:t>
                      </a:r>
                    </a:p>
                  </a:txBody>
                  <a:tcPr marL="54864" marR="54864" marT="18288" marB="18288" anchor="ctr">
                    <a:solidFill>
                      <a:srgbClr val="ECECFA"/>
                    </a:solidFill>
                  </a:tcPr>
                </a:tc>
              </a:tr>
              <a:tr h="292608">
                <a:tc>
                  <a:txBody>
                    <a:bodyPr wrap="square"/>
                    <a:lstStyle/>
                    <a:p>
                      <a:r>
                        <a:rPr sz="1000" b="0">
                          <a:solidFill>
                            <a:srgbClr val="1A1A1A"/>
                          </a:solidFill>
                          <a:latin typeface="Times New Roman"/>
                        </a:rPr>
                        <a:t>explorer (Python)</a:t>
                      </a:r>
                    </a:p>
                  </a:txBody>
                  <a:tcPr marL="54864" marR="54864" marT="18288" marB="18288" anchor="ctr">
                    <a:solidFill>
                      <a:srgbClr val="FFFFFF"/>
                    </a:solidFill>
                  </a:tcPr>
                </a:tc>
                <a:tc>
                  <a:txBody>
                    <a:bodyPr wrap="square"/>
                    <a:lstStyle/>
                    <a:p>
                      <a:r>
                        <a:rPr sz="1000" b="0">
                          <a:solidFill>
                            <a:srgbClr val="1A1A1A"/>
                          </a:solidFill>
                          <a:latin typeface="Times New Roman"/>
                        </a:rPr>
                        <a:t>21</a:t>
                      </a:r>
                    </a:p>
                  </a:txBody>
                  <a:tcPr marL="54864" marR="54864" marT="18288" marB="18288" anchor="ctr">
                    <a:solidFill>
                      <a:srgbClr val="FFFFFF"/>
                    </a:solidFill>
                  </a:tcPr>
                </a:tc>
              </a:tr>
              <a:tr h="292608">
                <a:tc>
                  <a:txBody>
                    <a:bodyPr wrap="square"/>
                    <a:lstStyle/>
                    <a:p>
                      <a:r>
                        <a:rPr sz="1000" b="0">
                          <a:solidFill>
                            <a:srgbClr val="1A1A1A"/>
                          </a:solidFill>
                          <a:latin typeface="Times New Roman"/>
                        </a:rPr>
                        <a:t>robot_node (Python)</a:t>
                      </a:r>
                    </a:p>
                  </a:txBody>
                  <a:tcPr marL="54864" marR="54864" marT="18288" marB="18288" anchor="ctr">
                    <a:solidFill>
                      <a:srgbClr val="ECECFA"/>
                    </a:solidFill>
                  </a:tcPr>
                </a:tc>
                <a:tc>
                  <a:txBody>
                    <a:bodyPr wrap="square"/>
                    <a:lstStyle/>
                    <a:p>
                      <a:r>
                        <a:rPr sz="1000" b="0">
                          <a:solidFill>
                            <a:srgbClr val="1A1A1A"/>
                          </a:solidFill>
                          <a:latin typeface="Times New Roman"/>
                        </a:rPr>
                        <a:t>17</a:t>
                      </a:r>
                    </a:p>
                  </a:txBody>
                  <a:tcPr marL="54864" marR="54864" marT="18288" marB="18288" anchor="ctr">
                    <a:solidFill>
                      <a:srgbClr val="ECECFA"/>
                    </a:solidFill>
                  </a:tcPr>
                </a:tc>
              </a:tr>
              <a:tr h="292608">
                <a:tc>
                  <a:txBody>
                    <a:bodyPr wrap="square"/>
                    <a:lstStyle/>
                    <a:p>
                      <a:r>
                        <a:rPr sz="1000" b="0">
                          <a:solidFill>
                            <a:srgbClr val="1A1A1A"/>
                          </a:solidFill>
                          <a:latin typeface="Times New Roman"/>
                        </a:rPr>
                        <a:t>camera_bridge (JPEG)</a:t>
                      </a:r>
                    </a:p>
                  </a:txBody>
                  <a:tcPr marL="54864" marR="54864" marT="18288" marB="18288" anchor="ctr">
                    <a:solidFill>
                      <a:srgbClr val="FFFFFF"/>
                    </a:solidFill>
                  </a:tcPr>
                </a:tc>
                <a:tc>
                  <a:txBody>
                    <a:bodyPr wrap="square"/>
                    <a:lstStyle/>
                    <a:p>
                      <a:r>
                        <a:rPr sz="1000" b="0">
                          <a:solidFill>
                            <a:srgbClr val="1A1A1A"/>
                          </a:solidFill>
                          <a:latin typeface="Times New Roman"/>
                        </a:rPr>
                        <a:t>9</a:t>
                      </a:r>
                    </a:p>
                  </a:txBody>
                  <a:tcPr marL="54864" marR="54864" marT="18288" marB="18288" anchor="ctr">
                    <a:solidFill>
                      <a:srgbClr val="FFFFFF"/>
                    </a:solidFill>
                  </a:tcPr>
                </a:tc>
              </a:tr>
              <a:tr h="292608">
                <a:tc>
                  <a:txBody>
                    <a:bodyPr wrap="square"/>
                    <a:lstStyle/>
                    <a:p>
                      <a:r>
                        <a:rPr sz="1000" b="0">
                          <a:solidFill>
                            <a:srgbClr val="1A1A1A"/>
                          </a:solidFill>
                          <a:latin typeface="Times New Roman"/>
                        </a:rPr>
                        <a:t>bt_navigator</a:t>
                      </a:r>
                    </a:p>
                  </a:txBody>
                  <a:tcPr marL="54864" marR="54864" marT="18288" marB="18288" anchor="ctr">
                    <a:solidFill>
                      <a:srgbClr val="ECECFA"/>
                    </a:solidFill>
                  </a:tcPr>
                </a:tc>
                <a:tc>
                  <a:txBody>
                    <a:bodyPr wrap="square"/>
                    <a:lstStyle/>
                    <a:p>
                      <a:r>
                        <a:rPr sz="1000" b="0">
                          <a:solidFill>
                            <a:srgbClr val="1A1A1A"/>
                          </a:solidFill>
                          <a:latin typeface="Times New Roman"/>
                        </a:rPr>
                        <a:t>9</a:t>
                      </a:r>
                    </a:p>
                  </a:txBody>
                  <a:tcPr marL="54864" marR="54864" marT="18288" marB="18288" anchor="ctr">
                    <a:solidFill>
                      <a:srgbClr val="ECECFA"/>
                    </a:solidFill>
                  </a:tcPr>
                </a:tc>
              </a:tr>
              <a:tr h="292608">
                <a:tc>
                  <a:txBody>
                    <a:bodyPr wrap="square"/>
                    <a:lstStyle/>
                    <a:p>
                      <a:r>
                        <a:rPr sz="1000" b="0">
                          <a:solidFill>
                            <a:srgbClr val="1A1A1A"/>
                          </a:solidFill>
                          <a:latin typeface="Times New Roman"/>
                        </a:rPr>
                        <a:t>planner_server</a:t>
                      </a:r>
                    </a:p>
                  </a:txBody>
                  <a:tcPr marL="54864" marR="54864" marT="18288" marB="18288" anchor="ctr">
                    <a:solidFill>
                      <a:srgbClr val="FFFFFF"/>
                    </a:solidFill>
                  </a:tcPr>
                </a:tc>
                <a:tc>
                  <a:txBody>
                    <a:bodyPr wrap="square"/>
                    <a:lstStyle/>
                    <a:p>
                      <a:r>
                        <a:rPr sz="1000" b="0">
                          <a:solidFill>
                            <a:srgbClr val="1A1A1A"/>
                          </a:solidFill>
                          <a:latin typeface="Times New Roman"/>
                        </a:rPr>
                        <a:t>7</a:t>
                      </a:r>
                    </a:p>
                  </a:txBody>
                  <a:tcPr marL="54864" marR="54864" marT="18288" marB="18288" anchor="ctr">
                    <a:solidFill>
                      <a:srgbClr val="FFFFFF"/>
                    </a:solidFill>
                  </a:tcPr>
                </a:tc>
              </a:tr>
              <a:tr h="292608">
                <a:tc>
                  <a:txBody>
                    <a:bodyPr wrap="square"/>
                    <a:lstStyle/>
                    <a:p>
                      <a:r>
                        <a:rPr sz="1000" b="0">
                          <a:solidFill>
                            <a:srgbClr val="1A1A1A"/>
                          </a:solidFill>
                          <a:latin typeface="Times New Roman"/>
                        </a:rPr>
                        <a:t>controller_server</a:t>
                      </a:r>
                    </a:p>
                  </a:txBody>
                  <a:tcPr marL="54864" marR="54864" marT="18288" marB="18288" anchor="ctr">
                    <a:solidFill>
                      <a:srgbClr val="ECECFA"/>
                    </a:solidFill>
                  </a:tcPr>
                </a:tc>
                <a:tc>
                  <a:txBody>
                    <a:bodyPr wrap="square"/>
                    <a:lstStyle/>
                    <a:p>
                      <a:r>
                        <a:rPr sz="1000" b="0">
                          <a:solidFill>
                            <a:srgbClr val="1A1A1A"/>
                          </a:solidFill>
                          <a:latin typeface="Times New Roman"/>
                        </a:rPr>
                        <a:t>6</a:t>
                      </a:r>
                    </a:p>
                  </a:txBody>
                  <a:tcPr marL="54864" marR="54864" marT="18288" marB="18288" anchor="ctr">
                    <a:solidFill>
                      <a:srgbClr val="ECECFA"/>
                    </a:solidFill>
                  </a:tcPr>
                </a:tc>
              </a:tr>
              <a:tr h="292608">
                <a:tc>
                  <a:txBody>
                    <a:bodyPr wrap="square"/>
                    <a:lstStyle/>
                    <a:p>
                      <a:r>
                        <a:rPr sz="1000" b="0">
                          <a:solidFill>
                            <a:srgbClr val="1A1A1A"/>
                          </a:solidFill>
                          <a:latin typeface="Times New Roman"/>
                        </a:rPr>
                        <a:t>ms200_node</a:t>
                      </a:r>
                    </a:p>
                  </a:txBody>
                  <a:tcPr marL="54864" marR="54864" marT="18288" marB="18288" anchor="ctr">
                    <a:solidFill>
                      <a:srgbClr val="FFFFFF"/>
                    </a:solidFill>
                  </a:tcPr>
                </a:tc>
                <a:tc>
                  <a:txBody>
                    <a:bodyPr wrap="square"/>
                    <a:lstStyle/>
                    <a:p>
                      <a:r>
                        <a:rPr sz="1000" b="0">
                          <a:solidFill>
                            <a:srgbClr val="1A1A1A"/>
                          </a:solidFill>
                          <a:latin typeface="Times New Roman"/>
                        </a:rPr>
                        <a:t>5</a:t>
                      </a:r>
                    </a:p>
                  </a:txBody>
                  <a:tcPr marL="54864" marR="54864" marT="18288" marB="18288" anchor="ctr">
                    <a:solidFill>
                      <a:srgbClr val="FFFFFF"/>
                    </a:solidFill>
                  </a:tcPr>
                </a:tc>
              </a:tr>
              <a:tr h="292608">
                <a:tc>
                  <a:txBody>
                    <a:bodyPr wrap="square"/>
                    <a:lstStyle/>
                    <a:p>
                      <a:r>
                        <a:rPr sz="1000" b="0">
                          <a:solidFill>
                            <a:srgbClr val="1A1A1A"/>
                          </a:solidFill>
                          <a:latin typeface="Times New Roman"/>
                        </a:rPr>
                        <a:t>behaviour, smoother, lifecycle</a:t>
                      </a:r>
                    </a:p>
                  </a:txBody>
                  <a:tcPr marL="54864" marR="54864" marT="18288" marB="18288" anchor="ctr">
                    <a:solidFill>
                      <a:srgbClr val="ECECFA"/>
                    </a:solidFill>
                  </a:tcPr>
                </a:tc>
                <a:tc>
                  <a:txBody>
                    <a:bodyPr wrap="square"/>
                    <a:lstStyle/>
                    <a:p>
                      <a:r>
                        <a:rPr sz="1000" b="0">
                          <a:solidFill>
                            <a:srgbClr val="1A1A1A"/>
                          </a:solidFill>
                          <a:latin typeface="Times New Roman"/>
                        </a:rPr>
                        <a:t>11</a:t>
                      </a:r>
                    </a:p>
                  </a:txBody>
                  <a:tcPr marL="54864" marR="54864" marT="18288" marB="18288" anchor="ctr">
                    <a:solidFill>
                      <a:srgbClr val="ECECFA"/>
                    </a:solidFill>
                  </a:tcPr>
                </a:tc>
              </a:tr>
              <a:tr h="292608">
                <a:tc>
                  <a:txBody>
                    <a:bodyPr wrap="square"/>
                    <a:lstStyle/>
                    <a:p>
                      <a:r>
                        <a:rPr sz="1000" b="0">
                          <a:solidFill>
                            <a:srgbClr val="1A1A1A"/>
                          </a:solidFill>
                          <a:latin typeface="Times New Roman"/>
                        </a:rPr>
                        <a:t>hector_mapping</a:t>
                      </a:r>
                    </a:p>
                  </a:txBody>
                  <a:tcPr marL="54864" marR="54864" marT="18288" marB="18288" anchor="ctr">
                    <a:solidFill>
                      <a:srgbClr val="FFFFFF"/>
                    </a:solidFill>
                  </a:tcPr>
                </a:tc>
                <a:tc>
                  <a:txBody>
                    <a:bodyPr wrap="square"/>
                    <a:lstStyle/>
                    <a:p>
                      <a:r>
                        <a:rPr sz="1000" b="0">
                          <a:solidFill>
                            <a:srgbClr val="1A1A1A"/>
                          </a:solidFill>
                          <a:latin typeface="Times New Roman"/>
                        </a:rPr>
                        <a:t>3</a:t>
                      </a:r>
                    </a:p>
                  </a:txBody>
                  <a:tcPr marL="54864" marR="54864" marT="18288" marB="18288" anchor="ctr">
                    <a:solidFill>
                      <a:srgbClr val="FFFFFF"/>
                    </a:solidFill>
                  </a:tcPr>
                </a:tc>
              </a:tr>
              <a:tr h="292608">
                <a:tc>
                  <a:txBody>
                    <a:bodyPr wrap="square"/>
                    <a:lstStyle/>
                    <a:p>
                      <a:r>
                        <a:rPr sz="1000" b="0">
                          <a:solidFill>
                            <a:srgbClr val="1A1A1A"/>
                          </a:solidFill>
                          <a:latin typeface="Times New Roman"/>
                        </a:rPr>
                        <a:t>total (of 400), 52 °C, no throttle</a:t>
                      </a:r>
                    </a:p>
                  </a:txBody>
                  <a:tcPr marL="54864" marR="54864" marT="18288" marB="18288" anchor="ctr">
                    <a:solidFill>
                      <a:srgbClr val="ECECFA"/>
                    </a:solidFill>
                  </a:tcPr>
                </a:tc>
                <a:tc>
                  <a:txBody>
                    <a:bodyPr wrap="square"/>
                    <a:lstStyle/>
                    <a:p>
                      <a:r>
                        <a:rPr sz="1000" b="0">
                          <a:solidFill>
                            <a:srgbClr val="1A1A1A"/>
                          </a:solidFill>
                          <a:latin typeface="Times New Roman"/>
                        </a:rPr>
                        <a:t>≈ 150</a:t>
                      </a:r>
                    </a:p>
                  </a:txBody>
                  <a:tcPr marL="54864" marR="54864" marT="18288" marB="18288" anchor="ctr">
                    <a:solidFill>
                      <a:srgbClr val="ECECFA"/>
                    </a:solidFill>
                  </a:tcPr>
                </a:tc>
              </a:tr>
            </a:tbl>
          </a:graphicData>
        </a:graphic>
      </p:graphicFrame>
      <p:sp>
        <p:nvSpPr>
          <p:cNvPr id="17" name="TextBox 16"/>
          <p:cNvSpPr txBox="1"/>
          <p:nvPr/>
        </p:nvSpPr>
        <p:spPr>
          <a:xfrm>
            <a:off x="4663440" y="1234440"/>
            <a:ext cx="3977639"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Placement</a:t>
            </a:r>
          </a:p>
        </p:txBody>
      </p:sp>
      <p:sp>
        <p:nvSpPr>
          <p:cNvPr id="18" name="TextBox 17"/>
          <p:cNvSpPr txBox="1"/>
          <p:nvPr/>
        </p:nvSpPr>
        <p:spPr>
          <a:xfrm>
            <a:off x="4663440" y="1600200"/>
            <a:ext cx="3977639" cy="1463040"/>
          </a:xfrm>
          <a:prstGeom prst="rect">
            <a:avLst/>
          </a:prstGeom>
          <a:noFill/>
        </p:spPr>
        <p:txBody>
          <a:bodyPr wrap="square" anchor="t" lIns="45720" rIns="45720">
            <a:spAutoFit/>
          </a:bodyPr>
          <a:lstStyle/>
          <a:p>
            <a:pPr algn="l">
              <a:spcAft>
                <a:spcPts val="400"/>
              </a:spcAft>
            </a:pPr>
            <a:r>
              <a:rPr sz="1100" b="0" i="0">
                <a:solidFill>
                  <a:srgbClr val="1A1A1A"/>
                </a:solidFill>
                <a:latin typeface="Times New Roman"/>
              </a:rPr>
              <a:t>Scan over Wi-Fi: ≈ 2 KB × 10 Hz = 20 KB/s, +6 ms latency</a:t>
            </a:r>
          </a:p>
          <a:p>
            <a:pPr algn="l">
              <a:spcAft>
                <a:spcPts val="400"/>
              </a:spcAft>
            </a:pPr>
            <a:r>
              <a:rPr sz="1100" b="0" i="0">
                <a:solidFill>
                  <a:srgbClr val="1A1A1A"/>
                </a:solidFill>
                <a:latin typeface="Times New Roman"/>
              </a:rPr>
              <a:t>Control loop on board: a drop &gt; 0.5 s would otherwise stop the robot (cmd_vel timeout)</a:t>
            </a:r>
          </a:p>
          <a:p>
            <a:pPr algn="l">
              <a:spcAft>
                <a:spcPts val="400"/>
              </a:spcAft>
            </a:pPr>
            <a:r>
              <a:rPr sz="1100" b="0" i="0">
                <a:solidFill>
                  <a:srgbClr val="1A1A1A"/>
                </a:solidFill>
                <a:latin typeface="Times New Roman"/>
              </a:rPr>
              <a:t>Movable to the PC if needed: explorer + global planner (not time-critical)</a:t>
            </a:r>
          </a:p>
        </p:txBody>
      </p:sp>
      <p:sp>
        <p:nvSpPr>
          <p:cNvPr id="19" name="TextBox 18"/>
          <p:cNvSpPr txBox="1"/>
          <p:nvPr/>
        </p:nvSpPr>
        <p:spPr>
          <a:xfrm>
            <a:off x="4663440" y="3154680"/>
            <a:ext cx="3977639" cy="365760"/>
          </a:xfrm>
          <a:prstGeom prst="rect">
            <a:avLst/>
          </a:prstGeom>
          <a:noFill/>
        </p:spPr>
        <p:txBody>
          <a:bodyPr wrap="square" anchor="t" lIns="45720" rIns="45720">
            <a:spAutoFit/>
          </a:bodyPr>
          <a:lstStyle/>
          <a:p>
            <a:pPr algn="l">
              <a:spcAft>
                <a:spcPts val="0"/>
              </a:spcAft>
            </a:pPr>
            <a:r>
              <a:rPr sz="1600" b="1" i="0">
                <a:solidFill>
                  <a:srgbClr val="0000CC"/>
                </a:solidFill>
                <a:latin typeface="Times New Roman"/>
              </a:rPr>
              <a:t>Middleware</a:t>
            </a:r>
          </a:p>
        </p:txBody>
      </p:sp>
      <p:sp>
        <p:nvSpPr>
          <p:cNvPr id="20" name="TextBox 19"/>
          <p:cNvSpPr txBox="1"/>
          <p:nvPr/>
        </p:nvSpPr>
        <p:spPr>
          <a:xfrm>
            <a:off x="4663440" y="3520440"/>
            <a:ext cx="3977639" cy="1737360"/>
          </a:xfrm>
          <a:prstGeom prst="rect">
            <a:avLst/>
          </a:prstGeom>
          <a:noFill/>
        </p:spPr>
        <p:txBody>
          <a:bodyPr wrap="square" anchor="t" lIns="45720" rIns="45720">
            <a:spAutoFit/>
          </a:bodyPr>
          <a:lstStyle/>
          <a:p>
            <a:pPr algn="l">
              <a:spcAft>
                <a:spcPts val="400"/>
              </a:spcAft>
            </a:pPr>
            <a:r>
              <a:rPr sz="1100" b="0" i="0">
                <a:solidFill>
                  <a:srgbClr val="1A1A1A"/>
                </a:solidFill>
                <a:latin typeface="Times New Roman"/>
              </a:rPr>
              <a:t>PC Cyclone, robot Fast DDS → camera frames lost after driver restart (shared memory), explorer state garbled on the PC</a:t>
            </a:r>
          </a:p>
          <a:p>
            <a:pPr algn="l">
              <a:spcAft>
                <a:spcPts val="400"/>
              </a:spcAft>
            </a:pPr>
            <a:r>
              <a:rPr sz="1100" b="0" i="0">
                <a:solidFill>
                  <a:srgbClr val="1A1A1A"/>
                </a:solidFill>
                <a:latin typeface="Times New Roman"/>
              </a:rPr>
              <a:t>Fix: Cyclone on both (service drop-in rmw.conf)</a:t>
            </a:r>
          </a:p>
          <a:p>
            <a:pPr algn="l">
              <a:spcAft>
                <a:spcPts val="400"/>
              </a:spcAft>
            </a:pPr>
            <a:r>
              <a:rPr sz="1100" b="0" i="0">
                <a:solidFill>
                  <a:srgbClr val="1A1A1A"/>
                </a:solidFill>
                <a:latin typeface="Times New Roman"/>
              </a:rPr>
              <a:t>Humble ↔ Jazzy NavigateToPose differ: action stays on the Pi</a:t>
            </a:r>
          </a:p>
        </p:txBody>
      </p:sp>
      <p:sp>
        <p:nvSpPr>
          <p:cNvPr id="21" name="Rounded Rectangle 2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The Pi has headroom: the 0.1 m/s tracks, not the CPU, set the pace.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The Bug the Wheels Could Not See</a:t>
            </a:r>
          </a:p>
          <a:p>
            <a:pPr algn="just"/>
            <a:r>
              <a:rPr lang="en-US" sz="2500" dirty="0">
                <a:solidFill>
                  <a:srgbClr val="FFFFFF"/>
                </a:solidFill>
                <a:latin typeface="Times" panose="02020603050405020304" pitchFamily="18" charset="0"/>
                <a:cs typeface="Times" panose="02020603050405020304" pitchFamily="18" charset="0"/>
              </a:rPr>
              <a:t>Inverted motor signs, found with the lidar only</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15</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TextBox 15"/>
          <p:cNvSpPr txBox="1"/>
          <p:nvPr/>
        </p:nvSpPr>
        <p:spPr>
          <a:xfrm>
            <a:off x="502920" y="1188720"/>
            <a:ext cx="8138160" cy="548640"/>
          </a:xfrm>
          <a:prstGeom prst="rect">
            <a:avLst/>
          </a:prstGeom>
          <a:noFill/>
        </p:spPr>
        <p:txBody>
          <a:bodyPr wrap="square" anchor="t" lIns="45720" rIns="45720">
            <a:spAutoFit/>
          </a:bodyPr>
          <a:lstStyle/>
          <a:p>
            <a:pPr algn="l">
              <a:spcAft>
                <a:spcPts val="0"/>
              </a:spcAft>
            </a:pPr>
            <a:r>
              <a:rPr sz="1400" b="0" i="0">
                <a:solidFill>
                  <a:srgbClr val="1A1A1A"/>
                </a:solidFill>
                <a:latin typeface="Times New Roman"/>
              </a:rPr>
              <a:t>Commanded left turn, 20 s: encoder odometry +383°, Hector −678°. Mirrored lidar, or a robot turning the wrong way?</a:t>
            </a:r>
          </a:p>
        </p:txBody>
      </p:sp>
      <p:sp>
        <p:nvSpPr>
          <p:cNvPr id="17" name="Rounded Rectangle 16"/>
          <p:cNvSpPr/>
          <p:nvPr/>
        </p:nvSpPr>
        <p:spPr>
          <a:xfrm>
            <a:off x="502920" y="1783080"/>
            <a:ext cx="4023360" cy="1234440"/>
          </a:xfrm>
          <a:prstGeom prst="roundRect">
            <a:avLst>
              <a:gd name="adj" fmla="val 8000"/>
            </a:avLst>
          </a:prstGeom>
          <a:solidFill>
            <a:srgbClr val="FFFFFF"/>
          </a:solidFill>
          <a:ln w="19050">
            <a:solidFill>
              <a:srgbClr val="0000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4360" y="1828800"/>
            <a:ext cx="3840480" cy="1143000"/>
          </a:xfrm>
          <a:prstGeom prst="rect">
            <a:avLst/>
          </a:prstGeom>
          <a:noFill/>
        </p:spPr>
        <p:txBody>
          <a:bodyPr wrap="square" anchor="ctr" lIns="45720" rIns="45720">
            <a:spAutoFit/>
          </a:bodyPr>
          <a:lstStyle/>
          <a:p>
            <a:pPr algn="ctr">
              <a:spcAft>
                <a:spcPts val="400"/>
              </a:spcAft>
            </a:pPr>
            <a:r>
              <a:rPr sz="1400" b="0" i="0">
                <a:solidFill>
                  <a:srgbClr val="1A1A1A"/>
                </a:solidFill>
                <a:latin typeface="Times New Roman"/>
              </a:rPr>
              <a:t>k* = argmin_k median_i | A_i − B_{i+k} |</a:t>
            </a:r>
          </a:p>
          <a:p>
            <a:pPr algn="ctr">
              <a:spcAft>
                <a:spcPts val="400"/>
              </a:spcAft>
            </a:pPr>
            <a:r>
              <a:rPr sz="1400" b="0" i="0">
                <a:solidFill>
                  <a:srgbClr val="1A1A1A"/>
                </a:solidFill>
                <a:latin typeface="Times New Roman"/>
              </a:rPr>
              <a:t>Δψ = 0.8° · k*</a:t>
            </a:r>
          </a:p>
          <a:p>
            <a:pPr algn="ctr">
              <a:spcAft>
                <a:spcPts val="400"/>
              </a:spcAft>
            </a:pPr>
            <a:r>
              <a:rPr sz="1000" b="0" i="0">
                <a:solidFill>
                  <a:srgbClr val="55555F"/>
                </a:solidFill>
                <a:latin typeface="Times New Roman"/>
              </a:rPr>
              <a:t>A, B: range vectors (450 rays) before/after; valid rays only</a:t>
            </a:r>
          </a:p>
        </p:txBody>
      </p:sp>
      <p:graphicFrame>
        <p:nvGraphicFramePr>
          <p:cNvPr id="19" name="Table 18"/>
          <p:cNvGraphicFramePr>
            <a:graphicFrameLocks noGrp="1"/>
          </p:cNvGraphicFramePr>
          <p:nvPr/>
        </p:nvGraphicFramePr>
        <p:xfrm>
          <a:off x="4709160" y="1783080"/>
          <a:ext cx="3931920" cy="2112264"/>
        </p:xfrm>
        <a:graphic>
          <a:graphicData uri="http://schemas.openxmlformats.org/drawingml/2006/table">
            <a:tbl>
              <a:tblPr firstRow="0" bandRow="0"/>
              <a:tblGrid>
                <a:gridCol w="1737360"/>
                <a:gridCol w="1097280"/>
                <a:gridCol w="1097280"/>
              </a:tblGrid>
              <a:tr h="301752">
                <a:tc>
                  <a:txBody>
                    <a:bodyPr wrap="square"/>
                    <a:lstStyle/>
                    <a:p>
                      <a:r>
                        <a:rPr sz="1100" b="1">
                          <a:solidFill>
                            <a:srgbClr val="FFFFFF"/>
                          </a:solidFill>
                          <a:latin typeface="Times New Roman"/>
                        </a:rPr>
                        <a:t>Command (1.5 s)</a:t>
                      </a:r>
                    </a:p>
                  </a:txBody>
                  <a:tcPr marL="54864" marR="54864" marT="18288" marB="18288" anchor="ctr">
                    <a:solidFill>
                      <a:srgbClr val="0000CC"/>
                    </a:solidFill>
                  </a:tcPr>
                </a:tc>
                <a:tc>
                  <a:txBody>
                    <a:bodyPr wrap="square"/>
                    <a:lstStyle/>
                    <a:p>
                      <a:r>
                        <a:rPr sz="1100" b="1">
                          <a:solidFill>
                            <a:srgbClr val="FFFFFF"/>
                          </a:solidFill>
                          <a:latin typeface="Times New Roman"/>
                        </a:rPr>
                        <a:t>Scan</a:t>
                      </a:r>
                    </a:p>
                  </a:txBody>
                  <a:tcPr marL="54864" marR="54864" marT="18288" marB="18288" anchor="ctr">
                    <a:solidFill>
                      <a:srgbClr val="0000CC"/>
                    </a:solidFill>
                  </a:tcPr>
                </a:tc>
                <a:tc>
                  <a:txBody>
                    <a:bodyPr wrap="square"/>
                    <a:lstStyle/>
                    <a:p>
                      <a:r>
                        <a:rPr sz="1100" b="1">
                          <a:solidFill>
                            <a:srgbClr val="FFFFFF"/>
                          </a:solidFill>
                          <a:latin typeface="Times New Roman"/>
                        </a:rPr>
                        <a:t>Encoders</a:t>
                      </a:r>
                    </a:p>
                  </a:txBody>
                  <a:tcPr marL="54864" marR="54864" marT="18288" marB="18288" anchor="ctr">
                    <a:solidFill>
                      <a:srgbClr val="0000CC"/>
                    </a:solidFill>
                  </a:tcPr>
                </a:tc>
              </a:tr>
              <a:tr h="301752">
                <a:tc>
                  <a:txBody>
                    <a:bodyPr wrap="square"/>
                    <a:lstStyle/>
                    <a:p>
                      <a:r>
                        <a:rPr sz="1100" b="0">
                          <a:solidFill>
                            <a:srgbClr val="1A1A1A"/>
                          </a:solidFill>
                          <a:latin typeface="Times New Roman"/>
                        </a:rPr>
                        <a:t>before: turn +0.25</a:t>
                      </a:r>
                    </a:p>
                  </a:txBody>
                  <a:tcPr marL="54864" marR="54864" marT="18288" marB="18288" anchor="ctr">
                    <a:solidFill>
                      <a:srgbClr val="ECECFA"/>
                    </a:solidFill>
                  </a:tcPr>
                </a:tc>
                <a:tc>
                  <a:txBody>
                    <a:bodyPr wrap="square"/>
                    <a:lstStyle/>
                    <a:p>
                      <a:r>
                        <a:rPr sz="1100" b="0">
                          <a:solidFill>
                            <a:srgbClr val="1A1A1A"/>
                          </a:solidFill>
                          <a:latin typeface="Times New Roman"/>
                        </a:rPr>
                        <a:t>−51.2°</a:t>
                      </a:r>
                    </a:p>
                  </a:txBody>
                  <a:tcPr marL="54864" marR="54864" marT="18288" marB="18288" anchor="ctr">
                    <a:solidFill>
                      <a:srgbClr val="ECECFA"/>
                    </a:solidFill>
                  </a:tcPr>
                </a:tc>
                <a:tc>
                  <a:txBody>
                    <a:bodyPr wrap="square"/>
                    <a:lstStyle/>
                    <a:p>
                      <a:r>
                        <a:rPr sz="1100" b="0">
                          <a:solidFill>
                            <a:srgbClr val="1A1A1A"/>
                          </a:solidFill>
                          <a:latin typeface="Times New Roman"/>
                        </a:rPr>
                        <a:t>+28.5°</a:t>
                      </a:r>
                    </a:p>
                  </a:txBody>
                  <a:tcPr marL="54864" marR="54864" marT="18288" marB="18288" anchor="ctr">
                    <a:solidFill>
                      <a:srgbClr val="ECECFA"/>
                    </a:solidFill>
                  </a:tcPr>
                </a:tc>
              </a:tr>
              <a:tr h="301752">
                <a:tc>
                  <a:txBody>
                    <a:bodyPr wrap="square"/>
                    <a:lstStyle/>
                    <a:p>
                      <a:r>
                        <a:rPr sz="1100" b="0">
                          <a:solidFill>
                            <a:srgbClr val="1A1A1A"/>
                          </a:solidFill>
                          <a:latin typeface="Times New Roman"/>
                        </a:rPr>
                        <a:t>before: turn −0.25</a:t>
                      </a:r>
                    </a:p>
                  </a:txBody>
                  <a:tcPr marL="54864" marR="54864" marT="18288" marB="18288" anchor="ctr">
                    <a:solidFill>
                      <a:srgbClr val="FFFFFF"/>
                    </a:solidFill>
                  </a:tcPr>
                </a:tc>
                <a:tc>
                  <a:txBody>
                    <a:bodyPr wrap="square"/>
                    <a:lstStyle/>
                    <a:p>
                      <a:r>
                        <a:rPr sz="1100" b="0">
                          <a:solidFill>
                            <a:srgbClr val="1A1A1A"/>
                          </a:solidFill>
                          <a:latin typeface="Times New Roman"/>
                        </a:rPr>
                        <a:t>+44.8°</a:t>
                      </a:r>
                    </a:p>
                  </a:txBody>
                  <a:tcPr marL="54864" marR="54864" marT="18288" marB="18288" anchor="ctr">
                    <a:solidFill>
                      <a:srgbClr val="FFFFFF"/>
                    </a:solidFill>
                  </a:tcPr>
                </a:tc>
                <a:tc>
                  <a:txBody>
                    <a:bodyPr wrap="square"/>
                    <a:lstStyle/>
                    <a:p>
                      <a:r>
                        <a:rPr sz="1100" b="0">
                          <a:solidFill>
                            <a:srgbClr val="1A1A1A"/>
                          </a:solidFill>
                          <a:latin typeface="Times New Roman"/>
                        </a:rPr>
                        <a:t>−28.8°</a:t>
                      </a:r>
                    </a:p>
                  </a:txBody>
                  <a:tcPr marL="54864" marR="54864" marT="18288" marB="18288" anchor="ctr">
                    <a:solidFill>
                      <a:srgbClr val="FFFFFF"/>
                    </a:solidFill>
                  </a:tcPr>
                </a:tc>
              </a:tr>
              <a:tr h="301752">
                <a:tc>
                  <a:txBody>
                    <a:bodyPr wrap="square"/>
                    <a:lstStyle/>
                    <a:p>
                      <a:r>
                        <a:rPr sz="1100" b="0">
                          <a:solidFill>
                            <a:srgbClr val="1A1A1A"/>
                          </a:solidFill>
                          <a:latin typeface="Times New Roman"/>
                        </a:rPr>
                        <a:t>after: turn +0.25</a:t>
                      </a:r>
                    </a:p>
                  </a:txBody>
                  <a:tcPr marL="54864" marR="54864" marT="18288" marB="18288" anchor="ctr">
                    <a:solidFill>
                      <a:srgbClr val="ECECFA"/>
                    </a:solidFill>
                  </a:tcPr>
                </a:tc>
                <a:tc>
                  <a:txBody>
                    <a:bodyPr wrap="square"/>
                    <a:lstStyle/>
                    <a:p>
                      <a:r>
                        <a:rPr sz="1100" b="0">
                          <a:solidFill>
                            <a:srgbClr val="1A1A1A"/>
                          </a:solidFill>
                          <a:latin typeface="Times New Roman"/>
                        </a:rPr>
                        <a:t>+43.2°</a:t>
                      </a:r>
                    </a:p>
                  </a:txBody>
                  <a:tcPr marL="54864" marR="54864" marT="18288" marB="18288" anchor="ctr">
                    <a:solidFill>
                      <a:srgbClr val="ECECFA"/>
                    </a:solidFill>
                  </a:tcPr>
                </a:tc>
                <a:tc>
                  <a:txBody>
                    <a:bodyPr wrap="square"/>
                    <a:lstStyle/>
                    <a:p>
                      <a:r>
                        <a:rPr sz="1100" b="0">
                          <a:solidFill>
                            <a:srgbClr val="1A1A1A"/>
                          </a:solidFill>
                          <a:latin typeface="Times New Roman"/>
                        </a:rPr>
                        <a:t>+46.8°</a:t>
                      </a:r>
                    </a:p>
                  </a:txBody>
                  <a:tcPr marL="54864" marR="54864" marT="18288" marB="18288" anchor="ctr">
                    <a:solidFill>
                      <a:srgbClr val="ECECFA"/>
                    </a:solidFill>
                  </a:tcPr>
                </a:tc>
              </a:tr>
              <a:tr h="301752">
                <a:tc>
                  <a:txBody>
                    <a:bodyPr wrap="square"/>
                    <a:lstStyle/>
                    <a:p>
                      <a:r>
                        <a:rPr sz="1100" b="0">
                          <a:solidFill>
                            <a:srgbClr val="1A1A1A"/>
                          </a:solidFill>
                          <a:latin typeface="Times New Roman"/>
                        </a:rPr>
                        <a:t>after: turn −0.25</a:t>
                      </a:r>
                    </a:p>
                  </a:txBody>
                  <a:tcPr marL="54864" marR="54864" marT="18288" marB="18288" anchor="ctr">
                    <a:solidFill>
                      <a:srgbClr val="FFFFFF"/>
                    </a:solidFill>
                  </a:tcPr>
                </a:tc>
                <a:tc>
                  <a:txBody>
                    <a:bodyPr wrap="square"/>
                    <a:lstStyle/>
                    <a:p>
                      <a:r>
                        <a:rPr sz="1100" b="0">
                          <a:solidFill>
                            <a:srgbClr val="1A1A1A"/>
                          </a:solidFill>
                          <a:latin typeface="Times New Roman"/>
                        </a:rPr>
                        <a:t>−47.2°</a:t>
                      </a:r>
                    </a:p>
                  </a:txBody>
                  <a:tcPr marL="54864" marR="54864" marT="18288" marB="18288" anchor="ctr">
                    <a:solidFill>
                      <a:srgbClr val="FFFFFF"/>
                    </a:solidFill>
                  </a:tcPr>
                </a:tc>
                <a:tc>
                  <a:txBody>
                    <a:bodyPr wrap="square"/>
                    <a:lstStyle/>
                    <a:p>
                      <a:r>
                        <a:rPr sz="1100" b="0">
                          <a:solidFill>
                            <a:srgbClr val="1A1A1A"/>
                          </a:solidFill>
                          <a:latin typeface="Times New Roman"/>
                        </a:rPr>
                        <a:t>−50.3°</a:t>
                      </a:r>
                    </a:p>
                  </a:txBody>
                  <a:tcPr marL="54864" marR="54864" marT="18288" marB="18288" anchor="ctr">
                    <a:solidFill>
                      <a:srgbClr val="FFFFFF"/>
                    </a:solidFill>
                  </a:tcPr>
                </a:tc>
              </a:tr>
              <a:tr h="301752">
                <a:tc>
                  <a:txBody>
                    <a:bodyPr wrap="square"/>
                    <a:lstStyle/>
                    <a:p>
                      <a:r>
                        <a:rPr sz="1100" b="0">
                          <a:solidFill>
                            <a:srgbClr val="1A1A1A"/>
                          </a:solidFill>
                          <a:latin typeface="Times New Roman"/>
                        </a:rPr>
                        <a:t>after: turn +0.40</a:t>
                      </a:r>
                    </a:p>
                  </a:txBody>
                  <a:tcPr marL="54864" marR="54864" marT="18288" marB="18288" anchor="ctr">
                    <a:solidFill>
                      <a:srgbClr val="ECECFA"/>
                    </a:solidFill>
                  </a:tcPr>
                </a:tc>
                <a:tc>
                  <a:txBody>
                    <a:bodyPr wrap="square"/>
                    <a:lstStyle/>
                    <a:p>
                      <a:r>
                        <a:rPr sz="1100" b="0">
                          <a:solidFill>
                            <a:srgbClr val="1A1A1A"/>
                          </a:solidFill>
                          <a:latin typeface="Times New Roman"/>
                        </a:rPr>
                        <a:t>+81.6°</a:t>
                      </a:r>
                    </a:p>
                  </a:txBody>
                  <a:tcPr marL="54864" marR="54864" marT="18288" marB="18288" anchor="ctr">
                    <a:solidFill>
                      <a:srgbClr val="ECECFA"/>
                    </a:solidFill>
                  </a:tcPr>
                </a:tc>
                <a:tc>
                  <a:txBody>
                    <a:bodyPr wrap="square"/>
                    <a:lstStyle/>
                    <a:p>
                      <a:r>
                        <a:rPr sz="1100" b="0">
                          <a:solidFill>
                            <a:srgbClr val="1A1A1A"/>
                          </a:solidFill>
                          <a:latin typeface="Times New Roman"/>
                        </a:rPr>
                        <a:t>+85.3°</a:t>
                      </a:r>
                    </a:p>
                  </a:txBody>
                  <a:tcPr marL="54864" marR="54864" marT="18288" marB="18288" anchor="ctr">
                    <a:solidFill>
                      <a:srgbClr val="ECECFA"/>
                    </a:solidFill>
                  </a:tcPr>
                </a:tc>
              </a:tr>
              <a:tr h="301752">
                <a:tc>
                  <a:txBody>
                    <a:bodyPr wrap="square"/>
                    <a:lstStyle/>
                    <a:p>
                      <a:r>
                        <a:rPr sz="1100" b="0">
                          <a:solidFill>
                            <a:srgbClr val="1A1A1A"/>
                          </a:solidFill>
                          <a:latin typeface="Times New Roman"/>
                        </a:rPr>
                        <a:t>after: turn −0.40</a:t>
                      </a:r>
                    </a:p>
                  </a:txBody>
                  <a:tcPr marL="54864" marR="54864" marT="18288" marB="18288" anchor="ctr">
                    <a:solidFill>
                      <a:srgbClr val="FFFFFF"/>
                    </a:solidFill>
                  </a:tcPr>
                </a:tc>
                <a:tc>
                  <a:txBody>
                    <a:bodyPr wrap="square"/>
                    <a:lstStyle/>
                    <a:p>
                      <a:r>
                        <a:rPr sz="1100" b="0">
                          <a:solidFill>
                            <a:srgbClr val="1A1A1A"/>
                          </a:solidFill>
                          <a:latin typeface="Times New Roman"/>
                        </a:rPr>
                        <a:t>−86.4°</a:t>
                      </a:r>
                    </a:p>
                  </a:txBody>
                  <a:tcPr marL="54864" marR="54864" marT="18288" marB="18288" anchor="ctr">
                    <a:solidFill>
                      <a:srgbClr val="FFFFFF"/>
                    </a:solidFill>
                  </a:tcPr>
                </a:tc>
                <a:tc>
                  <a:txBody>
                    <a:bodyPr wrap="square"/>
                    <a:lstStyle/>
                    <a:p>
                      <a:r>
                        <a:rPr sz="1100" b="0">
                          <a:solidFill>
                            <a:srgbClr val="1A1A1A"/>
                          </a:solidFill>
                          <a:latin typeface="Times New Roman"/>
                        </a:rPr>
                        <a:t>−88.5°</a:t>
                      </a:r>
                    </a:p>
                  </a:txBody>
                  <a:tcPr marL="54864" marR="54864" marT="18288" marB="18288" anchor="ctr">
                    <a:solidFill>
                      <a:srgbClr val="FFFFFF"/>
                    </a:solidFill>
                  </a:tcPr>
                </a:tc>
              </a:tr>
            </a:tbl>
          </a:graphicData>
        </a:graphic>
      </p:graphicFrame>
      <p:sp>
        <p:nvSpPr>
          <p:cNvPr id="20" name="Rounded Rectangle 19"/>
          <p:cNvSpPr/>
          <p:nvPr/>
        </p:nvSpPr>
        <p:spPr>
          <a:xfrm>
            <a:off x="502920" y="4069080"/>
            <a:ext cx="8138160" cy="11430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5800" y="4087368"/>
            <a:ext cx="7772400" cy="1097280"/>
          </a:xfrm>
          <a:prstGeom prst="rect">
            <a:avLst/>
          </a:prstGeom>
          <a:noFill/>
        </p:spPr>
        <p:txBody>
          <a:bodyPr wrap="square" anchor="ctr" lIns="45720" rIns="45720">
            <a:spAutoFit/>
          </a:bodyPr>
          <a:lstStyle/>
          <a:p>
            <a:pPr algn="l">
              <a:spcAft>
                <a:spcPts val="0"/>
              </a:spcAft>
            </a:pPr>
            <a:r>
              <a:rPr sz="1200" b="1" i="0">
                <a:solidFill>
                  <a:srgbClr val="0000CC"/>
                </a:solidFill>
                <a:latin typeface="Times New Roman"/>
              </a:rPr>
              <a:t>Diagnosis: </a:t>
            </a:r>
            <a:r>
              <a:rPr sz="1200" b="0" i="0">
                <a:solidFill>
                  <a:srgbClr val="1A1A1A"/>
                </a:solidFill>
                <a:latin typeface="Times New Roman"/>
              </a:rPr>
              <a:t>both motor signs inverted since set-up: "forward" drove toward the rear (range ahead grew 0.37 m), "left" turned right. The odometry used the same signs, so it always agreed with the command. </a:t>
            </a:r>
            <a:r>
              <a:rPr sz="1200" b="1" i="0">
                <a:solidFill>
                  <a:srgbClr val="0000CC"/>
                </a:solidFill>
                <a:latin typeface="Times New Roman"/>
              </a:rPr>
              <a:t>Fix: </a:t>
            </a:r>
            <a:r>
              <a:rPr sz="1200" b="0" i="0">
                <a:solidFill>
                  <a:srgbClr val="1A1A1A"/>
                </a:solidFill>
                <a:latin typeface="Times New Roman"/>
              </a:rPr>
              <a:t>left_sign −1, right_sign +1, track width 0.105 m; confirmed by camera frames.</a:t>
            </a:r>
          </a:p>
        </p:txBody>
      </p:sp>
      <p:sp>
        <p:nvSpPr>
          <p:cNvPr id="22" name="Rounded Rectangle 21"/>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Check motion with a sensor that does not share the motors' conventions.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Bring-Up: Seven Faults Before a Clean Map</a:t>
            </a:r>
          </a:p>
          <a:p>
            <a:pPr algn="just"/>
            <a:r>
              <a:rPr lang="en-US" sz="2500" dirty="0">
                <a:solidFill>
                  <a:srgbClr val="FFFFFF"/>
                </a:solidFill>
                <a:latin typeface="Times" panose="02020603050405020304" pitchFamily="18" charset="0"/>
                <a:cs typeface="Times" panose="02020603050405020304" pitchFamily="18" charset="0"/>
              </a:rPr>
              <a:t>Symptom, cause and fix, in the order they were found</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16</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graphicFrame>
        <p:nvGraphicFramePr>
          <p:cNvPr id="16" name="Table 15"/>
          <p:cNvGraphicFramePr>
            <a:graphicFrameLocks noGrp="1"/>
          </p:cNvGraphicFramePr>
          <p:nvPr/>
        </p:nvGraphicFramePr>
        <p:xfrm>
          <a:off x="502920" y="1234440"/>
          <a:ext cx="8138160" cy="3803904"/>
        </p:xfrm>
        <a:graphic>
          <a:graphicData uri="http://schemas.openxmlformats.org/drawingml/2006/table">
            <a:tbl>
              <a:tblPr firstRow="0" bandRow="0"/>
              <a:tblGrid>
                <a:gridCol w="2468880"/>
                <a:gridCol w="3154680"/>
                <a:gridCol w="2514600"/>
              </a:tblGrid>
              <a:tr h="475488">
                <a:tc>
                  <a:txBody>
                    <a:bodyPr wrap="square"/>
                    <a:lstStyle/>
                    <a:p>
                      <a:r>
                        <a:rPr sz="1050" b="1">
                          <a:solidFill>
                            <a:srgbClr val="FFFFFF"/>
                          </a:solidFill>
                          <a:latin typeface="Times New Roman"/>
                        </a:rPr>
                        <a:t>Symptom</a:t>
                      </a:r>
                    </a:p>
                  </a:txBody>
                  <a:tcPr marL="54864" marR="54864" marT="18288" marB="18288" anchor="ctr">
                    <a:solidFill>
                      <a:srgbClr val="0000CC"/>
                    </a:solidFill>
                  </a:tcPr>
                </a:tc>
                <a:tc>
                  <a:txBody>
                    <a:bodyPr wrap="square"/>
                    <a:lstStyle/>
                    <a:p>
                      <a:r>
                        <a:rPr sz="1050" b="1">
                          <a:solidFill>
                            <a:srgbClr val="FFFFFF"/>
                          </a:solidFill>
                          <a:latin typeface="Times New Roman"/>
                        </a:rPr>
                        <a:t>Cause</a:t>
                      </a:r>
                    </a:p>
                  </a:txBody>
                  <a:tcPr marL="54864" marR="54864" marT="18288" marB="18288" anchor="ctr">
                    <a:solidFill>
                      <a:srgbClr val="0000CC"/>
                    </a:solidFill>
                  </a:tcPr>
                </a:tc>
                <a:tc>
                  <a:txBody>
                    <a:bodyPr wrap="square"/>
                    <a:lstStyle/>
                    <a:p>
                      <a:r>
                        <a:rPr sz="1050" b="1">
                          <a:solidFill>
                            <a:srgbClr val="FFFFFF"/>
                          </a:solidFill>
                          <a:latin typeface="Times New Roman"/>
                        </a:rPr>
                        <a:t>Fix</a:t>
                      </a:r>
                    </a:p>
                  </a:txBody>
                  <a:tcPr marL="54864" marR="54864" marT="18288" marB="18288" anchor="ctr">
                    <a:solidFill>
                      <a:srgbClr val="0000CC"/>
                    </a:solidFill>
                  </a:tcPr>
                </a:tc>
              </a:tr>
              <a:tr h="475488">
                <a:tc>
                  <a:txBody>
                    <a:bodyPr wrap="square"/>
                    <a:lstStyle/>
                    <a:p>
                      <a:r>
                        <a:rPr sz="1050" b="0">
                          <a:solidFill>
                            <a:srgbClr val="1A1A1A"/>
                          </a:solidFill>
                          <a:latin typeface="Times New Roman"/>
                        </a:rPr>
                        <a:t>camera black after a driver restart</a:t>
                      </a:r>
                    </a:p>
                  </a:txBody>
                  <a:tcPr marL="54864" marR="54864" marT="18288" marB="18288" anchor="ctr">
                    <a:solidFill>
                      <a:srgbClr val="ECECFA"/>
                    </a:solidFill>
                  </a:tcPr>
                </a:tc>
                <a:tc>
                  <a:txBody>
                    <a:bodyPr wrap="square"/>
                    <a:lstStyle/>
                    <a:p>
                      <a:r>
                        <a:rPr sz="1050" b="0">
                          <a:solidFill>
                            <a:srgbClr val="1A1A1A"/>
                          </a:solidFill>
                          <a:latin typeface="Times New Roman"/>
                        </a:rPr>
                        <a:t>Fast DDS shared memory: old subscriber never rematched</a:t>
                      </a:r>
                    </a:p>
                  </a:txBody>
                  <a:tcPr marL="54864" marR="54864" marT="18288" marB="18288" anchor="ctr">
                    <a:solidFill>
                      <a:srgbClr val="ECECFA"/>
                    </a:solidFill>
                  </a:tcPr>
                </a:tc>
                <a:tc>
                  <a:txBody>
                    <a:bodyPr wrap="square"/>
                    <a:lstStyle/>
                    <a:p>
                      <a:r>
                        <a:rPr sz="1050" b="0">
                          <a:solidFill>
                            <a:srgbClr val="1A1A1A"/>
                          </a:solidFill>
                          <a:latin typeface="Times New Roman"/>
                        </a:rPr>
                        <a:t>Cyclone DDS on the robot</a:t>
                      </a:r>
                    </a:p>
                  </a:txBody>
                  <a:tcPr marL="54864" marR="54864" marT="18288" marB="18288" anchor="ctr">
                    <a:solidFill>
                      <a:srgbClr val="ECECFA"/>
                    </a:solidFill>
                  </a:tcPr>
                </a:tc>
              </a:tr>
              <a:tr h="475488">
                <a:tc>
                  <a:txBody>
                    <a:bodyPr wrap="square"/>
                    <a:lstStyle/>
                    <a:p>
                      <a:r>
                        <a:rPr sz="1050" b="0">
                          <a:solidFill>
                            <a:srgbClr val="1A1A1A"/>
                          </a:solidFill>
                          <a:latin typeface="Times New Roman"/>
                        </a:rPr>
                        <a:t>explorer "waiting for Nav2"</a:t>
                      </a:r>
                    </a:p>
                  </a:txBody>
                  <a:tcPr marL="54864" marR="54864" marT="18288" marB="18288" anchor="ctr">
                    <a:solidFill>
                      <a:srgbClr val="FFFFFF"/>
                    </a:solidFill>
                  </a:tcPr>
                </a:tc>
                <a:tc>
                  <a:txBody>
                    <a:bodyPr wrap="square"/>
                    <a:lstStyle/>
                    <a:p>
                      <a:r>
                        <a:rPr sz="1050" b="0">
                          <a:solidFill>
                            <a:srgbClr val="1A1A1A"/>
                          </a:solidFill>
                          <a:latin typeface="Times New Roman"/>
                        </a:rPr>
                        <a:t>relative action name in /robot04 namespace</a:t>
                      </a:r>
                    </a:p>
                  </a:txBody>
                  <a:tcPr marL="54864" marR="54864" marT="18288" marB="18288" anchor="ctr">
                    <a:solidFill>
                      <a:srgbClr val="FFFFFF"/>
                    </a:solidFill>
                  </a:tcPr>
                </a:tc>
                <a:tc>
                  <a:txBody>
                    <a:bodyPr wrap="square"/>
                    <a:lstStyle/>
                    <a:p>
                      <a:r>
                        <a:rPr sz="1050" b="0">
                          <a:solidFill>
                            <a:srgbClr val="1A1A1A"/>
                          </a:solidFill>
                          <a:latin typeface="Times New Roman"/>
                        </a:rPr>
                        <a:t>/navigate_to_pose</a:t>
                      </a:r>
                    </a:p>
                  </a:txBody>
                  <a:tcPr marL="54864" marR="54864" marT="18288" marB="18288" anchor="ctr">
                    <a:solidFill>
                      <a:srgbClr val="FFFFFF"/>
                    </a:solidFill>
                  </a:tcPr>
                </a:tc>
              </a:tr>
              <a:tr h="475488">
                <a:tc>
                  <a:txBody>
                    <a:bodyPr wrap="square"/>
                    <a:lstStyle/>
                    <a:p>
                      <a:r>
                        <a:rPr sz="1050" b="0">
                          <a:solidFill>
                            <a:srgbClr val="1A1A1A"/>
                          </a:solidFill>
                          <a:latin typeface="Times New Roman"/>
                        </a:rPr>
                        <a:t>explorer crashed on first failure</a:t>
                      </a:r>
                    </a:p>
                  </a:txBody>
                  <a:tcPr marL="54864" marR="54864" marT="18288" marB="18288" anchor="ctr">
                    <a:solidFill>
                      <a:srgbClr val="ECECFA"/>
                    </a:solidFill>
                  </a:tcPr>
                </a:tc>
                <a:tc>
                  <a:txBody>
                    <a:bodyPr wrap="square"/>
                    <a:lstStyle/>
                    <a:p>
                      <a:r>
                        <a:rPr sz="1050" b="0">
                          <a:solidFill>
                            <a:srgbClr val="1A1A1A"/>
                          </a:solidFill>
                          <a:latin typeface="Times New Roman"/>
                        </a:rPr>
                        <a:t>keyword clash in the event logger</a:t>
                      </a:r>
                    </a:p>
                  </a:txBody>
                  <a:tcPr marL="54864" marR="54864" marT="18288" marB="18288" anchor="ctr">
                    <a:solidFill>
                      <a:srgbClr val="ECECFA"/>
                    </a:solidFill>
                  </a:tcPr>
                </a:tc>
                <a:tc>
                  <a:txBody>
                    <a:bodyPr wrap="square"/>
                    <a:lstStyle/>
                    <a:p>
                      <a:r>
                        <a:rPr sz="1050" b="0">
                          <a:solidFill>
                            <a:srgbClr val="1A1A1A"/>
                          </a:solidFill>
                          <a:latin typeface="Times New Roman"/>
                        </a:rPr>
                        <a:t>rename + guarded callbacks + respawn</a:t>
                      </a:r>
                    </a:p>
                  </a:txBody>
                  <a:tcPr marL="54864" marR="54864" marT="18288" marB="18288" anchor="ctr">
                    <a:solidFill>
                      <a:srgbClr val="ECECFA"/>
                    </a:solidFill>
                  </a:tcPr>
                </a:tc>
              </a:tr>
              <a:tr h="475488">
                <a:tc>
                  <a:txBody>
                    <a:bodyPr wrap="square"/>
                    <a:lstStyle/>
                    <a:p>
                      <a:r>
                        <a:rPr sz="1050" b="0">
                          <a:solidFill>
                            <a:srgbClr val="1A1A1A"/>
                          </a:solidFill>
                          <a:latin typeface="Times New Roman"/>
                        </a:rPr>
                        <a:t>goals aborted: "unable to transform"</a:t>
                      </a:r>
                    </a:p>
                  </a:txBody>
                  <a:tcPr marL="54864" marR="54864" marT="18288" marB="18288" anchor="ctr">
                    <a:solidFill>
                      <a:srgbClr val="FFFFFF"/>
                    </a:solidFill>
                  </a:tcPr>
                </a:tc>
                <a:tc>
                  <a:txBody>
                    <a:bodyPr wrap="square"/>
                    <a:lstStyle/>
                    <a:p>
                      <a:r>
                        <a:rPr sz="1050" b="0">
                          <a:solidFill>
                            <a:srgbClr val="1A1A1A"/>
                          </a:solidFill>
                          <a:latin typeface="Times New Roman"/>
                        </a:rPr>
                        <a:t>Hector TF stamped with scan time (0.1–0.2 s old)</a:t>
                      </a:r>
                    </a:p>
                  </a:txBody>
                  <a:tcPr marL="54864" marR="54864" marT="18288" marB="18288" anchor="ctr">
                    <a:solidFill>
                      <a:srgbClr val="FFFFFF"/>
                    </a:solidFill>
                  </a:tcPr>
                </a:tc>
                <a:tc>
                  <a:txBody>
                    <a:bodyPr wrap="square"/>
                    <a:lstStyle/>
                    <a:p>
                      <a:r>
                        <a:rPr sz="1050" b="0">
                          <a:solidFill>
                            <a:srgbClr val="1A1A1A"/>
                          </a:solidFill>
                          <a:latin typeface="Times New Roman"/>
                        </a:rPr>
                        <a:t>transform tolerance 1.0 s</a:t>
                      </a:r>
                    </a:p>
                  </a:txBody>
                  <a:tcPr marL="54864" marR="54864" marT="18288" marB="18288" anchor="ctr">
                    <a:solidFill>
                      <a:srgbClr val="FFFFFF"/>
                    </a:solidFill>
                  </a:tcPr>
                </a:tc>
              </a:tr>
              <a:tr h="475488">
                <a:tc>
                  <a:txBody>
                    <a:bodyPr wrap="square"/>
                    <a:lstStyle/>
                    <a:p>
                      <a:r>
                        <a:rPr sz="1050" b="0">
                          <a:solidFill>
                            <a:srgbClr val="1A1A1A"/>
                          </a:solidFill>
                          <a:latin typeface="Times New Roman"/>
                        </a:rPr>
                        <a:t>controller at 5–6 Hz</a:t>
                      </a:r>
                    </a:p>
                  </a:txBody>
                  <a:tcPr marL="54864" marR="54864" marT="18288" marB="18288" anchor="ctr">
                    <a:solidFill>
                      <a:srgbClr val="ECECFA"/>
                    </a:solidFill>
                  </a:tcPr>
                </a:tc>
                <a:tc>
                  <a:txBody>
                    <a:bodyPr wrap="square"/>
                    <a:lstStyle/>
                    <a:p>
                      <a:r>
                        <a:rPr sz="1050" b="0">
                          <a:solidFill>
                            <a:srgbClr val="1A1A1A"/>
                          </a:solidFill>
                          <a:latin typeface="Times New Roman"/>
                        </a:rPr>
                        <a:t>local costmap 5 Hz &lt; controller 8 Hz</a:t>
                      </a:r>
                    </a:p>
                  </a:txBody>
                  <a:tcPr marL="54864" marR="54864" marT="18288" marB="18288" anchor="ctr">
                    <a:solidFill>
                      <a:srgbClr val="ECECFA"/>
                    </a:solidFill>
                  </a:tcPr>
                </a:tc>
                <a:tc>
                  <a:txBody>
                    <a:bodyPr wrap="square"/>
                    <a:lstStyle/>
                    <a:p>
                      <a:r>
                        <a:rPr sz="1050" b="0">
                          <a:solidFill>
                            <a:srgbClr val="1A1A1A"/>
                          </a:solidFill>
                          <a:latin typeface="Times New Roman"/>
                        </a:rPr>
                        <a:t>local costmap 10 Hz</a:t>
                      </a:r>
                    </a:p>
                  </a:txBody>
                  <a:tcPr marL="54864" marR="54864" marT="18288" marB="18288" anchor="ctr">
                    <a:solidFill>
                      <a:srgbClr val="ECECFA"/>
                    </a:solidFill>
                  </a:tcPr>
                </a:tc>
              </a:tr>
              <a:tr h="475488">
                <a:tc>
                  <a:txBody>
                    <a:bodyPr wrap="square"/>
                    <a:lstStyle/>
                    <a:p>
                      <a:r>
                        <a:rPr sz="1050" b="0">
                          <a:solidFill>
                            <a:srgbClr val="1A1A1A"/>
                          </a:solidFill>
                          <a:latin typeface="Times New Roman"/>
                        </a:rPr>
                        <a:t>walls drawn twice, map smeared</a:t>
                      </a:r>
                    </a:p>
                  </a:txBody>
                  <a:tcPr marL="54864" marR="54864" marT="18288" marB="18288" anchor="ctr">
                    <a:solidFill>
                      <a:srgbClr val="FFFFFF"/>
                    </a:solidFill>
                  </a:tcPr>
                </a:tc>
                <a:tc>
                  <a:txBody>
                    <a:bodyPr wrap="square"/>
                    <a:lstStyle/>
                    <a:p>
                      <a:r>
                        <a:rPr sz="1050" b="0">
                          <a:solidFill>
                            <a:srgbClr val="1A1A1A"/>
                          </a:solidFill>
                          <a:latin typeface="Times New Roman"/>
                        </a:rPr>
                        <a:t>both motor signs inverted, track width 0.17</a:t>
                      </a:r>
                    </a:p>
                  </a:txBody>
                  <a:tcPr marL="54864" marR="54864" marT="18288" marB="18288" anchor="ctr">
                    <a:solidFill>
                      <a:srgbClr val="FFFFFF"/>
                    </a:solidFill>
                  </a:tcPr>
                </a:tc>
                <a:tc>
                  <a:txBody>
                    <a:bodyPr wrap="square"/>
                    <a:lstStyle/>
                    <a:p>
                      <a:r>
                        <a:rPr sz="1050" b="0">
                          <a:solidFill>
                            <a:srgbClr val="1A1A1A"/>
                          </a:solidFill>
                          <a:latin typeface="Times New Roman"/>
                        </a:rPr>
                        <a:t>signs −1/+1, b = 0.105 m</a:t>
                      </a:r>
                    </a:p>
                  </a:txBody>
                  <a:tcPr marL="54864" marR="54864" marT="18288" marB="18288" anchor="ctr">
                    <a:solidFill>
                      <a:srgbClr val="FFFFFF"/>
                    </a:solidFill>
                  </a:tcPr>
                </a:tc>
              </a:tr>
              <a:tr h="475488">
                <a:tc>
                  <a:txBody>
                    <a:bodyPr wrap="square"/>
                    <a:lstStyle/>
                    <a:p>
                      <a:r>
                        <a:rPr sz="1050" b="0">
                          <a:solidFill>
                            <a:srgbClr val="1A1A1A"/>
                          </a:solidFill>
                          <a:latin typeface="Times New Roman"/>
                        </a:rPr>
                        <a:t>one goal sent 39 times</a:t>
                      </a:r>
                    </a:p>
                  </a:txBody>
                  <a:tcPr marL="54864" marR="54864" marT="18288" marB="18288" anchor="ctr">
                    <a:solidFill>
                      <a:srgbClr val="ECECFA"/>
                    </a:solidFill>
                  </a:tcPr>
                </a:tc>
                <a:tc>
                  <a:txBody>
                    <a:bodyPr wrap="square"/>
                    <a:lstStyle/>
                    <a:p>
                      <a:r>
                        <a:rPr sz="1050" b="0">
                          <a:solidFill>
                            <a:srgbClr val="1A1A1A"/>
                          </a:solidFill>
                          <a:latin typeface="Times New Roman"/>
                        </a:rPr>
                        <a:t>reached frontier that never clears</a:t>
                      </a:r>
                    </a:p>
                  </a:txBody>
                  <a:tcPr marL="54864" marR="54864" marT="18288" marB="18288" anchor="ctr">
                    <a:solidFill>
                      <a:srgbClr val="ECECFA"/>
                    </a:solidFill>
                  </a:tcPr>
                </a:tc>
                <a:tc>
                  <a:txBody>
                    <a:bodyPr wrap="square"/>
                    <a:lstStyle/>
                    <a:p>
                      <a:r>
                        <a:rPr sz="1050" b="0">
                          <a:solidFill>
                            <a:srgbClr val="1A1A1A"/>
                          </a:solidFill>
                          <a:latin typeface="Times New Roman"/>
                        </a:rPr>
                        <a:t>blacklist reached goals</a:t>
                      </a:r>
                    </a:p>
                  </a:txBody>
                  <a:tcPr marL="54864" marR="54864" marT="18288" marB="18288" anchor="ctr">
                    <a:solidFill>
                      <a:srgbClr val="ECECFA"/>
                    </a:solidFill>
                  </a:tcPr>
                </a:tc>
              </a:tr>
            </a:tbl>
          </a:graphicData>
        </a:graphic>
      </p:graphicFrame>
      <p:sp>
        <p:nvSpPr>
          <p:cNvPr id="17" name="Rounded Rectangle 16"/>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None of the seven was in an algorithm; all were at an interface.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Watching and Steering from the PC</a:t>
            </a:r>
          </a:p>
          <a:p>
            <a:pPr algn="just"/>
            <a:r>
              <a:rPr lang="en-US" sz="2500" dirty="0">
                <a:solidFill>
                  <a:srgbClr val="FFFFFF"/>
                </a:solidFill>
                <a:latin typeface="Times" panose="02020603050405020304" pitchFamily="18" charset="0"/>
                <a:cs typeface="Times" panose="02020603050405020304" pitchFamily="18" charset="0"/>
              </a:rPr>
              <a:t>robot04 mapper (PyQt5, ROS 2 Humble)</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17</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mapper_app.png"/>
          <p:cNvPicPr>
            <a:picLocks noChangeAspect="1"/>
          </p:cNvPicPr>
          <p:nvPr/>
        </p:nvPicPr>
        <p:blipFill>
          <a:blip r:embed="rId2"/>
          <a:stretch>
            <a:fillRect/>
          </a:stretch>
        </p:blipFill>
        <p:spPr>
          <a:xfrm>
            <a:off x="1644401" y="1143000"/>
            <a:ext cx="5855196" cy="3611880"/>
          </a:xfrm>
          <a:prstGeom prst="rect">
            <a:avLst/>
          </a:prstGeom>
        </p:spPr>
      </p:pic>
      <p:sp>
        <p:nvSpPr>
          <p:cNvPr id="17" name="TextBox 16"/>
          <p:cNvSpPr txBox="1"/>
          <p:nvPr/>
        </p:nvSpPr>
        <p:spPr>
          <a:xfrm>
            <a:off x="502920" y="4773168"/>
            <a:ext cx="8138160" cy="502920"/>
          </a:xfrm>
          <a:prstGeom prst="rect">
            <a:avLst/>
          </a:prstGeom>
          <a:noFill/>
        </p:spPr>
        <p:txBody>
          <a:bodyPr wrap="square" anchor="t" lIns="45720" rIns="45720">
            <a:spAutoFit/>
          </a:bodyPr>
          <a:lstStyle/>
          <a:p>
            <a:pPr algn="l">
              <a:spcAft>
                <a:spcPts val="0"/>
              </a:spcAft>
            </a:pPr>
            <a:r>
              <a:rPr sz="1050" b="0" i="1">
                <a:solidFill>
                  <a:srgbClr val="55555F"/>
                </a:solidFill>
                <a:latin typeface="Times New Roman"/>
              </a:rPr>
              <a:t>Left: camera (10 fps JPEG) and hold-to-drive teleop. Right: live map, SLAM path (blue), Nav2 plan (green), goal (magenta), frontiers (cyan), start (yellow); Explore / Pause / Return home; save as map_server pgm + yaml.</a:t>
            </a:r>
          </a:p>
        </p:txBody>
      </p:sp>
      <p:sp>
        <p:nvSpPr>
          <p:cNvPr id="18" name="Rounded Rectangle 17"/>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The app never commands the robot while it explores, unless the operator takes over.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The Result: The Home, Mapped Unattended</a:t>
            </a:r>
          </a:p>
          <a:p>
            <a:pPr algn="just"/>
            <a:r>
              <a:rPr lang="en-US" sz="2500" dirty="0">
                <a:solidFill>
                  <a:srgbClr val="FFFFFF"/>
                </a:solidFill>
                <a:latin typeface="Times" panose="02020603050405020304" pitchFamily="18" charset="0"/>
                <a:cs typeface="Times" panose="02020603050405020304" pitchFamily="18" charset="0"/>
              </a:rPr>
              <a:t>One autonomous run, robot04 on its own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18</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run_map.png"/>
          <p:cNvPicPr>
            <a:picLocks noChangeAspect="1"/>
          </p:cNvPicPr>
          <p:nvPr/>
        </p:nvPicPr>
        <p:blipFill>
          <a:blip r:embed="rId2"/>
          <a:stretch>
            <a:fillRect/>
          </a:stretch>
        </p:blipFill>
        <p:spPr>
          <a:xfrm>
            <a:off x="1029851" y="1143000"/>
            <a:ext cx="3426697" cy="4114800"/>
          </a:xfrm>
          <a:prstGeom prst="rect">
            <a:avLst/>
          </a:prstGeom>
        </p:spPr>
      </p:pic>
      <p:sp>
        <p:nvSpPr>
          <p:cNvPr id="17" name="Rounded Rectangle 16"/>
          <p:cNvSpPr/>
          <p:nvPr/>
        </p:nvSpPr>
        <p:spPr>
          <a:xfrm>
            <a:off x="5257800" y="1234440"/>
            <a:ext cx="160020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49240" y="1280160"/>
            <a:ext cx="141732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47 m²</a:t>
            </a:r>
          </a:p>
        </p:txBody>
      </p:sp>
      <p:sp>
        <p:nvSpPr>
          <p:cNvPr id="19" name="TextBox 18"/>
          <p:cNvSpPr txBox="1"/>
          <p:nvPr/>
        </p:nvSpPr>
        <p:spPr>
          <a:xfrm>
            <a:off x="5349240" y="1847088"/>
            <a:ext cx="141732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mapped</a:t>
            </a:r>
          </a:p>
        </p:txBody>
      </p:sp>
      <p:sp>
        <p:nvSpPr>
          <p:cNvPr id="20" name="Rounded Rectangle 19"/>
          <p:cNvSpPr/>
          <p:nvPr/>
        </p:nvSpPr>
        <p:spPr>
          <a:xfrm>
            <a:off x="6976872" y="1234440"/>
            <a:ext cx="160020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68312" y="1280160"/>
            <a:ext cx="141732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12.6 min</a:t>
            </a:r>
          </a:p>
        </p:txBody>
      </p:sp>
      <p:sp>
        <p:nvSpPr>
          <p:cNvPr id="22" name="TextBox 21"/>
          <p:cNvSpPr txBox="1"/>
          <p:nvPr/>
        </p:nvSpPr>
        <p:spPr>
          <a:xfrm>
            <a:off x="7068312" y="1847088"/>
            <a:ext cx="141732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unattended</a:t>
            </a:r>
          </a:p>
        </p:txBody>
      </p:sp>
      <p:sp>
        <p:nvSpPr>
          <p:cNvPr id="23" name="Rounded Rectangle 22"/>
          <p:cNvSpPr/>
          <p:nvPr/>
        </p:nvSpPr>
        <p:spPr>
          <a:xfrm>
            <a:off x="5257800" y="2606040"/>
            <a:ext cx="160020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49240" y="2651760"/>
            <a:ext cx="141732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74 m</a:t>
            </a:r>
          </a:p>
        </p:txBody>
      </p:sp>
      <p:sp>
        <p:nvSpPr>
          <p:cNvPr id="25" name="TextBox 24"/>
          <p:cNvSpPr txBox="1"/>
          <p:nvPr/>
        </p:nvSpPr>
        <p:spPr>
          <a:xfrm>
            <a:off x="5349240" y="3218688"/>
            <a:ext cx="141732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driven</a:t>
            </a:r>
          </a:p>
        </p:txBody>
      </p:sp>
      <p:sp>
        <p:nvSpPr>
          <p:cNvPr id="26" name="Rounded Rectangle 25"/>
          <p:cNvSpPr/>
          <p:nvPr/>
        </p:nvSpPr>
        <p:spPr>
          <a:xfrm>
            <a:off x="6976872" y="2606040"/>
            <a:ext cx="160020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068312" y="2651760"/>
            <a:ext cx="141732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29 / 30</a:t>
            </a:r>
          </a:p>
        </p:txBody>
      </p:sp>
      <p:sp>
        <p:nvSpPr>
          <p:cNvPr id="28" name="TextBox 27"/>
          <p:cNvSpPr txBox="1"/>
          <p:nvPr/>
        </p:nvSpPr>
        <p:spPr>
          <a:xfrm>
            <a:off x="7068312" y="3218688"/>
            <a:ext cx="141732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goals done / sent; 1 failed</a:t>
            </a:r>
          </a:p>
        </p:txBody>
      </p:sp>
      <p:sp>
        <p:nvSpPr>
          <p:cNvPr id="29" name="Rounded Rectangle 28"/>
          <p:cNvSpPr/>
          <p:nvPr/>
        </p:nvSpPr>
        <p:spPr>
          <a:xfrm>
            <a:off x="5257800" y="4023360"/>
            <a:ext cx="3337560" cy="118872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349240" y="4041648"/>
            <a:ext cx="3154680" cy="1152144"/>
          </a:xfrm>
          <a:prstGeom prst="rect">
            <a:avLst/>
          </a:prstGeom>
          <a:noFill/>
        </p:spPr>
        <p:txBody>
          <a:bodyPr wrap="square" anchor="ctr" lIns="45720" rIns="45720">
            <a:spAutoFit/>
          </a:bodyPr>
          <a:lstStyle/>
          <a:p>
            <a:pPr algn="l">
              <a:spcAft>
                <a:spcPts val="0"/>
              </a:spcAft>
            </a:pPr>
            <a:r>
              <a:rPr sz="1200" b="0" i="0">
                <a:solidFill>
                  <a:srgbClr val="CC0633"/>
                </a:solidFill>
                <a:latin typeface="Times New Roman"/>
              </a:rPr>
              <a:t>No frontier left after 11.6 min: drove back, stopped 0.2 m from the start, saved the map. Zero operator interventions.</a:t>
            </a:r>
          </a:p>
        </p:txBody>
      </p:sp>
      <p:sp>
        <p:nvSpPr>
          <p:cNvPr id="31" name="Rounded Rectangle 3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Pressed Explore once; the robot chose all 30 goals itself and came home.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The Run in Numbers</a:t>
            </a:r>
          </a:p>
          <a:p>
            <a:pPr algn="just"/>
            <a:r>
              <a:rPr lang="en-US" sz="2500" dirty="0">
                <a:solidFill>
                  <a:srgbClr val="FFFFFF"/>
                </a:solidFill>
                <a:latin typeface="Times" panose="02020603050405020304" pitchFamily="18" charset="0"/>
                <a:cs typeface="Times" panose="02020603050405020304" pitchFamily="18" charset="0"/>
              </a:rPr>
              <a:t>From the explorer's log and the saved map</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19</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run_progress.png"/>
          <p:cNvPicPr>
            <a:picLocks noChangeAspect="1"/>
          </p:cNvPicPr>
          <p:nvPr/>
        </p:nvPicPr>
        <p:blipFill>
          <a:blip r:embed="rId2"/>
          <a:stretch>
            <a:fillRect/>
          </a:stretch>
        </p:blipFill>
        <p:spPr>
          <a:xfrm>
            <a:off x="411480" y="1178396"/>
            <a:ext cx="4846320" cy="2032327"/>
          </a:xfrm>
          <a:prstGeom prst="rect">
            <a:avLst/>
          </a:prstGeom>
        </p:spPr>
      </p:pic>
      <p:graphicFrame>
        <p:nvGraphicFramePr>
          <p:cNvPr id="17" name="Table 16"/>
          <p:cNvGraphicFramePr>
            <a:graphicFrameLocks noGrp="1"/>
          </p:cNvGraphicFramePr>
          <p:nvPr/>
        </p:nvGraphicFramePr>
        <p:xfrm>
          <a:off x="5440680" y="1234440"/>
          <a:ext cx="3200400" cy="3730752"/>
        </p:xfrm>
        <a:graphic>
          <a:graphicData uri="http://schemas.openxmlformats.org/drawingml/2006/table">
            <a:tbl>
              <a:tblPr firstRow="0" bandRow="0"/>
              <a:tblGrid>
                <a:gridCol w="1737360"/>
                <a:gridCol w="1463040"/>
              </a:tblGrid>
              <a:tr h="310896">
                <a:tc>
                  <a:txBody>
                    <a:bodyPr wrap="square"/>
                    <a:lstStyle/>
                    <a:p>
                      <a:r>
                        <a:rPr sz="1000" b="1">
                          <a:solidFill>
                            <a:srgbClr val="FFFFFF"/>
                          </a:solidFill>
                          <a:latin typeface="Times New Roman"/>
                        </a:rPr>
                        <a:t>Metric</a:t>
                      </a:r>
                    </a:p>
                  </a:txBody>
                  <a:tcPr marL="54864" marR="54864" marT="18288" marB="18288" anchor="ctr">
                    <a:solidFill>
                      <a:srgbClr val="0000CC"/>
                    </a:solidFill>
                  </a:tcPr>
                </a:tc>
                <a:tc>
                  <a:txBody>
                    <a:bodyPr wrap="square"/>
                    <a:lstStyle/>
                    <a:p>
                      <a:r>
                        <a:rPr sz="1000" b="1">
                          <a:solidFill>
                            <a:srgbClr val="FFFFFF"/>
                          </a:solidFill>
                          <a:latin typeface="Times New Roman"/>
                        </a:rPr>
                        <a:t>Value</a:t>
                      </a:r>
                    </a:p>
                  </a:txBody>
                  <a:tcPr marL="54864" marR="54864" marT="18288" marB="18288" anchor="ctr">
                    <a:solidFill>
                      <a:srgbClr val="0000CC"/>
                    </a:solidFill>
                  </a:tcPr>
                </a:tc>
              </a:tr>
              <a:tr h="310896">
                <a:tc>
                  <a:txBody>
                    <a:bodyPr wrap="square"/>
                    <a:lstStyle/>
                    <a:p>
                      <a:r>
                        <a:rPr sz="1000" b="0">
                          <a:solidFill>
                            <a:srgbClr val="1A1A1A"/>
                          </a:solidFill>
                          <a:latin typeface="Times New Roman"/>
                        </a:rPr>
                        <a:t>duration</a:t>
                      </a:r>
                    </a:p>
                  </a:txBody>
                  <a:tcPr marL="54864" marR="54864" marT="18288" marB="18288" anchor="ctr">
                    <a:solidFill>
                      <a:srgbClr val="ECECFA"/>
                    </a:solidFill>
                  </a:tcPr>
                </a:tc>
                <a:tc>
                  <a:txBody>
                    <a:bodyPr wrap="square"/>
                    <a:lstStyle/>
                    <a:p>
                      <a:r>
                        <a:rPr sz="1000" b="0">
                          <a:solidFill>
                            <a:srgbClr val="1A1A1A"/>
                          </a:solidFill>
                          <a:latin typeface="Times New Roman"/>
                        </a:rPr>
                        <a:t>12.6 min</a:t>
                      </a:r>
                    </a:p>
                  </a:txBody>
                  <a:tcPr marL="54864" marR="54864" marT="18288" marB="18288" anchor="ctr">
                    <a:solidFill>
                      <a:srgbClr val="ECECFA"/>
                    </a:solidFill>
                  </a:tcPr>
                </a:tc>
              </a:tr>
              <a:tr h="310896">
                <a:tc>
                  <a:txBody>
                    <a:bodyPr wrap="square"/>
                    <a:lstStyle/>
                    <a:p>
                      <a:r>
                        <a:rPr sz="1000" b="0">
                          <a:solidFill>
                            <a:srgbClr val="1A1A1A"/>
                          </a:solidFill>
                          <a:latin typeface="Times New Roman"/>
                        </a:rPr>
                        <a:t>mapped (known cells)</a:t>
                      </a:r>
                    </a:p>
                  </a:txBody>
                  <a:tcPr marL="54864" marR="54864" marT="18288" marB="18288" anchor="ctr">
                    <a:solidFill>
                      <a:srgbClr val="FFFFFF"/>
                    </a:solidFill>
                  </a:tcPr>
                </a:tc>
                <a:tc>
                  <a:txBody>
                    <a:bodyPr wrap="square"/>
                    <a:lstStyle/>
                    <a:p>
                      <a:r>
                        <a:rPr sz="1000" b="0">
                          <a:solidFill>
                            <a:srgbClr val="1A1A1A"/>
                          </a:solidFill>
                          <a:latin typeface="Times New Roman"/>
                        </a:rPr>
                        <a:t>47.3 m²</a:t>
                      </a:r>
                    </a:p>
                  </a:txBody>
                  <a:tcPr marL="54864" marR="54864" marT="18288" marB="18288" anchor="ctr">
                    <a:solidFill>
                      <a:srgbClr val="FFFFFF"/>
                    </a:solidFill>
                  </a:tcPr>
                </a:tc>
              </a:tr>
              <a:tr h="310896">
                <a:tc>
                  <a:txBody>
                    <a:bodyPr wrap="square"/>
                    <a:lstStyle/>
                    <a:p>
                      <a:r>
                        <a:rPr sz="1000" b="0">
                          <a:solidFill>
                            <a:srgbClr val="1A1A1A"/>
                          </a:solidFill>
                          <a:latin typeface="Times New Roman"/>
                        </a:rPr>
                        <a:t>free / occupied</a:t>
                      </a:r>
                    </a:p>
                  </a:txBody>
                  <a:tcPr marL="54864" marR="54864" marT="18288" marB="18288" anchor="ctr">
                    <a:solidFill>
                      <a:srgbClr val="ECECFA"/>
                    </a:solidFill>
                  </a:tcPr>
                </a:tc>
                <a:tc>
                  <a:txBody>
                    <a:bodyPr wrap="square"/>
                    <a:lstStyle/>
                    <a:p>
                      <a:r>
                        <a:rPr sz="1000" b="0">
                          <a:solidFill>
                            <a:srgbClr val="1A1A1A"/>
                          </a:solidFill>
                          <a:latin typeface="Times New Roman"/>
                        </a:rPr>
                        <a:t>37.5 / 9.8 m²</a:t>
                      </a:r>
                    </a:p>
                  </a:txBody>
                  <a:tcPr marL="54864" marR="54864" marT="18288" marB="18288" anchor="ctr">
                    <a:solidFill>
                      <a:srgbClr val="ECECFA"/>
                    </a:solidFill>
                  </a:tcPr>
                </a:tc>
              </a:tr>
              <a:tr h="310896">
                <a:tc>
                  <a:txBody>
                    <a:bodyPr wrap="square"/>
                    <a:lstStyle/>
                    <a:p>
                      <a:r>
                        <a:rPr sz="1000" b="0">
                          <a:solidFill>
                            <a:srgbClr val="1A1A1A"/>
                          </a:solidFill>
                          <a:latin typeface="Times New Roman"/>
                        </a:rPr>
                        <a:t>map extent</a:t>
                      </a:r>
                    </a:p>
                  </a:txBody>
                  <a:tcPr marL="54864" marR="54864" marT="18288" marB="18288" anchor="ctr">
                    <a:solidFill>
                      <a:srgbClr val="FFFFFF"/>
                    </a:solidFill>
                  </a:tcPr>
                </a:tc>
                <a:tc>
                  <a:txBody>
                    <a:bodyPr wrap="square"/>
                    <a:lstStyle/>
                    <a:p>
                      <a:r>
                        <a:rPr sz="1000" b="0">
                          <a:solidFill>
                            <a:srgbClr val="1A1A1A"/>
                          </a:solidFill>
                          <a:latin typeface="Times New Roman"/>
                        </a:rPr>
                        <a:t>10.9 × 13.2 m</a:t>
                      </a:r>
                    </a:p>
                  </a:txBody>
                  <a:tcPr marL="54864" marR="54864" marT="18288" marB="18288" anchor="ctr">
                    <a:solidFill>
                      <a:srgbClr val="FFFFFF"/>
                    </a:solidFill>
                  </a:tcPr>
                </a:tc>
              </a:tr>
              <a:tr h="310896">
                <a:tc>
                  <a:txBody>
                    <a:bodyPr wrap="square"/>
                    <a:lstStyle/>
                    <a:p>
                      <a:r>
                        <a:rPr sz="1000" b="0">
                          <a:solidFill>
                            <a:srgbClr val="1A1A1A"/>
                          </a:solidFill>
                          <a:latin typeface="Times New Roman"/>
                        </a:rPr>
                        <a:t>path (SLAM, 5 cm steps)</a:t>
                      </a:r>
                    </a:p>
                  </a:txBody>
                  <a:tcPr marL="54864" marR="54864" marT="18288" marB="18288" anchor="ctr">
                    <a:solidFill>
                      <a:srgbClr val="ECECFA"/>
                    </a:solidFill>
                  </a:tcPr>
                </a:tc>
                <a:tc>
                  <a:txBody>
                    <a:bodyPr wrap="square"/>
                    <a:lstStyle/>
                    <a:p>
                      <a:r>
                        <a:rPr sz="1000" b="0">
                          <a:solidFill>
                            <a:srgbClr val="1A1A1A"/>
                          </a:solidFill>
                          <a:latin typeface="Times New Roman"/>
                        </a:rPr>
                        <a:t>74.0 m</a:t>
                      </a:r>
                    </a:p>
                  </a:txBody>
                  <a:tcPr marL="54864" marR="54864" marT="18288" marB="18288" anchor="ctr">
                    <a:solidFill>
                      <a:srgbClr val="ECECFA"/>
                    </a:solidFill>
                  </a:tcPr>
                </a:tc>
              </a:tr>
              <a:tr h="310896">
                <a:tc>
                  <a:txBody>
                    <a:bodyPr wrap="square"/>
                    <a:lstStyle/>
                    <a:p>
                      <a:r>
                        <a:rPr sz="1000" b="0">
                          <a:solidFill>
                            <a:srgbClr val="1A1A1A"/>
                          </a:solidFill>
                          <a:latin typeface="Times New Roman"/>
                        </a:rPr>
                        <a:t>mean speed</a:t>
                      </a:r>
                    </a:p>
                  </a:txBody>
                  <a:tcPr marL="54864" marR="54864" marT="18288" marB="18288" anchor="ctr">
                    <a:solidFill>
                      <a:srgbClr val="FFFFFF"/>
                    </a:solidFill>
                  </a:tcPr>
                </a:tc>
                <a:tc>
                  <a:txBody>
                    <a:bodyPr wrap="square"/>
                    <a:lstStyle/>
                    <a:p>
                      <a:r>
                        <a:rPr sz="1000" b="0">
                          <a:solidFill>
                            <a:srgbClr val="1A1A1A"/>
                          </a:solidFill>
                          <a:latin typeface="Times New Roman"/>
                        </a:rPr>
                        <a:t>0.098 m/s</a:t>
                      </a:r>
                    </a:p>
                  </a:txBody>
                  <a:tcPr marL="54864" marR="54864" marT="18288" marB="18288" anchor="ctr">
                    <a:solidFill>
                      <a:srgbClr val="FFFFFF"/>
                    </a:solidFill>
                  </a:tcPr>
                </a:tc>
              </a:tr>
              <a:tr h="310896">
                <a:tc>
                  <a:txBody>
                    <a:bodyPr wrap="square"/>
                    <a:lstStyle/>
                    <a:p>
                      <a:r>
                        <a:rPr sz="1000" b="0">
                          <a:solidFill>
                            <a:srgbClr val="1A1A1A"/>
                          </a:solidFill>
                          <a:latin typeface="Times New Roman"/>
                        </a:rPr>
                        <a:t>mapping rate</a:t>
                      </a:r>
                    </a:p>
                  </a:txBody>
                  <a:tcPr marL="54864" marR="54864" marT="18288" marB="18288" anchor="ctr">
                    <a:solidFill>
                      <a:srgbClr val="ECECFA"/>
                    </a:solidFill>
                  </a:tcPr>
                </a:tc>
                <a:tc>
                  <a:txBody>
                    <a:bodyPr wrap="square"/>
                    <a:lstStyle/>
                    <a:p>
                      <a:r>
                        <a:rPr sz="1000" b="0">
                          <a:solidFill>
                            <a:srgbClr val="1A1A1A"/>
                          </a:solidFill>
                          <a:latin typeface="Times New Roman"/>
                        </a:rPr>
                        <a:t>3.8 m²/min</a:t>
                      </a:r>
                    </a:p>
                  </a:txBody>
                  <a:tcPr marL="54864" marR="54864" marT="18288" marB="18288" anchor="ctr">
                    <a:solidFill>
                      <a:srgbClr val="ECECFA"/>
                    </a:solidFill>
                  </a:tcPr>
                </a:tc>
              </a:tr>
              <a:tr h="310896">
                <a:tc>
                  <a:txBody>
                    <a:bodyPr wrap="square"/>
                    <a:lstStyle/>
                    <a:p>
                      <a:r>
                        <a:rPr sz="1000" b="0">
                          <a:solidFill>
                            <a:srgbClr val="1A1A1A"/>
                          </a:solidFill>
                          <a:latin typeface="Times New Roman"/>
                        </a:rPr>
                        <a:t>goals sent / failed</a:t>
                      </a:r>
                    </a:p>
                  </a:txBody>
                  <a:tcPr marL="54864" marR="54864" marT="18288" marB="18288" anchor="ctr">
                    <a:solidFill>
                      <a:srgbClr val="FFFFFF"/>
                    </a:solidFill>
                  </a:tcPr>
                </a:tc>
                <a:tc>
                  <a:txBody>
                    <a:bodyPr wrap="square"/>
                    <a:lstStyle/>
                    <a:p>
                      <a:r>
                        <a:rPr sz="1000" b="0">
                          <a:solidFill>
                            <a:srgbClr val="1A1A1A"/>
                          </a:solidFill>
                          <a:latin typeface="Times New Roman"/>
                        </a:rPr>
                        <a:t>30 / 1</a:t>
                      </a:r>
                    </a:p>
                  </a:txBody>
                  <a:tcPr marL="54864" marR="54864" marT="18288" marB="18288" anchor="ctr">
                    <a:solidFill>
                      <a:srgbClr val="FFFFFF"/>
                    </a:solidFill>
                  </a:tcPr>
                </a:tc>
              </a:tr>
              <a:tr h="310896">
                <a:tc>
                  <a:txBody>
                    <a:bodyPr wrap="square"/>
                    <a:lstStyle/>
                    <a:p>
                      <a:r>
                        <a:rPr sz="1000" b="0">
                          <a:solidFill>
                            <a:srgbClr val="1A1A1A"/>
                          </a:solidFill>
                          <a:latin typeface="Times New Roman"/>
                        </a:rPr>
                        <a:t>search mean / max</a:t>
                      </a:r>
                    </a:p>
                  </a:txBody>
                  <a:tcPr marL="54864" marR="54864" marT="18288" marB="18288" anchor="ctr">
                    <a:solidFill>
                      <a:srgbClr val="ECECFA"/>
                    </a:solidFill>
                  </a:tcPr>
                </a:tc>
                <a:tc>
                  <a:txBody>
                    <a:bodyPr wrap="square"/>
                    <a:lstStyle/>
                    <a:p>
                      <a:r>
                        <a:rPr sz="1000" b="0">
                          <a:solidFill>
                            <a:srgbClr val="1A1A1A"/>
                          </a:solidFill>
                          <a:latin typeface="Times New Roman"/>
                        </a:rPr>
                        <a:t>50 / 58 ms</a:t>
                      </a:r>
                    </a:p>
                  </a:txBody>
                  <a:tcPr marL="54864" marR="54864" marT="18288" marB="18288" anchor="ctr">
                    <a:solidFill>
                      <a:srgbClr val="ECECFA"/>
                    </a:solidFill>
                  </a:tcPr>
                </a:tc>
              </a:tr>
              <a:tr h="310896">
                <a:tc>
                  <a:txBody>
                    <a:bodyPr wrap="square"/>
                    <a:lstStyle/>
                    <a:p>
                      <a:r>
                        <a:rPr sz="1000" b="0">
                          <a:solidFill>
                            <a:srgbClr val="1A1A1A"/>
                          </a:solidFill>
                          <a:latin typeface="Times New Roman"/>
                        </a:rPr>
                        <a:t>battery</a:t>
                      </a:r>
                    </a:p>
                  </a:txBody>
                  <a:tcPr marL="54864" marR="54864" marT="18288" marB="18288" anchor="ctr">
                    <a:solidFill>
                      <a:srgbClr val="FFFFFF"/>
                    </a:solidFill>
                  </a:tcPr>
                </a:tc>
                <a:tc>
                  <a:txBody>
                    <a:bodyPr wrap="square"/>
                    <a:lstStyle/>
                    <a:p>
                      <a:r>
                        <a:rPr sz="1000" b="0">
                          <a:solidFill>
                            <a:srgbClr val="1A1A1A"/>
                          </a:solidFill>
                          <a:latin typeface="Times New Roman"/>
                        </a:rPr>
                        <a:t>7.40 → 7.08 V</a:t>
                      </a:r>
                    </a:p>
                  </a:txBody>
                  <a:tcPr marL="54864" marR="54864" marT="18288" marB="18288" anchor="ctr">
                    <a:solidFill>
                      <a:srgbClr val="FFFFFF"/>
                    </a:solidFill>
                  </a:tcPr>
                </a:tc>
              </a:tr>
              <a:tr h="310896">
                <a:tc>
                  <a:txBody>
                    <a:bodyPr wrap="square"/>
                    <a:lstStyle/>
                    <a:p>
                      <a:r>
                        <a:rPr sz="1000" b="0">
                          <a:solidFill>
                            <a:srgbClr val="1A1A1A"/>
                          </a:solidFill>
                          <a:latin typeface="Times New Roman"/>
                        </a:rPr>
                        <a:t>interventions</a:t>
                      </a:r>
                    </a:p>
                  </a:txBody>
                  <a:tcPr marL="54864" marR="54864" marT="18288" marB="18288" anchor="ctr">
                    <a:solidFill>
                      <a:srgbClr val="ECECFA"/>
                    </a:solidFill>
                  </a:tcPr>
                </a:tc>
                <a:tc>
                  <a:txBody>
                    <a:bodyPr wrap="square"/>
                    <a:lstStyle/>
                    <a:p>
                      <a:r>
                        <a:rPr sz="1000" b="0">
                          <a:solidFill>
                            <a:srgbClr val="1A1A1A"/>
                          </a:solidFill>
                          <a:latin typeface="Times New Roman"/>
                        </a:rPr>
                        <a:t>0</a:t>
                      </a:r>
                    </a:p>
                  </a:txBody>
                  <a:tcPr marL="54864" marR="54864" marT="18288" marB="18288" anchor="ctr">
                    <a:solidFill>
                      <a:srgbClr val="ECECFA"/>
                    </a:solidFill>
                  </a:tcPr>
                </a:tc>
              </a:tr>
            </a:tbl>
          </a:graphicData>
        </a:graphic>
      </p:graphicFrame>
      <p:sp>
        <p:nvSpPr>
          <p:cNvPr id="18" name="TextBox 17"/>
          <p:cNvSpPr txBox="1"/>
          <p:nvPr/>
        </p:nvSpPr>
        <p:spPr>
          <a:xfrm>
            <a:off x="502920" y="3337560"/>
            <a:ext cx="4754880" cy="1920240"/>
          </a:xfrm>
          <a:prstGeom prst="rect">
            <a:avLst/>
          </a:prstGeom>
          <a:noFill/>
        </p:spPr>
        <p:txBody>
          <a:bodyPr wrap="square" anchor="t" lIns="45720" rIns="45720">
            <a:spAutoFit/>
          </a:bodyPr>
          <a:lstStyle/>
          <a:p>
            <a:pPr algn="l">
              <a:spcAft>
                <a:spcPts val="400"/>
              </a:spcAft>
            </a:pPr>
            <a:r>
              <a:rPr sz="1100" b="0" i="0">
                <a:solidFill>
                  <a:srgbClr val="1A1A1A"/>
                </a:solidFill>
                <a:latin typeface="Times New Roman"/>
              </a:rPr>
              <a:t>Area: fast for 2 min (each goal opens a room to a 360° lidar), then corners one at a time</a:t>
            </a:r>
          </a:p>
          <a:p>
            <a:pPr algn="l">
              <a:spcAft>
                <a:spcPts val="400"/>
              </a:spcAft>
            </a:pPr>
            <a:r>
              <a:rPr sz="1100" b="0" i="0">
                <a:solidFill>
                  <a:srgbClr val="1A1A1A"/>
                </a:solidFill>
                <a:latin typeface="Times New Roman"/>
              </a:rPr>
              <a:t>Open frontiers peak ≈ 4.5 min, zero at 11.6 min → drive home</a:t>
            </a:r>
          </a:p>
          <a:p>
            <a:pPr algn="l">
              <a:spcAft>
                <a:spcPts val="400"/>
              </a:spcAft>
            </a:pPr>
            <a:r>
              <a:rPr sz="1100" b="0" i="0">
                <a:solidFill>
                  <a:srgbClr val="1A1A1A"/>
                </a:solidFill>
                <a:latin typeface="Times New Roman"/>
              </a:rPr>
              <a:t>Mean speed ≈ cruise 0.10 m/s: time spent driving, not recovering</a:t>
            </a:r>
          </a:p>
          <a:p>
            <a:pPr algn="l">
              <a:spcAft>
                <a:spcPts val="400"/>
              </a:spcAft>
            </a:pPr>
            <a:r>
              <a:rPr sz="1100" b="0" i="0">
                <a:solidFill>
                  <a:srgbClr val="1A1A1A"/>
                </a:solidFill>
                <a:latin typeface="Times New Roman"/>
              </a:rPr>
              <a:t>1 failure: goal behind a wall, reachable only through unknown space; dropped at its 156 s timeout</a:t>
            </a:r>
          </a:p>
        </p:txBody>
      </p:sp>
      <p:sp>
        <p:nvSpPr>
          <p:cNvPr id="19" name="Rounded Rectangle 18"/>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Greedy exploration's usual shape: quick coverage, then a long tail of corners.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What Bringing It Up Taught Us</a:t>
            </a:r>
          </a:p>
          <a:p>
            <a:pPr algn="just"/>
            <a:r>
              <a:rPr lang="en-US" sz="2500" dirty="0">
                <a:solidFill>
                  <a:srgbClr val="FFFFFF"/>
                </a:solidFill>
                <a:latin typeface="Times" panose="02020603050405020304" pitchFamily="18" charset="0"/>
                <a:cs typeface="Times" panose="02020603050405020304" pitchFamily="18" charset="0"/>
              </a:rPr>
              <a:t>Lessons &amp; limitations</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20</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3977639" cy="8686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1261872"/>
            <a:ext cx="3794760" cy="822960"/>
          </a:xfrm>
          <a:prstGeom prst="rect">
            <a:avLst/>
          </a:prstGeom>
          <a:noFill/>
        </p:spPr>
        <p:txBody>
          <a:bodyPr wrap="square" anchor="ctr" lIns="45720" rIns="45720">
            <a:spAutoFit/>
          </a:bodyPr>
          <a:lstStyle/>
          <a:p>
            <a:pPr algn="l">
              <a:spcAft>
                <a:spcPts val="0"/>
              </a:spcAft>
            </a:pPr>
            <a:r>
              <a:rPr sz="1300" b="1" i="0">
                <a:solidFill>
                  <a:srgbClr val="0000CC"/>
                </a:solidFill>
                <a:latin typeface="Times New Roman"/>
              </a:rPr>
              <a:t>Conventions: </a:t>
            </a:r>
            <a:r>
              <a:rPr sz="1300" b="0" i="0">
                <a:solidFill>
                  <a:srgbClr val="1A1A1A"/>
                </a:solidFill>
                <a:latin typeface="Times New Roman"/>
              </a:rPr>
              <a:t>Odometry agreed with wrong motor signs; only the lidar disagreed</a:t>
            </a:r>
          </a:p>
        </p:txBody>
      </p:sp>
      <p:sp>
        <p:nvSpPr>
          <p:cNvPr id="18" name="Rounded Rectangle 17"/>
          <p:cNvSpPr/>
          <p:nvPr/>
        </p:nvSpPr>
        <p:spPr>
          <a:xfrm>
            <a:off x="4617720" y="1234440"/>
            <a:ext cx="3977639" cy="8686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09159" y="1261872"/>
            <a:ext cx="3794760" cy="822960"/>
          </a:xfrm>
          <a:prstGeom prst="rect">
            <a:avLst/>
          </a:prstGeom>
          <a:noFill/>
        </p:spPr>
        <p:txBody>
          <a:bodyPr wrap="square" anchor="ctr" lIns="45720" rIns="45720">
            <a:spAutoFit/>
          </a:bodyPr>
          <a:lstStyle/>
          <a:p>
            <a:pPr algn="l">
              <a:spcAft>
                <a:spcPts val="0"/>
              </a:spcAft>
            </a:pPr>
            <a:r>
              <a:rPr sz="1300" b="1" i="0">
                <a:solidFill>
                  <a:srgbClr val="0000CC"/>
                </a:solidFill>
                <a:latin typeface="Times New Roman"/>
              </a:rPr>
              <a:t>Rates: </a:t>
            </a:r>
            <a:r>
              <a:rPr sz="1300" b="0" i="0">
                <a:solidFill>
                  <a:srgbClr val="1A1A1A"/>
                </a:solidFill>
                <a:latin typeface="Times New Roman"/>
              </a:rPr>
              <a:t>Controller faster than its costmap → it waits; looked like CPU load</a:t>
            </a:r>
          </a:p>
        </p:txBody>
      </p:sp>
      <p:sp>
        <p:nvSpPr>
          <p:cNvPr id="20" name="Rounded Rectangle 19"/>
          <p:cNvSpPr/>
          <p:nvPr/>
        </p:nvSpPr>
        <p:spPr>
          <a:xfrm>
            <a:off x="502920" y="2240280"/>
            <a:ext cx="3977639" cy="8686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4360" y="2267712"/>
            <a:ext cx="3794760" cy="822960"/>
          </a:xfrm>
          <a:prstGeom prst="rect">
            <a:avLst/>
          </a:prstGeom>
          <a:noFill/>
        </p:spPr>
        <p:txBody>
          <a:bodyPr wrap="square" anchor="ctr" lIns="45720" rIns="45720">
            <a:spAutoFit/>
          </a:bodyPr>
          <a:lstStyle/>
          <a:p>
            <a:pPr algn="l">
              <a:spcAft>
                <a:spcPts val="0"/>
              </a:spcAft>
            </a:pPr>
            <a:r>
              <a:rPr sz="1300" b="1" i="0">
                <a:solidFill>
                  <a:srgbClr val="0000CC"/>
                </a:solidFill>
                <a:latin typeface="Times New Roman"/>
              </a:rPr>
              <a:t>Time stamps: </a:t>
            </a:r>
            <a:r>
              <a:rPr sz="1300" b="0" i="0">
                <a:solidFill>
                  <a:srgbClr val="1A1A1A"/>
                </a:solidFill>
                <a:latin typeface="Times New Roman"/>
              </a:rPr>
              <a:t>SLAM pose carries the scan time: raise TF tolerance</a:t>
            </a:r>
          </a:p>
        </p:txBody>
      </p:sp>
      <p:sp>
        <p:nvSpPr>
          <p:cNvPr id="22" name="Rounded Rectangle 21"/>
          <p:cNvSpPr/>
          <p:nvPr/>
        </p:nvSpPr>
        <p:spPr>
          <a:xfrm>
            <a:off x="4617720" y="2240280"/>
            <a:ext cx="3977639" cy="8686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09159" y="2267712"/>
            <a:ext cx="3794760" cy="822960"/>
          </a:xfrm>
          <a:prstGeom prst="rect">
            <a:avLst/>
          </a:prstGeom>
          <a:noFill/>
        </p:spPr>
        <p:txBody>
          <a:bodyPr wrap="square" anchor="ctr" lIns="45720" rIns="45720">
            <a:spAutoFit/>
          </a:bodyPr>
          <a:lstStyle/>
          <a:p>
            <a:pPr algn="l">
              <a:spcAft>
                <a:spcPts val="0"/>
              </a:spcAft>
            </a:pPr>
            <a:r>
              <a:rPr sz="1300" b="1" i="0">
                <a:solidFill>
                  <a:srgbClr val="0000CC"/>
                </a:solidFill>
                <a:latin typeface="Times New Roman"/>
              </a:rPr>
              <a:t>Namespaces: </a:t>
            </a:r>
            <a:r>
              <a:rPr sz="1300" b="0" i="0">
                <a:solidFill>
                  <a:srgbClr val="1A1A1A"/>
                </a:solidFill>
                <a:latin typeface="Times New Roman"/>
              </a:rPr>
              <a:t>Explorer looked for /robot04/navigate_to_pose; Nav2 was at /</a:t>
            </a:r>
          </a:p>
        </p:txBody>
      </p:sp>
      <p:sp>
        <p:nvSpPr>
          <p:cNvPr id="24" name="Rounded Rectangle 23"/>
          <p:cNvSpPr/>
          <p:nvPr/>
        </p:nvSpPr>
        <p:spPr>
          <a:xfrm>
            <a:off x="502920" y="3246120"/>
            <a:ext cx="3977639" cy="8686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4360" y="3273552"/>
            <a:ext cx="3794760" cy="822960"/>
          </a:xfrm>
          <a:prstGeom prst="rect">
            <a:avLst/>
          </a:prstGeom>
          <a:noFill/>
        </p:spPr>
        <p:txBody>
          <a:bodyPr wrap="square" anchor="ctr" lIns="45720" rIns="45720">
            <a:spAutoFit/>
          </a:bodyPr>
          <a:lstStyle/>
          <a:p>
            <a:pPr algn="l">
              <a:spcAft>
                <a:spcPts val="0"/>
              </a:spcAft>
            </a:pPr>
            <a:r>
              <a:rPr sz="1300" b="1" i="0">
                <a:solidFill>
                  <a:srgbClr val="0000CC"/>
                </a:solidFill>
                <a:latin typeface="Times New Roman"/>
              </a:rPr>
              <a:t>Pockets: </a:t>
            </a:r>
            <a:r>
              <a:rPr sz="1300" b="0" i="0">
                <a:solidFill>
                  <a:srgbClr val="1A1A1A"/>
                </a:solidFill>
                <a:latin typeface="Times New Roman"/>
              </a:rPr>
              <a:t>Reached frontiers that never clear (under furniture) → blacklist</a:t>
            </a:r>
          </a:p>
        </p:txBody>
      </p:sp>
      <p:sp>
        <p:nvSpPr>
          <p:cNvPr id="26" name="Rounded Rectangle 25"/>
          <p:cNvSpPr/>
          <p:nvPr/>
        </p:nvSpPr>
        <p:spPr>
          <a:xfrm>
            <a:off x="4617720" y="3246120"/>
            <a:ext cx="3977639" cy="8686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09159" y="3273552"/>
            <a:ext cx="3794760" cy="822960"/>
          </a:xfrm>
          <a:prstGeom prst="rect">
            <a:avLst/>
          </a:prstGeom>
          <a:noFill/>
        </p:spPr>
        <p:txBody>
          <a:bodyPr wrap="square" anchor="ctr" lIns="45720" rIns="45720">
            <a:spAutoFit/>
          </a:bodyPr>
          <a:lstStyle/>
          <a:p>
            <a:pPr algn="l">
              <a:spcAft>
                <a:spcPts val="0"/>
              </a:spcAft>
            </a:pPr>
            <a:r>
              <a:rPr sz="1300" b="1" i="0">
                <a:solidFill>
                  <a:srgbClr val="0000CC"/>
                </a:solidFill>
                <a:latin typeface="Times New Roman"/>
              </a:rPr>
              <a:t>Middleware: </a:t>
            </a:r>
            <a:r>
              <a:rPr sz="1300" b="0" i="0">
                <a:solidFill>
                  <a:srgbClr val="1A1A1A"/>
                </a:solidFill>
                <a:latin typeface="Times New Roman"/>
              </a:rPr>
              <a:t>Same DDS on every machine fixed two unrelated faults</a:t>
            </a:r>
          </a:p>
        </p:txBody>
      </p:sp>
      <p:sp>
        <p:nvSpPr>
          <p:cNvPr id="28" name="Rounded Rectangle 27"/>
          <p:cNvSpPr/>
          <p:nvPr/>
        </p:nvSpPr>
        <p:spPr>
          <a:xfrm>
            <a:off x="502920" y="4297680"/>
            <a:ext cx="8138160" cy="91440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4315968"/>
            <a:ext cx="7772400" cy="877824"/>
          </a:xfrm>
          <a:prstGeom prst="rect">
            <a:avLst/>
          </a:prstGeom>
          <a:noFill/>
        </p:spPr>
        <p:txBody>
          <a:bodyPr wrap="square" anchor="ctr" lIns="45720" rIns="45720">
            <a:spAutoFit/>
          </a:bodyPr>
          <a:lstStyle/>
          <a:p>
            <a:pPr algn="l">
              <a:spcAft>
                <a:spcPts val="0"/>
              </a:spcAft>
            </a:pPr>
            <a:r>
              <a:rPr sz="1300" b="1" i="0">
                <a:solidFill>
                  <a:srgbClr val="CC0633"/>
                </a:solidFill>
                <a:latin typeface="Times New Roman"/>
              </a:rPr>
              <a:t>Limits: </a:t>
            </a:r>
            <a:r>
              <a:rPr sz="1300" b="0" i="0">
                <a:solidFill>
                  <a:srgbClr val="1A1A1A"/>
                </a:solidFill>
                <a:latin typeface="Times New Roman"/>
              </a:rPr>
              <a:t>a 2D lidar at 12 cm cannot see stairs, cables or table tops; Hector has no loop closure. Next: depth-camera cliff and 3D obstacle check, information-gain frontiers.</a:t>
            </a:r>
          </a:p>
        </p:txBody>
      </p:sp>
      <p:sp>
        <p:nvSpPr>
          <p:cNvPr id="30" name="Rounded Rectangle 29"/>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The algorithms worked as published; the time went into the interfaces.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What to Remember</a:t>
            </a:r>
          </a:p>
          <a:p>
            <a:pPr algn="just"/>
            <a:r>
              <a:rPr lang="en-US" sz="2500" dirty="0">
                <a:solidFill>
                  <a:srgbClr val="FFFFFF"/>
                </a:solidFill>
                <a:latin typeface="Times" panose="02020603050405020304" pitchFamily="18" charset="0"/>
                <a:cs typeface="Times" panose="02020603050405020304" pitchFamily="18" charset="0"/>
              </a:rPr>
              <a:t>Summary</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21</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8138160" cy="1371600"/>
          </a:xfrm>
          <a:prstGeom prst="roundRect">
            <a:avLst>
              <a:gd name="adj" fmla="val 8000"/>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1234440"/>
            <a:ext cx="7589520" cy="1371600"/>
          </a:xfrm>
          <a:prstGeom prst="rect">
            <a:avLst/>
          </a:prstGeom>
          <a:noFill/>
        </p:spPr>
        <p:txBody>
          <a:bodyPr wrap="square" anchor="ctr" lIns="45720" rIns="45720">
            <a:spAutoFit/>
          </a:bodyPr>
          <a:lstStyle/>
          <a:p>
            <a:pPr algn="l">
              <a:spcAft>
                <a:spcPts val="0"/>
              </a:spcAft>
            </a:pPr>
            <a:r>
              <a:rPr sz="2100" b="1" i="0">
                <a:solidFill>
                  <a:srgbClr val="FFFFFF"/>
                </a:solidFill>
                <a:latin typeface="Times New Roman"/>
              </a:rPr>
              <a:t>A low-cost robot maps a home by itself with standard ROS 2 parts, provided each part is configured for the next and the motion is checked against the lidar.</a:t>
            </a:r>
          </a:p>
        </p:txBody>
      </p:sp>
      <p:sp>
        <p:nvSpPr>
          <p:cNvPr id="18" name="Rounded Rectangle 17"/>
          <p:cNvSpPr/>
          <p:nvPr/>
        </p:nvSpPr>
        <p:spPr>
          <a:xfrm>
            <a:off x="502920" y="2880360"/>
            <a:ext cx="2560320" cy="1828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85800" y="3063240"/>
            <a:ext cx="457200" cy="45720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1</a:t>
            </a:r>
          </a:p>
        </p:txBody>
      </p:sp>
      <p:sp>
        <p:nvSpPr>
          <p:cNvPr id="20" name="TextBox 19"/>
          <p:cNvSpPr txBox="1"/>
          <p:nvPr/>
        </p:nvSpPr>
        <p:spPr>
          <a:xfrm>
            <a:off x="1234440" y="3063240"/>
            <a:ext cx="1783080" cy="457200"/>
          </a:xfrm>
          <a:prstGeom prst="rect">
            <a:avLst/>
          </a:prstGeom>
          <a:noFill/>
        </p:spPr>
        <p:txBody>
          <a:bodyPr wrap="square" anchor="ctr" lIns="45720" rIns="45720">
            <a:spAutoFit/>
          </a:bodyPr>
          <a:lstStyle/>
          <a:p>
            <a:pPr algn="l">
              <a:spcAft>
                <a:spcPts val="0"/>
              </a:spcAft>
            </a:pPr>
            <a:r>
              <a:rPr sz="1700" b="1" i="0">
                <a:solidFill>
                  <a:srgbClr val="0000CC"/>
                </a:solidFill>
                <a:latin typeface="Times New Roman"/>
              </a:rPr>
              <a:t>On board</a:t>
            </a:r>
          </a:p>
        </p:txBody>
      </p:sp>
      <p:sp>
        <p:nvSpPr>
          <p:cNvPr id="21" name="TextBox 20"/>
          <p:cNvSpPr txBox="1"/>
          <p:nvPr/>
        </p:nvSpPr>
        <p:spPr>
          <a:xfrm>
            <a:off x="685800" y="3611880"/>
            <a:ext cx="2240280" cy="1051560"/>
          </a:xfrm>
          <a:prstGeom prst="rect">
            <a:avLst/>
          </a:prstGeom>
          <a:noFill/>
        </p:spPr>
        <p:txBody>
          <a:bodyPr wrap="square" anchor="t" lIns="45720" rIns="45720">
            <a:spAutoFit/>
          </a:bodyPr>
          <a:lstStyle/>
          <a:p>
            <a:pPr algn="l">
              <a:spcAft>
                <a:spcPts val="0"/>
              </a:spcAft>
            </a:pPr>
            <a:r>
              <a:rPr sz="1300" b="0" i="0">
                <a:solidFill>
                  <a:srgbClr val="1A1A1A"/>
                </a:solidFill>
                <a:latin typeface="Times New Roman"/>
              </a:rPr>
              <a:t>SLAM, Nav2 and the explorer on a Pi 5; the PC only watches</a:t>
            </a:r>
          </a:p>
        </p:txBody>
      </p:sp>
      <p:sp>
        <p:nvSpPr>
          <p:cNvPr id="22" name="Rounded Rectangle 21"/>
          <p:cNvSpPr/>
          <p:nvPr/>
        </p:nvSpPr>
        <p:spPr>
          <a:xfrm>
            <a:off x="3291839" y="2880360"/>
            <a:ext cx="2560320" cy="1828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3474720" y="3063240"/>
            <a:ext cx="457200" cy="45720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2</a:t>
            </a:r>
          </a:p>
        </p:txBody>
      </p:sp>
      <p:sp>
        <p:nvSpPr>
          <p:cNvPr id="24" name="TextBox 23"/>
          <p:cNvSpPr txBox="1"/>
          <p:nvPr/>
        </p:nvSpPr>
        <p:spPr>
          <a:xfrm>
            <a:off x="4023359" y="3063240"/>
            <a:ext cx="1783080" cy="457200"/>
          </a:xfrm>
          <a:prstGeom prst="rect">
            <a:avLst/>
          </a:prstGeom>
          <a:noFill/>
        </p:spPr>
        <p:txBody>
          <a:bodyPr wrap="square" anchor="ctr" lIns="45720" rIns="45720">
            <a:spAutoFit/>
          </a:bodyPr>
          <a:lstStyle/>
          <a:p>
            <a:pPr algn="l">
              <a:spcAft>
                <a:spcPts val="0"/>
              </a:spcAft>
            </a:pPr>
            <a:r>
              <a:rPr sz="1700" b="1" i="0">
                <a:solidFill>
                  <a:srgbClr val="0000CC"/>
                </a:solidFill>
                <a:latin typeface="Times New Roman"/>
              </a:rPr>
              <a:t>Safe by layers</a:t>
            </a:r>
          </a:p>
        </p:txBody>
      </p:sp>
      <p:sp>
        <p:nvSpPr>
          <p:cNvPr id="25" name="TextBox 24"/>
          <p:cNvSpPr txBox="1"/>
          <p:nvPr/>
        </p:nvSpPr>
        <p:spPr>
          <a:xfrm>
            <a:off x="3474720" y="3611880"/>
            <a:ext cx="2240280" cy="1051560"/>
          </a:xfrm>
          <a:prstGeom prst="rect">
            <a:avLst/>
          </a:prstGeom>
          <a:noFill/>
        </p:spPr>
        <p:txBody>
          <a:bodyPr wrap="square" anchor="t" lIns="45720" rIns="45720">
            <a:spAutoFit/>
          </a:bodyPr>
          <a:lstStyle/>
          <a:p>
            <a:pPr algn="l">
              <a:spcAft>
                <a:spcPts val="0"/>
              </a:spcAft>
            </a:pPr>
            <a:r>
              <a:rPr sz="1300" b="0" i="0">
                <a:solidFill>
                  <a:srgbClr val="1A1A1A"/>
                </a:solidFill>
                <a:latin typeface="Times New Roman"/>
              </a:rPr>
              <a:t>planner, controller, and a motor node that refuses to hit things</a:t>
            </a:r>
          </a:p>
        </p:txBody>
      </p:sp>
      <p:sp>
        <p:nvSpPr>
          <p:cNvPr id="26" name="Rounded Rectangle 25"/>
          <p:cNvSpPr/>
          <p:nvPr/>
        </p:nvSpPr>
        <p:spPr>
          <a:xfrm>
            <a:off x="6080759" y="2880360"/>
            <a:ext cx="2560320" cy="1828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263640" y="3063240"/>
            <a:ext cx="457200" cy="45720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3</a:t>
            </a:r>
          </a:p>
        </p:txBody>
      </p:sp>
      <p:sp>
        <p:nvSpPr>
          <p:cNvPr id="28" name="TextBox 27"/>
          <p:cNvSpPr txBox="1"/>
          <p:nvPr/>
        </p:nvSpPr>
        <p:spPr>
          <a:xfrm>
            <a:off x="6812279" y="3063240"/>
            <a:ext cx="1783080" cy="457200"/>
          </a:xfrm>
          <a:prstGeom prst="rect">
            <a:avLst/>
          </a:prstGeom>
          <a:noFill/>
        </p:spPr>
        <p:txBody>
          <a:bodyPr wrap="square" anchor="ctr" lIns="45720" rIns="45720">
            <a:spAutoFit/>
          </a:bodyPr>
          <a:lstStyle/>
          <a:p>
            <a:pPr algn="l">
              <a:spcAft>
                <a:spcPts val="0"/>
              </a:spcAft>
            </a:pPr>
            <a:r>
              <a:rPr sz="1700" b="1" i="0">
                <a:solidFill>
                  <a:srgbClr val="0000CC"/>
                </a:solidFill>
                <a:latin typeface="Times New Roman"/>
              </a:rPr>
              <a:t>Reproducible</a:t>
            </a:r>
          </a:p>
        </p:txBody>
      </p:sp>
      <p:sp>
        <p:nvSpPr>
          <p:cNvPr id="29" name="TextBox 28"/>
          <p:cNvSpPr txBox="1"/>
          <p:nvPr/>
        </p:nvSpPr>
        <p:spPr>
          <a:xfrm>
            <a:off x="6263640" y="3611880"/>
            <a:ext cx="2240280" cy="1051560"/>
          </a:xfrm>
          <a:prstGeom prst="rect">
            <a:avLst/>
          </a:prstGeom>
          <a:noFill/>
        </p:spPr>
        <p:txBody>
          <a:bodyPr wrap="square" anchor="t" lIns="45720" rIns="45720">
            <a:spAutoFit/>
          </a:bodyPr>
          <a:lstStyle/>
          <a:p>
            <a:pPr algn="l">
              <a:spcAft>
                <a:spcPts val="0"/>
              </a:spcAft>
            </a:pPr>
            <a:r>
              <a:rPr sz="1300" b="0" i="0">
                <a:solidFill>
                  <a:srgbClr val="1A1A1A"/>
                </a:solidFill>
                <a:latin typeface="Times New Roman"/>
              </a:rPr>
              <a:t>code, configuration, run logs and this analysis on GitHub</a:t>
            </a:r>
          </a:p>
        </p:txBody>
      </p:sp>
      <p:sp>
        <p:nvSpPr>
          <p:cNvPr id="30" name="TextBox 29"/>
          <p:cNvSpPr txBox="1"/>
          <p:nvPr/>
        </p:nvSpPr>
        <p:spPr>
          <a:xfrm>
            <a:off x="502920" y="4937760"/>
            <a:ext cx="8138160" cy="548640"/>
          </a:xfrm>
          <a:prstGeom prst="rect">
            <a:avLst/>
          </a:prstGeom>
          <a:noFill/>
        </p:spPr>
        <p:txBody>
          <a:bodyPr wrap="square" anchor="t" lIns="45720" rIns="45720">
            <a:spAutoFit/>
          </a:bodyPr>
          <a:lstStyle/>
          <a:p>
            <a:pPr algn="ctr">
              <a:spcAft>
                <a:spcPts val="600"/>
              </a:spcAft>
            </a:pPr>
            <a:r>
              <a:rPr sz="2600" b="1" i="0">
                <a:solidFill>
                  <a:srgbClr val="CC0633"/>
                </a:solidFill>
                <a:latin typeface="Times New Roman"/>
              </a:rPr>
              <a:t>Thank you! Questions?</a:t>
            </a:r>
          </a:p>
        </p:txBody>
      </p:sp>
      <p:sp>
        <p:nvSpPr>
          <p:cNvPr id="31" name="TextBox 30"/>
          <p:cNvSpPr txBox="1"/>
          <p:nvPr/>
        </p:nvSpPr>
        <p:spPr>
          <a:xfrm>
            <a:off x="502920" y="5486400"/>
            <a:ext cx="8138160" cy="365760"/>
          </a:xfrm>
          <a:prstGeom prst="rect">
            <a:avLst/>
          </a:prstGeom>
          <a:noFill/>
        </p:spPr>
        <p:txBody>
          <a:bodyPr wrap="square" anchor="t" lIns="45720" rIns="45720">
            <a:spAutoFit/>
          </a:bodyPr>
          <a:lstStyle/>
          <a:p>
            <a:pPr algn="ctr">
              <a:spcAft>
                <a:spcPts val="600"/>
              </a:spcAft>
            </a:pPr>
            <a:r>
              <a:rPr sz="1100" b="0" i="0">
                <a:solidFill>
                  <a:srgbClr val="55555F"/>
                </a:solidFill>
                <a:latin typeface="Times New Roman"/>
              </a:rPr>
              <a:t>github.com/hmarthens1/rpi5-robot-board · ros2/mentorpi_nav · pc/robot04-mapper</a:t>
            </a:r>
          </a:p>
        </p:txBody>
      </p:sp>
    </p:spTree>
  </p:cSld>
  <p:clrMapOvr>
    <a:masterClrMapping/>
  </p:clrMapOvr>
</p:sld>
</file>

<file path=ppt/theme/theme1.xml><?xml version="1.0" encoding="utf-8"?>
<a:theme xmlns:a="http://schemas.openxmlformats.org/drawingml/2006/main" name="Title Page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ody Copy Slides">
  <a:themeElements>
    <a:clrScheme name="SFU Brand Colours">
      <a:dk1>
        <a:srgbClr val="000000"/>
      </a:dk1>
      <a:lt1>
        <a:srgbClr val="FFFFFF"/>
      </a:lt1>
      <a:dk2>
        <a:srgbClr val="8C0E1C"/>
      </a:dk2>
      <a:lt2>
        <a:srgbClr val="D31B34"/>
      </a:lt2>
      <a:accent1>
        <a:srgbClr val="212121"/>
      </a:accent1>
      <a:accent2>
        <a:srgbClr val="515151"/>
      </a:accent2>
      <a:accent3>
        <a:srgbClr val="797979"/>
      </a:accent3>
      <a:accent4>
        <a:srgbClr val="A9A9A9"/>
      </a:accent4>
      <a:accent5>
        <a:srgbClr val="CACACA"/>
      </a:accent5>
      <a:accent6>
        <a:srgbClr val="EAEAEA"/>
      </a:accent6>
      <a:hlink>
        <a:srgbClr val="D31B34"/>
      </a:hlink>
      <a:folHlink>
        <a:srgbClr val="8C0E1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mage Only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C067C7-B28B-41E1-8939-01F728D15BD2}">
  <we:reference id="wa104381909" version="3.14.0.0" store="en-US" storeType="OMEX"/>
  <we:alternateReferences>
    <we:reference id="WA104381909" version="3.14.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0763C2A067C4409E588628B424D285" ma:contentTypeVersion="18" ma:contentTypeDescription="Create a new document." ma:contentTypeScope="" ma:versionID="bc8fde4d91bfaf1335ea098e4343a30a">
  <xsd:schema xmlns:xsd="http://www.w3.org/2001/XMLSchema" xmlns:xs="http://www.w3.org/2001/XMLSchema" xmlns:p="http://schemas.microsoft.com/office/2006/metadata/properties" xmlns:ns3="2ea93701-5247-48e5-afcf-df8c64a1819c" xmlns:ns4="4ccdac11-c10e-4f22-95ac-d5207ff62957" targetNamespace="http://schemas.microsoft.com/office/2006/metadata/properties" ma:root="true" ma:fieldsID="609d03f6caf78cb11b167e17d5a5136e" ns3:_="" ns4:_="">
    <xsd:import namespace="2ea93701-5247-48e5-afcf-df8c64a1819c"/>
    <xsd:import namespace="4ccdac11-c10e-4f22-95ac-d5207ff6295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LengthInSecond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a93701-5247-48e5-afcf-df8c64a181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LengthInSeconds" ma:index="12" nillable="true" ma:displayName="MediaLengthInSeconds" ma:hidden="true" ma:internalName="MediaLengthInSeconds" ma:readOnly="true">
      <xsd:simpleType>
        <xsd:restriction base="dms:Unknown"/>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cdac11-c10e-4f22-95ac-d5207ff62957"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ea93701-5247-48e5-afcf-df8c64a1819c" xsi:nil="true"/>
  </documentManagement>
</p:properties>
</file>

<file path=customXml/itemProps1.xml><?xml version="1.0" encoding="utf-8"?>
<ds:datastoreItem xmlns:ds="http://schemas.openxmlformats.org/officeDocument/2006/customXml" ds:itemID="{B686A0CC-AD33-40A1-A4DD-78AD5A78C1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ea93701-5247-48e5-afcf-df8c64a1819c"/>
    <ds:schemaRef ds:uri="4ccdac11-c10e-4f22-95ac-d5207ff629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CA2A67-BF33-4602-8B66-34770DDFDB14}">
  <ds:schemaRefs>
    <ds:schemaRef ds:uri="http://schemas.microsoft.com/sharepoint/v3/contenttype/forms"/>
  </ds:schemaRefs>
</ds:datastoreItem>
</file>

<file path=customXml/itemProps3.xml><?xml version="1.0" encoding="utf-8"?>
<ds:datastoreItem xmlns:ds="http://schemas.openxmlformats.org/officeDocument/2006/customXml" ds:itemID="{E1A6A63B-361A-420C-B7A1-644929B7D659}">
  <ds:schemaRef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2ea93701-5247-48e5-afcf-df8c64a1819c"/>
    <ds:schemaRef ds:uri="http://purl.org/dc/terms/"/>
    <ds:schemaRef ds:uri="http://purl.org/dc/elements/1.1/"/>
    <ds:schemaRef ds:uri="http://schemas.openxmlformats.org/package/2006/metadata/core-properties"/>
    <ds:schemaRef ds:uri="4ccdac11-c10e-4f22-95ac-d5207ff62957"/>
    <ds:schemaRef ds:uri="http://purl.org/dc/dcmitype/"/>
  </ds:schemaRefs>
</ds:datastoreItem>
</file>

<file path=docMetadata/LabelInfo.xml><?xml version="1.0" encoding="utf-8"?>
<clbl:labelList xmlns:clbl="http://schemas.microsoft.com/office/2020/mipLabelMetadata">
  <clbl:label id="{04e8677e-c989-47b9-8619-d83d5a5f6c67}" enabled="0" method="" siteId="{04e8677e-c989-47b9-8619-d83d5a5f6c67}" removed="1"/>
</clbl:labelList>
</file>

<file path=docProps/app.xml><?xml version="1.0" encoding="utf-8"?>
<Properties xmlns="http://schemas.openxmlformats.org/officeDocument/2006/extended-properties" xmlns:vt="http://schemas.openxmlformats.org/officeDocument/2006/docPropsVTypes">
  <Template>Office Theme</Template>
  <TotalTime>44862</TotalTime>
  <Words>1766</Words>
  <Application>Microsoft Office PowerPoint</Application>
  <PresentationFormat>On-screen Show (4:3)</PresentationFormat>
  <Paragraphs>144</Paragraphs>
  <Slides>14</Slides>
  <Notes>2</Notes>
  <HiddenSlides>0</HiddenSlides>
  <MMClips>0</MMClips>
  <ScaleCrop>false</ScaleCrop>
  <HeadingPairs>
    <vt:vector size="4" baseType="variant">
      <vt:variant>
        <vt:lpstr>Theme</vt:lpstr>
      </vt:variant>
      <vt:variant>
        <vt:i4>3</vt:i4>
      </vt:variant>
      <vt:variant>
        <vt:lpstr>Slide Titles</vt:lpstr>
      </vt:variant>
      <vt:variant>
        <vt:i4>14</vt:i4>
      </vt:variant>
    </vt:vector>
  </HeadingPairs>
  <TitlesOfParts>
    <vt:vector size="17" baseType="lpstr">
      <vt:lpstr>Title Page Slides</vt:lpstr>
      <vt:lpstr>Body Copy Slides</vt:lpstr>
      <vt:lpstr>Image Only Slides</vt:lpstr>
      <vt:lpstr>Robotic Welding Automation: A Research-Gap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Marthens Hakazima</cp:lastModifiedBy>
  <cp:revision>154</cp:revision>
  <cp:lastPrinted>2019-05-17T16:35:52Z</cp:lastPrinted>
  <dcterms:created xsi:type="dcterms:W3CDTF">2019-03-19T21:21:49Z</dcterms:created>
  <dcterms:modified xsi:type="dcterms:W3CDTF">2026-09-24T20:21:23Z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0x010100E50763C2A067C4409E588628B424D285</vt:lpwstr>
  </property>
</Properties>
</file>