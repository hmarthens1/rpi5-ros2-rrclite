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02" r:id="rId5"/>
    <p:sldMasterId id="2147483704" r:id="rId6"/>
  </p:sldMasterIdLst>
  <p:notesMasterIdLst>
    <p:notesMasterId r:id="rId21"/>
  </p:notesMasterIdLst>
  <p:sldIdLst>
    <p:sldId id="264" r:id="rId7"/>
    <p:sldId id="564" r:id="rId33"/>
    <p:sldId id="565" r:id="rId34"/>
    <p:sldId id="566" r:id="rId32"/>
    <p:sldId id="567" r:id="rId31"/>
    <p:sldId id="568" r:id="rId30"/>
    <p:sldId id="569" r:id="rId29"/>
    <p:sldId id="570" r:id="rId28"/>
    <p:sldId id="571" r:id="rId27"/>
    <p:sldId id="572" r:id="rId26"/>
    <p:sldId id="573" r:id="rId20"/>
    <p:sldId id="574" r:id="rId43"/>
    <p:sldId id="575" r:id="rId44"/>
    <p:sldId id="576"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99FF"/>
    <a:srgbClr val="99CC00"/>
    <a:srgbClr val="99CCFF"/>
    <a:srgbClr val="CCCCFF"/>
    <a:srgbClr val="FFFFCC"/>
    <a:srgbClr val="0000CC"/>
    <a:srgbClr val="990033"/>
    <a:srgbClr val="D41B35"/>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3" autoAdjust="0"/>
    <p:restoredTop sz="96236" autoAdjust="0"/>
  </p:normalViewPr>
  <p:slideViewPr>
    <p:cSldViewPr snapToGrid="0" snapToObjects="1" showGuides="1">
      <p:cViewPr varScale="1">
        <p:scale>
          <a:sx n="75" d="100"/>
          <a:sy n="75" d="100"/>
        </p:scale>
        <p:origin x="72" y="702"/>
      </p:cViewPr>
      <p:guideLst>
        <p:guide orient="horz" pos="2160"/>
        <p:guide pos="2880"/>
      </p:guideLst>
    </p:cSldViewPr>
  </p:slideViewPr>
  <p:notesTextViewPr>
    <p:cViewPr>
      <p:scale>
        <a:sx n="3" d="2"/>
        <a:sy n="3" d="2"/>
      </p:scale>
      <p:origin x="0" y="0"/>
    </p:cViewPr>
  </p:notesTextViewPr>
  <p:sorterViewPr>
    <p:cViewPr>
      <p:scale>
        <a:sx n="75" d="100"/>
        <a:sy n="75" d="100"/>
      </p:scale>
      <p:origin x="0" y="-16848"/>
    </p:cViewPr>
  </p:sorterViewPr>
  <p:notesViewPr>
    <p:cSldViewPr snapToGrid="0" snapToObjects="1">
      <p:cViewPr varScale="1">
        <p:scale>
          <a:sx n="94" d="100"/>
          <a:sy n="94" d="100"/>
        </p:scale>
        <p:origin x="414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20" Type="http://schemas.openxmlformats.org/officeDocument/2006/relationships/slide" Target="slides/slide31.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30.xml"/><Relationship Id="rId27" Type="http://schemas.openxmlformats.org/officeDocument/2006/relationships/slide" Target="slides/slide29.xml"/><Relationship Id="rId28" Type="http://schemas.openxmlformats.org/officeDocument/2006/relationships/slide" Target="slides/slide28.xml"/><Relationship Id="rId29" Type="http://schemas.openxmlformats.org/officeDocument/2006/relationships/slide" Target="slides/slide27.xml"/><Relationship Id="rId30" Type="http://schemas.openxmlformats.org/officeDocument/2006/relationships/slide" Target="slides/slide26.xml"/><Relationship Id="rId31" Type="http://schemas.openxmlformats.org/officeDocument/2006/relationships/slide" Target="slides/slide25.xml"/><Relationship Id="rId32" Type="http://schemas.openxmlformats.org/officeDocument/2006/relationships/slide" Target="slides/slide24.xml"/><Relationship Id="rId33" Type="http://schemas.openxmlformats.org/officeDocument/2006/relationships/slide" Target="slides/slide22.xml"/><Relationship Id="rId34" Type="http://schemas.openxmlformats.org/officeDocument/2006/relationships/slide" Target="slides/slide23.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77646A-58FA-9D40-9D9D-83B2E51FE78A}" type="datetimeFigureOut">
              <a:rPr lang="en-US" smtClean="0"/>
              <a:t>9/24/2026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2F7FF-80E9-EA46-8276-FB972CB01D29}" type="slidenum">
              <a:rPr lang="en-US" smtClean="0"/>
              <a:t>‹#›</a:t>
            </a:fld>
            <a:endParaRPr lang="en-US"/>
          </a:p>
        </p:txBody>
      </p:sp>
    </p:spTree>
    <p:extLst>
      <p:ext uri="{BB962C8B-B14F-4D97-AF65-F5344CB8AC3E}">
        <p14:creationId xmlns:p14="http://schemas.microsoft.com/office/powerpoint/2010/main" val="2807404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t>Results of one day of autonomous mapping tests with robot04: what ran, how each run ended, the maps that were saved and what to fix next.</a:t>
            </a:r>
          </a:p>
        </p:txBody>
      </p:sp>
      <p:sp>
        <p:nvSpPr>
          <p:cNvPr id="4" name="Slide Number Placeholder 3"/>
          <p:cNvSpPr>
            <a:spLocks noGrp="1"/>
          </p:cNvSpPr>
          <p:nvPr>
            <p:ph type="sldNum" sz="quarter" idx="5"/>
          </p:nvPr>
        </p:nvSpPr>
        <p:spPr/>
        <p:txBody>
          <a:bodyPr/>
          <a:lstStyle/>
          <a:p>
            <a:fld id="{E162F7FF-80E9-EA46-8276-FB972CB01D29}" type="slidenum">
              <a:rPr lang="en-US" smtClean="0"/>
              <a:t>1</a:t>
            </a:fld>
            <a:endParaRPr lang="en-US"/>
          </a:p>
        </p:txBody>
      </p:sp>
    </p:spTree>
    <p:extLst>
      <p:ext uri="{BB962C8B-B14F-4D97-AF65-F5344CB8AC3E}">
        <p14:creationId xmlns:p14="http://schemas.microsoft.com/office/powerpoint/2010/main" val="3808398167"/>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completed run maps quickly at first and then slowly. The timer added to the app today agrees with the explorer's clock; the difference is the time before Explore and before saving.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session: three of four runs finished, R15 was stopped by the operator. No goal failed. These two maps were also the first saved with the app's new timer.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drove only inside the walled enclosure about 2.5 m across; the lidar saw out into the room, so the map is larger than the area the robot could drive. 10 of 34 goals failed, all outside or against the walls.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runs cancelled its first goal with 'battery low' and went home. The voltage in the log was just above the limit; the dip when the tracks start pushed the instantaneous value below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longest run of the day: nearly 8 minutes and 59 metres, 136 square metres mapped. Only 2 of 16 goals failed. The operator stopped it before the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robot's own save from R01. Blue is the path, red crosses the goals Nav2 aborted. The cause is not known yet; the next test is to log the abort reason and the costmap at each failed goal.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bar per run. Red: could not drive back. Grey: stopped by the operator. Orange: battery low. Green: done.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A was a large open area; B one long run there; C four runs that stopped at once on the battery rule; D and E a small walled enclosure, where the explorer finished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ran on the Pi; the PC only watched and saved maps. The explorer logs every goal and samples the pose, mapped area and battery every few seconds, which is where all the numbers in this deck come from.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Eighteen runs in about three and a half hours, 153 metres driven. The main result: in a bounded area the whole loop works, mapping until no frontier is left and returning home. In the large open area it does not yet.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goals were reached, orange disappeared on the way, red failed. The failures are almost all in the morning's open area.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maps saved from the PC app. All are map_server pgm and yaml, so Nav2 can load them.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the loop works when the area is closed; the open area needs the Nav2 failures understood; unreachable frontiers should be filtered; the battery check needs filtering; and every map now carries its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D BAR | Title Page with side imag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B2EDA9-BA65-7D43-B2F9-A634420DBC76}"/>
              </a:ext>
            </a:extLst>
          </p:cNvPr>
          <p:cNvSpPr txBox="1"/>
          <p:nvPr userDrawn="1"/>
        </p:nvSpPr>
        <p:spPr>
          <a:xfrm>
            <a:off x="0" y="0"/>
            <a:ext cx="5380038" cy="6864536"/>
          </a:xfrm>
          <a:prstGeom prst="rect">
            <a:avLst/>
          </a:prstGeom>
          <a:solidFill>
            <a:srgbClr val="CC0633"/>
          </a:solidFill>
        </p:spPr>
        <p:txBody>
          <a:bodyPr wrap="square" rtlCol="0">
            <a:spAutoFit/>
          </a:bodyPr>
          <a:lstStyle/>
          <a:p>
            <a:endParaRPr lang="en-US" dirty="0"/>
          </a:p>
        </p:txBody>
      </p:sp>
      <p:sp>
        <p:nvSpPr>
          <p:cNvPr id="4" name="Picture Placeholder 3"/>
          <p:cNvSpPr>
            <a:spLocks noGrp="1"/>
          </p:cNvSpPr>
          <p:nvPr>
            <p:ph type="pic" sz="quarter" idx="11"/>
          </p:nvPr>
        </p:nvSpPr>
        <p:spPr>
          <a:xfrm>
            <a:off x="5380038" y="186"/>
            <a:ext cx="3763962" cy="6864350"/>
          </a:xfrm>
        </p:spPr>
        <p:txBody>
          <a:bodyPr/>
          <a:lstStyle/>
          <a:p>
            <a:endParaRPr lang="en-US" dirty="0"/>
          </a:p>
        </p:txBody>
      </p:sp>
      <p:sp>
        <p:nvSpPr>
          <p:cNvPr id="3" name="Date Placeholder 2">
            <a:extLst>
              <a:ext uri="{FF2B5EF4-FFF2-40B4-BE49-F238E27FC236}">
                <a16:creationId xmlns:a16="http://schemas.microsoft.com/office/drawing/2014/main" id="{E40BDC30-F9E2-E84D-8EC1-32EBBF8E3038}"/>
              </a:ext>
            </a:extLst>
          </p:cNvPr>
          <p:cNvSpPr>
            <a:spLocks noGrp="1"/>
          </p:cNvSpPr>
          <p:nvPr>
            <p:ph type="dt" sz="half" idx="10"/>
          </p:nvPr>
        </p:nvSpPr>
        <p:spPr>
          <a:xfrm>
            <a:off x="628650" y="5573203"/>
            <a:ext cx="2057400" cy="365125"/>
          </a:xfrm>
        </p:spPr>
        <p:txBody>
          <a:bodyPr/>
          <a:lstStyle/>
          <a:p>
            <a:r>
              <a:rPr lang="en-US" dirty="0"/>
              <a:t>DAY MONTH YEAR</a:t>
            </a:r>
          </a:p>
        </p:txBody>
      </p:sp>
      <p:sp>
        <p:nvSpPr>
          <p:cNvPr id="7" name="Title 1">
            <a:extLst>
              <a:ext uri="{FF2B5EF4-FFF2-40B4-BE49-F238E27FC236}">
                <a16:creationId xmlns:a16="http://schemas.microsoft.com/office/drawing/2014/main" id="{9AAA6453-7A6E-6F44-9531-EED55DE91367}"/>
              </a:ext>
            </a:extLst>
          </p:cNvPr>
          <p:cNvSpPr>
            <a:spLocks noGrp="1"/>
          </p:cNvSpPr>
          <p:nvPr>
            <p:ph type="ctrTitle" hasCustomPrompt="1"/>
          </p:nvPr>
        </p:nvSpPr>
        <p:spPr>
          <a:xfrm>
            <a:off x="628649" y="1122363"/>
            <a:ext cx="4751389" cy="3278721"/>
          </a:xfrm>
          <a:noFill/>
          <a:ln>
            <a:noFill/>
          </a:ln>
        </p:spPr>
        <p:txBody>
          <a:bodyPr anchor="t">
            <a:noAutofit/>
          </a:bodyPr>
          <a:lstStyle>
            <a:lvl1pPr algn="l">
              <a:defRPr sz="6000">
                <a:ln>
                  <a:noFill/>
                </a:ln>
                <a:solidFill>
                  <a:schemeClr val="bg1"/>
                </a:solidFill>
              </a:defRPr>
            </a:lvl1pPr>
          </a:lstStyle>
          <a:p>
            <a:r>
              <a:rPr lang="en-US" dirty="0"/>
              <a:t>PRESENTATION</a:t>
            </a:r>
            <a:br>
              <a:rPr lang="en-US" dirty="0"/>
            </a:br>
            <a:r>
              <a:rPr lang="en-US" dirty="0"/>
              <a:t>TITLE PAGE</a:t>
            </a:r>
            <a:br>
              <a:rPr lang="en-US" dirty="0"/>
            </a:br>
            <a:r>
              <a:rPr lang="en-US" dirty="0"/>
              <a:t>WITH </a:t>
            </a:r>
            <a:br>
              <a:rPr lang="en-US" dirty="0"/>
            </a:br>
            <a:r>
              <a:rPr lang="en-US" dirty="0"/>
              <a:t>SIDE IMAGE</a:t>
            </a:r>
          </a:p>
        </p:txBody>
      </p:sp>
      <p:pic>
        <p:nvPicPr>
          <p:cNvPr id="12" name="Picture 11">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3023542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BAR | Title Page with side image">
    <p:spTree>
      <p:nvGrpSpPr>
        <p:cNvPr id="1" name=""/>
        <p:cNvGrpSpPr/>
        <p:nvPr/>
      </p:nvGrpSpPr>
      <p:grpSpPr>
        <a:xfrm>
          <a:off x="0" y="0"/>
          <a:ext cx="0" cy="0"/>
          <a:chOff x="0" y="0"/>
          <a:chExt cx="0" cy="0"/>
        </a:xfrm>
      </p:grpSpPr>
      <p:sp>
        <p:nvSpPr>
          <p:cNvPr id="6" name="Rectangle 5"/>
          <p:cNvSpPr/>
          <p:nvPr userDrawn="1"/>
        </p:nvSpPr>
        <p:spPr>
          <a:xfrm>
            <a:off x="5380038" y="-6350"/>
            <a:ext cx="3763962" cy="6864350"/>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Picture Placeholder 3"/>
          <p:cNvSpPr>
            <a:spLocks noGrp="1"/>
          </p:cNvSpPr>
          <p:nvPr>
            <p:ph type="pic" sz="quarter" idx="11"/>
          </p:nvPr>
        </p:nvSpPr>
        <p:spPr>
          <a:xfrm>
            <a:off x="5380038" y="0"/>
            <a:ext cx="3763962" cy="6864350"/>
          </a:xfrm>
        </p:spPr>
        <p:txBody>
          <a:bodyPr/>
          <a:lstStyle/>
          <a:p>
            <a:endParaRPr lang="en-US"/>
          </a:p>
        </p:txBody>
      </p:sp>
      <p:sp>
        <p:nvSpPr>
          <p:cNvPr id="3" name="Date Placeholder 2">
            <a:extLst>
              <a:ext uri="{FF2B5EF4-FFF2-40B4-BE49-F238E27FC236}">
                <a16:creationId xmlns:a16="http://schemas.microsoft.com/office/drawing/2014/main" id="{E40BDC30-F9E2-E84D-8EC1-32EBBF8E3038}"/>
              </a:ext>
            </a:extLst>
          </p:cNvPr>
          <p:cNvSpPr>
            <a:spLocks noGrp="1"/>
          </p:cNvSpPr>
          <p:nvPr>
            <p:ph type="dt" sz="half" idx="10"/>
          </p:nvPr>
        </p:nvSpPr>
        <p:spPr>
          <a:xfrm>
            <a:off x="628650" y="5573203"/>
            <a:ext cx="2057400" cy="365125"/>
          </a:xfrm>
        </p:spPr>
        <p:txBody>
          <a:bodyPr/>
          <a:lstStyle/>
          <a:p>
            <a:r>
              <a:rPr lang="en-US" dirty="0"/>
              <a:t>DAY MONTH YEAR</a:t>
            </a:r>
          </a:p>
        </p:txBody>
      </p:sp>
      <p:sp>
        <p:nvSpPr>
          <p:cNvPr id="7" name="Title 1">
            <a:extLst>
              <a:ext uri="{FF2B5EF4-FFF2-40B4-BE49-F238E27FC236}">
                <a16:creationId xmlns:a16="http://schemas.microsoft.com/office/drawing/2014/main" id="{9AAA6453-7A6E-6F44-9531-EED55DE91367}"/>
              </a:ext>
            </a:extLst>
          </p:cNvPr>
          <p:cNvSpPr>
            <a:spLocks noGrp="1"/>
          </p:cNvSpPr>
          <p:nvPr>
            <p:ph type="ctrTitle" hasCustomPrompt="1"/>
          </p:nvPr>
        </p:nvSpPr>
        <p:spPr>
          <a:xfrm>
            <a:off x="628649" y="1122363"/>
            <a:ext cx="4751389" cy="3278721"/>
          </a:xfrm>
        </p:spPr>
        <p:txBody>
          <a:bodyPr anchor="t">
            <a:noAutofit/>
          </a:bodyPr>
          <a:lstStyle>
            <a:lvl1pPr algn="l">
              <a:defRPr sz="6000">
                <a:solidFill>
                  <a:srgbClr val="CC0633"/>
                </a:solidFill>
              </a:defRPr>
            </a:lvl1pPr>
          </a:lstStyle>
          <a:p>
            <a:r>
              <a:rPr lang="en-US" dirty="0"/>
              <a:t>PRESENTATION</a:t>
            </a:r>
            <a:br>
              <a:rPr lang="en-US" dirty="0"/>
            </a:br>
            <a:r>
              <a:rPr lang="en-US" dirty="0"/>
              <a:t>TITLE PAGE</a:t>
            </a:r>
            <a:br>
              <a:rPr lang="en-US" dirty="0"/>
            </a:br>
            <a:r>
              <a:rPr lang="en-US" dirty="0"/>
              <a:t>WITH </a:t>
            </a:r>
            <a:br>
              <a:rPr lang="en-US" dirty="0"/>
            </a:br>
            <a:r>
              <a:rPr lang="en-US" dirty="0"/>
              <a:t>SIDE IMAGE</a:t>
            </a:r>
          </a:p>
        </p:txBody>
      </p:sp>
      <p:pic>
        <p:nvPicPr>
          <p:cNvPr id="12" name="Picture 11">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2453020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D BAR | Title Page with top imag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C24254-722A-B146-BECC-4895EC4DA86A}"/>
              </a:ext>
            </a:extLst>
          </p:cNvPr>
          <p:cNvSpPr txBox="1"/>
          <p:nvPr userDrawn="1"/>
        </p:nvSpPr>
        <p:spPr>
          <a:xfrm>
            <a:off x="0" y="3743324"/>
            <a:ext cx="9143999" cy="3114675"/>
          </a:xfrm>
          <a:prstGeom prst="rect">
            <a:avLst/>
          </a:prstGeom>
          <a:solidFill>
            <a:srgbClr val="CC0633"/>
          </a:solidFill>
        </p:spPr>
        <p:txBody>
          <a:bodyPr wrap="square" rtlCol="0">
            <a:spAutoFit/>
          </a:bodyPr>
          <a:lstStyle/>
          <a:p>
            <a:endParaRPr lang="en-US" dirty="0"/>
          </a:p>
        </p:txBody>
      </p:sp>
      <p:sp>
        <p:nvSpPr>
          <p:cNvPr id="5" name="Title 1">
            <a:extLst>
              <a:ext uri="{FF2B5EF4-FFF2-40B4-BE49-F238E27FC236}">
                <a16:creationId xmlns:a16="http://schemas.microsoft.com/office/drawing/2014/main" id="{A9135019-64D5-5141-B3AA-B6B20940587F}"/>
              </a:ext>
            </a:extLst>
          </p:cNvPr>
          <p:cNvSpPr>
            <a:spLocks noGrp="1"/>
          </p:cNvSpPr>
          <p:nvPr>
            <p:ph type="ctrTitle" hasCustomPrompt="1"/>
          </p:nvPr>
        </p:nvSpPr>
        <p:spPr>
          <a:xfrm>
            <a:off x="730666" y="4101752"/>
            <a:ext cx="7772400" cy="3278721"/>
          </a:xfrm>
        </p:spPr>
        <p:txBody>
          <a:bodyPr anchor="t">
            <a:noAutofit/>
          </a:bodyPr>
          <a:lstStyle>
            <a:lvl1pPr algn="l">
              <a:defRPr sz="6000">
                <a:solidFill>
                  <a:schemeClr val="bg1"/>
                </a:solidFill>
              </a:defRPr>
            </a:lvl1pPr>
          </a:lstStyle>
          <a:p>
            <a:r>
              <a:rPr lang="en-US" dirty="0"/>
              <a:t>PRESENTATION</a:t>
            </a:r>
            <a:br>
              <a:rPr lang="en-US" dirty="0"/>
            </a:br>
            <a:r>
              <a:rPr lang="en-US" dirty="0"/>
              <a:t>TITLE PAGE</a:t>
            </a:r>
            <a:br>
              <a:rPr lang="en-US" dirty="0"/>
            </a:br>
            <a:r>
              <a:rPr lang="en-US" dirty="0"/>
              <a:t>WITH TOP IMAGE</a:t>
            </a:r>
          </a:p>
        </p:txBody>
      </p:sp>
      <p:sp>
        <p:nvSpPr>
          <p:cNvPr id="6" name="Picture Placeholder 3"/>
          <p:cNvSpPr>
            <a:spLocks noGrp="1"/>
          </p:cNvSpPr>
          <p:nvPr>
            <p:ph type="pic" sz="quarter" idx="11"/>
          </p:nvPr>
        </p:nvSpPr>
        <p:spPr>
          <a:xfrm>
            <a:off x="0" y="-1"/>
            <a:ext cx="9144000" cy="3743325"/>
          </a:xfrm>
        </p:spPr>
        <p:txBody>
          <a:bodyPr/>
          <a:lstStyle/>
          <a:p>
            <a:endParaRPr lang="en-US"/>
          </a:p>
        </p:txBody>
      </p:sp>
      <p:pic>
        <p:nvPicPr>
          <p:cNvPr id="8" name="Picture 7">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3834892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BAR | Title Page with top image">
    <p:spTree>
      <p:nvGrpSpPr>
        <p:cNvPr id="1" name=""/>
        <p:cNvGrpSpPr/>
        <p:nvPr/>
      </p:nvGrpSpPr>
      <p:grpSpPr>
        <a:xfrm>
          <a:off x="0" y="0"/>
          <a:ext cx="0" cy="0"/>
          <a:chOff x="0" y="0"/>
          <a:chExt cx="0" cy="0"/>
        </a:xfrm>
      </p:grpSpPr>
      <p:sp>
        <p:nvSpPr>
          <p:cNvPr id="3" name="Rectangle 2"/>
          <p:cNvSpPr/>
          <p:nvPr userDrawn="1"/>
        </p:nvSpPr>
        <p:spPr>
          <a:xfrm>
            <a:off x="0" y="-6351"/>
            <a:ext cx="9144000" cy="3830855"/>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Picture Placeholder 3"/>
          <p:cNvSpPr>
            <a:spLocks noGrp="1"/>
          </p:cNvSpPr>
          <p:nvPr>
            <p:ph type="pic" sz="quarter" idx="11"/>
          </p:nvPr>
        </p:nvSpPr>
        <p:spPr>
          <a:xfrm>
            <a:off x="0" y="-1"/>
            <a:ext cx="9144000" cy="3830855"/>
          </a:xfrm>
        </p:spPr>
        <p:txBody>
          <a:bodyPr/>
          <a:lstStyle/>
          <a:p>
            <a:endParaRPr lang="en-US"/>
          </a:p>
        </p:txBody>
      </p:sp>
      <p:sp>
        <p:nvSpPr>
          <p:cNvPr id="4" name="Title 1">
            <a:extLst>
              <a:ext uri="{FF2B5EF4-FFF2-40B4-BE49-F238E27FC236}">
                <a16:creationId xmlns:a16="http://schemas.microsoft.com/office/drawing/2014/main" id="{A46B9196-03E0-1243-81CF-AEC41C822380}"/>
              </a:ext>
            </a:extLst>
          </p:cNvPr>
          <p:cNvSpPr>
            <a:spLocks noGrp="1"/>
          </p:cNvSpPr>
          <p:nvPr>
            <p:ph type="ctrTitle" hasCustomPrompt="1"/>
          </p:nvPr>
        </p:nvSpPr>
        <p:spPr>
          <a:xfrm>
            <a:off x="730666" y="4101752"/>
            <a:ext cx="7772400" cy="3278721"/>
          </a:xfrm>
        </p:spPr>
        <p:txBody>
          <a:bodyPr anchor="t">
            <a:noAutofit/>
          </a:bodyPr>
          <a:lstStyle>
            <a:lvl1pPr algn="l">
              <a:defRPr sz="6000">
                <a:solidFill>
                  <a:srgbClr val="CC0633"/>
                </a:solidFill>
              </a:defRPr>
            </a:lvl1pPr>
          </a:lstStyle>
          <a:p>
            <a:r>
              <a:rPr lang="en-US" dirty="0"/>
              <a:t>PRESENTATION</a:t>
            </a:r>
            <a:br>
              <a:rPr lang="en-US" dirty="0"/>
            </a:br>
            <a:r>
              <a:rPr lang="en-US" dirty="0"/>
              <a:t>TITLE PAGE</a:t>
            </a:r>
            <a:br>
              <a:rPr lang="en-US" dirty="0"/>
            </a:br>
            <a:r>
              <a:rPr lang="en-US" dirty="0"/>
              <a:t>WITH TOP IMAGE</a:t>
            </a:r>
          </a:p>
        </p:txBody>
      </p:sp>
      <p:pic>
        <p:nvPicPr>
          <p:cNvPr id="6" name="Picture 5">
            <a:extLst>
              <a:ext uri="{FF2B5EF4-FFF2-40B4-BE49-F238E27FC236}">
                <a16:creationId xmlns:a16="http://schemas.microsoft.com/office/drawing/2014/main" id="{D54AFDEA-ECA5-5949-BBA0-CB12683808A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43170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D BAR | Title Page without imag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C29D96-D707-B34D-8402-C357832A3C7A}"/>
              </a:ext>
            </a:extLst>
          </p:cNvPr>
          <p:cNvSpPr txBox="1"/>
          <p:nvPr userDrawn="1"/>
        </p:nvSpPr>
        <p:spPr>
          <a:xfrm>
            <a:off x="0" y="1386479"/>
            <a:ext cx="9144000" cy="4025463"/>
          </a:xfrm>
          <a:prstGeom prst="rect">
            <a:avLst/>
          </a:prstGeom>
          <a:solidFill>
            <a:srgbClr val="CC0633"/>
          </a:solidFill>
        </p:spPr>
        <p:txBody>
          <a:bodyPr wrap="square" rtlCol="0">
            <a:spAutoFit/>
          </a:bodyPr>
          <a:lstStyle/>
          <a:p>
            <a:endParaRPr lang="en-US" dirty="0"/>
          </a:p>
        </p:txBody>
      </p:sp>
      <p:sp>
        <p:nvSpPr>
          <p:cNvPr id="11" name="Date Placeholder 2">
            <a:extLst>
              <a:ext uri="{FF2B5EF4-FFF2-40B4-BE49-F238E27FC236}">
                <a16:creationId xmlns:a16="http://schemas.microsoft.com/office/drawing/2014/main" id="{A9E8EA64-4192-3B4B-B6D0-A0CBC5D266D2}"/>
              </a:ext>
            </a:extLst>
          </p:cNvPr>
          <p:cNvSpPr>
            <a:spLocks noGrp="1"/>
          </p:cNvSpPr>
          <p:nvPr>
            <p:ph type="dt" sz="half" idx="10"/>
          </p:nvPr>
        </p:nvSpPr>
        <p:spPr>
          <a:xfrm>
            <a:off x="628650" y="5599184"/>
            <a:ext cx="2057400" cy="365125"/>
          </a:xfrm>
        </p:spPr>
        <p:txBody>
          <a:bodyPr/>
          <a:lstStyle>
            <a:lvl1pPr>
              <a:defRPr>
                <a:solidFill>
                  <a:srgbClr val="4D4D4C"/>
                </a:solidFill>
              </a:defRPr>
            </a:lvl1pPr>
          </a:lstStyle>
          <a:p>
            <a:r>
              <a:rPr lang="en-US" dirty="0"/>
              <a:t>DAY MONTH YEAR</a:t>
            </a:r>
          </a:p>
        </p:txBody>
      </p:sp>
      <p:pic>
        <p:nvPicPr>
          <p:cNvPr id="13" name="Picture 12">
            <a:extLst>
              <a:ext uri="{FF2B5EF4-FFF2-40B4-BE49-F238E27FC236}">
                <a16:creationId xmlns:a16="http://schemas.microsoft.com/office/drawing/2014/main" id="{B64D345E-FAF2-894B-9E63-6F75C8E5BD2D}"/>
              </a:ext>
            </a:extLst>
          </p:cNvPr>
          <p:cNvPicPr>
            <a:picLocks noChangeAspect="1"/>
          </p:cNvPicPr>
          <p:nvPr userDrawn="1"/>
        </p:nvPicPr>
        <p:blipFill>
          <a:blip r:embed="rId2"/>
          <a:stretch>
            <a:fillRect/>
          </a:stretch>
        </p:blipFill>
        <p:spPr>
          <a:xfrm>
            <a:off x="7221196" y="0"/>
            <a:ext cx="1281870" cy="640935"/>
          </a:xfrm>
          <a:prstGeom prst="rect">
            <a:avLst/>
          </a:prstGeom>
        </p:spPr>
      </p:pic>
      <p:sp>
        <p:nvSpPr>
          <p:cNvPr id="5" name="Title 1">
            <a:extLst>
              <a:ext uri="{FF2B5EF4-FFF2-40B4-BE49-F238E27FC236}">
                <a16:creationId xmlns:a16="http://schemas.microsoft.com/office/drawing/2014/main" id="{C9131F03-220F-7843-B21F-44753B90782B}"/>
              </a:ext>
            </a:extLst>
          </p:cNvPr>
          <p:cNvSpPr>
            <a:spLocks noGrp="1"/>
          </p:cNvSpPr>
          <p:nvPr>
            <p:ph type="ctrTitle" hasCustomPrompt="1"/>
          </p:nvPr>
        </p:nvSpPr>
        <p:spPr>
          <a:xfrm>
            <a:off x="730666" y="1915764"/>
            <a:ext cx="7772400" cy="3278721"/>
          </a:xfrm>
        </p:spPr>
        <p:txBody>
          <a:bodyPr anchor="t">
            <a:noAutofit/>
          </a:bodyPr>
          <a:lstStyle>
            <a:lvl1pPr algn="l">
              <a:defRPr sz="7200">
                <a:solidFill>
                  <a:schemeClr val="bg1"/>
                </a:solidFill>
              </a:defRPr>
            </a:lvl1pPr>
          </a:lstStyle>
          <a:p>
            <a:r>
              <a:rPr lang="en-US" dirty="0"/>
              <a:t>PRESENTATION</a:t>
            </a:r>
            <a:br>
              <a:rPr lang="en-US" dirty="0"/>
            </a:br>
            <a:r>
              <a:rPr lang="en-US" dirty="0"/>
              <a:t>TITLE PAGE</a:t>
            </a:r>
            <a:br>
              <a:rPr lang="en-US" dirty="0"/>
            </a:br>
            <a:r>
              <a:rPr lang="en-US" dirty="0"/>
              <a:t>WITHOUT IMAGE</a:t>
            </a:r>
          </a:p>
        </p:txBody>
      </p:sp>
    </p:spTree>
    <p:extLst>
      <p:ext uri="{BB962C8B-B14F-4D97-AF65-F5344CB8AC3E}">
        <p14:creationId xmlns:p14="http://schemas.microsoft.com/office/powerpoint/2010/main" val="228315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BAR | Title Page without image">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1140F4F-0E75-ED4A-90B8-D9886065EBC1}"/>
              </a:ext>
            </a:extLst>
          </p:cNvPr>
          <p:cNvSpPr txBox="1"/>
          <p:nvPr userDrawn="1"/>
        </p:nvSpPr>
        <p:spPr>
          <a:xfrm>
            <a:off x="0" y="0"/>
            <a:ext cx="9144000" cy="6858000"/>
          </a:xfrm>
          <a:prstGeom prst="rect">
            <a:avLst/>
          </a:prstGeom>
          <a:solidFill>
            <a:srgbClr val="CC0633"/>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7C99B31A-829C-DC4E-8280-930D2537D48A}"/>
              </a:ext>
            </a:extLst>
          </p:cNvPr>
          <p:cNvSpPr txBox="1"/>
          <p:nvPr userDrawn="1"/>
        </p:nvSpPr>
        <p:spPr>
          <a:xfrm>
            <a:off x="1" y="1376854"/>
            <a:ext cx="9144000" cy="4025463"/>
          </a:xfrm>
          <a:prstGeom prst="rect">
            <a:avLst/>
          </a:prstGeom>
          <a:solidFill>
            <a:schemeClr val="bg1"/>
          </a:solidFill>
        </p:spPr>
        <p:txBody>
          <a:bodyPr wrap="square" rtlCol="0">
            <a:noAutofit/>
          </a:bodyPr>
          <a:lstStyle/>
          <a:p>
            <a:endParaRPr lang="en-US" dirty="0"/>
          </a:p>
        </p:txBody>
      </p:sp>
      <p:sp>
        <p:nvSpPr>
          <p:cNvPr id="2" name="Title 1"/>
          <p:cNvSpPr>
            <a:spLocks noGrp="1"/>
          </p:cNvSpPr>
          <p:nvPr>
            <p:ph type="ctrTitle" hasCustomPrompt="1"/>
          </p:nvPr>
        </p:nvSpPr>
        <p:spPr>
          <a:xfrm>
            <a:off x="730666" y="1873722"/>
            <a:ext cx="7772400" cy="3278721"/>
          </a:xfrm>
        </p:spPr>
        <p:txBody>
          <a:bodyPr anchor="t">
            <a:noAutofit/>
          </a:bodyPr>
          <a:lstStyle>
            <a:lvl1pPr algn="l">
              <a:defRPr sz="7200">
                <a:solidFill>
                  <a:srgbClr val="CC0633"/>
                </a:solidFill>
              </a:defRPr>
            </a:lvl1pPr>
          </a:lstStyle>
          <a:p>
            <a:r>
              <a:rPr lang="en-US" dirty="0"/>
              <a:t>PRESENTATION</a:t>
            </a:r>
            <a:br>
              <a:rPr lang="en-US" dirty="0"/>
            </a:br>
            <a:r>
              <a:rPr lang="en-US" dirty="0"/>
              <a:t>TITLE PAGE</a:t>
            </a:r>
            <a:br>
              <a:rPr lang="en-US" dirty="0"/>
            </a:br>
            <a:r>
              <a:rPr lang="en-US" dirty="0"/>
              <a:t>WITHOUT IMAGE</a:t>
            </a:r>
          </a:p>
        </p:txBody>
      </p:sp>
      <p:sp>
        <p:nvSpPr>
          <p:cNvPr id="11" name="Date Placeholder 2">
            <a:extLst>
              <a:ext uri="{FF2B5EF4-FFF2-40B4-BE49-F238E27FC236}">
                <a16:creationId xmlns:a16="http://schemas.microsoft.com/office/drawing/2014/main" id="{A9E8EA64-4192-3B4B-B6D0-A0CBC5D266D2}"/>
              </a:ext>
            </a:extLst>
          </p:cNvPr>
          <p:cNvSpPr>
            <a:spLocks noGrp="1"/>
          </p:cNvSpPr>
          <p:nvPr>
            <p:ph type="dt" sz="half" idx="10"/>
          </p:nvPr>
        </p:nvSpPr>
        <p:spPr>
          <a:xfrm>
            <a:off x="628650" y="5599184"/>
            <a:ext cx="2057400" cy="365125"/>
          </a:xfrm>
        </p:spPr>
        <p:txBody>
          <a:bodyPr/>
          <a:lstStyle/>
          <a:p>
            <a:r>
              <a:rPr lang="en-US" dirty="0"/>
              <a:t>DAY MONTH YEAR</a:t>
            </a:r>
          </a:p>
        </p:txBody>
      </p:sp>
      <p:pic>
        <p:nvPicPr>
          <p:cNvPr id="13" name="Picture 12">
            <a:extLst>
              <a:ext uri="{FF2B5EF4-FFF2-40B4-BE49-F238E27FC236}">
                <a16:creationId xmlns:a16="http://schemas.microsoft.com/office/drawing/2014/main" id="{B64D345E-FAF2-894B-9E63-6F75C8E5BD2D}"/>
              </a:ext>
            </a:extLst>
          </p:cNvPr>
          <p:cNvPicPr>
            <a:picLocks noChangeAspect="1"/>
          </p:cNvPicPr>
          <p:nvPr userDrawn="1"/>
        </p:nvPicPr>
        <p:blipFill>
          <a:blip r:embed="rId2"/>
          <a:stretch>
            <a:fillRect/>
          </a:stretch>
        </p:blipFill>
        <p:spPr>
          <a:xfrm>
            <a:off x="7221196" y="0"/>
            <a:ext cx="1281870" cy="640935"/>
          </a:xfrm>
          <a:prstGeom prst="rect">
            <a:avLst/>
          </a:prstGeom>
        </p:spPr>
      </p:pic>
    </p:spTree>
    <p:extLst>
      <p:ext uri="{BB962C8B-B14F-4D97-AF65-F5344CB8AC3E}">
        <p14:creationId xmlns:p14="http://schemas.microsoft.com/office/powerpoint/2010/main" val="755074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Number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995680"/>
            <a:ext cx="7886700" cy="695008"/>
          </a:xfrm>
        </p:spPr>
        <p:txBody>
          <a:bodyPr anchor="t">
            <a:noAutofit/>
          </a:bodyPr>
          <a:lstStyle>
            <a:lvl1pPr>
              <a:defRPr>
                <a:solidFill>
                  <a:srgbClr val="CC0633"/>
                </a:solidFill>
              </a:defRPr>
            </a:lvl1pPr>
          </a:lstStyle>
          <a:p>
            <a:r>
              <a:rPr lang="en-US" dirty="0"/>
              <a:t>PAGE WITH NUMBER LIST</a:t>
            </a:r>
          </a:p>
        </p:txBody>
      </p:sp>
      <p:sp>
        <p:nvSpPr>
          <p:cNvPr id="7" name="Text Placeholder 2">
            <a:extLst>
              <a:ext uri="{FF2B5EF4-FFF2-40B4-BE49-F238E27FC236}">
                <a16:creationId xmlns:a16="http://schemas.microsoft.com/office/drawing/2014/main" id="{3684F753-3455-1247-9A43-9DFAC72B8EE4}"/>
              </a:ext>
            </a:extLst>
          </p:cNvPr>
          <p:cNvSpPr>
            <a:spLocks noGrp="1"/>
          </p:cNvSpPr>
          <p:nvPr>
            <p:ph type="body" sz="quarter" idx="13"/>
          </p:nvPr>
        </p:nvSpPr>
        <p:spPr>
          <a:xfrm>
            <a:off x="-107074" y="1917700"/>
            <a:ext cx="9135164" cy="3568700"/>
          </a:xfrm>
          <a:prstGeom prst="rect">
            <a:avLst/>
          </a:prstGeom>
        </p:spPr>
        <p:txBody>
          <a:bodyPr/>
          <a:lstStyle>
            <a:lvl1pPr marL="1200150" indent="-393700">
              <a:buFont typeface="+mj-lt"/>
              <a:buAutoNum type="arabicPeriod"/>
              <a:tabLst/>
              <a:defRPr b="0">
                <a:solidFill>
                  <a:srgbClr val="54585A"/>
                </a:solidFill>
                <a:latin typeface="Times" charset="0"/>
                <a:ea typeface="Times" charset="0"/>
                <a:cs typeface="Times" charset="0"/>
              </a:defRPr>
            </a:lvl1pPr>
            <a:lvl2pPr marL="1466850" indent="-309563">
              <a:buFont typeface="+mj-lt"/>
              <a:buAutoNum type="arabicPeriod"/>
              <a:tabLst/>
              <a:defRPr b="0">
                <a:solidFill>
                  <a:srgbClr val="54585A"/>
                </a:solidFill>
                <a:latin typeface="Times" charset="0"/>
                <a:ea typeface="Times" charset="0"/>
                <a:cs typeface="Times" charset="0"/>
              </a:defRPr>
            </a:lvl2pPr>
            <a:lvl3pPr marL="1784350" indent="-274638">
              <a:buFont typeface="+mj-lt"/>
              <a:buAutoNum type="arabicPeriod"/>
              <a:tabLst/>
              <a:defRPr b="0">
                <a:solidFill>
                  <a:srgbClr val="54585A"/>
                </a:solidFill>
                <a:latin typeface="Times" charset="0"/>
                <a:ea typeface="Times" charset="0"/>
                <a:cs typeface="Times" charset="0"/>
              </a:defRPr>
            </a:lvl3pPr>
            <a:lvl4pPr marL="2092325" indent="-265113">
              <a:buFont typeface="+mj-lt"/>
              <a:buAutoNum type="arabicPeriod"/>
              <a:tabLst/>
              <a:defRPr b="0">
                <a:solidFill>
                  <a:srgbClr val="54585A"/>
                </a:solidFill>
                <a:latin typeface="Times" charset="0"/>
                <a:ea typeface="Times" charset="0"/>
                <a:cs typeface="Times" charset="0"/>
              </a:defRPr>
            </a:lvl4pPr>
            <a:lvl5pPr marL="2359025" indent="-274638">
              <a:buFont typeface="+mj-lt"/>
              <a:buAutoNum type="arabicPeriod"/>
              <a:tabLst/>
              <a:defRPr b="0">
                <a:solidFill>
                  <a:srgbClr val="54585A"/>
                </a:solidFill>
                <a:latin typeface="Times" charset="0"/>
                <a:ea typeface="Times" charset="0"/>
                <a:cs typeface="Times"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61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995680"/>
            <a:ext cx="7886700" cy="695008"/>
          </a:xfrm>
        </p:spPr>
        <p:txBody>
          <a:bodyPr anchor="t">
            <a:noAutofit/>
          </a:bodyPr>
          <a:lstStyle>
            <a:lvl1pPr>
              <a:defRPr>
                <a:solidFill>
                  <a:srgbClr val="CC0633"/>
                </a:solidFill>
              </a:defRPr>
            </a:lvl1pPr>
          </a:lstStyle>
          <a:p>
            <a:r>
              <a:rPr lang="en-US" dirty="0"/>
              <a:t>PAGE WITH BULLETS</a:t>
            </a:r>
          </a:p>
        </p:txBody>
      </p:sp>
      <p:sp>
        <p:nvSpPr>
          <p:cNvPr id="3" name="Text Placeholder 2">
            <a:extLst>
              <a:ext uri="{FF2B5EF4-FFF2-40B4-BE49-F238E27FC236}">
                <a16:creationId xmlns:a16="http://schemas.microsoft.com/office/drawing/2014/main" id="{28099102-4D2D-E045-AFDA-D4B493CAF9AA}"/>
              </a:ext>
            </a:extLst>
          </p:cNvPr>
          <p:cNvSpPr>
            <a:spLocks noGrp="1"/>
          </p:cNvSpPr>
          <p:nvPr>
            <p:ph type="body" sz="quarter" idx="13"/>
          </p:nvPr>
        </p:nvSpPr>
        <p:spPr>
          <a:xfrm>
            <a:off x="-107074" y="1917700"/>
            <a:ext cx="7886700" cy="3568700"/>
          </a:xfrm>
          <a:prstGeom prst="rect">
            <a:avLst/>
          </a:prstGeom>
        </p:spPr>
        <p:txBody>
          <a:bodyPr/>
          <a:lstStyle>
            <a:lvl1pPr marL="1069975" indent="-1069975">
              <a:buFontTx/>
              <a:buBlip>
                <a:blip r:embed="rId2"/>
              </a:buBlip>
              <a:tabLst/>
              <a:defRPr>
                <a:solidFill>
                  <a:srgbClr val="54585A"/>
                </a:solidFill>
              </a:defRPr>
            </a:lvl1pPr>
            <a:lvl2pPr marL="1377950" indent="-920750">
              <a:buFontTx/>
              <a:buBlip>
                <a:blip r:embed="rId2"/>
              </a:buBlip>
              <a:tabLst/>
              <a:defRPr>
                <a:solidFill>
                  <a:srgbClr val="54585A"/>
                </a:solidFill>
              </a:defRPr>
            </a:lvl2pPr>
            <a:lvl3pPr marL="1736725" indent="-822325">
              <a:buFontTx/>
              <a:buBlip>
                <a:blip r:embed="rId2"/>
              </a:buBlip>
              <a:tabLst/>
              <a:defRPr>
                <a:solidFill>
                  <a:srgbClr val="54585A"/>
                </a:solidFill>
              </a:defRPr>
            </a:lvl3pPr>
            <a:lvl4pPr marL="2090738" indent="-719138">
              <a:buFontTx/>
              <a:buBlip>
                <a:blip r:embed="rId2"/>
              </a:buBlip>
              <a:tabLst/>
              <a:defRPr>
                <a:solidFill>
                  <a:srgbClr val="54585A"/>
                </a:solidFill>
              </a:defRPr>
            </a:lvl4pPr>
            <a:lvl5pPr marL="2540000" indent="-711200">
              <a:buFontTx/>
              <a:buBlip>
                <a:blip r:embed="rId2"/>
              </a:buBlip>
              <a:tabLst/>
              <a:defRPr>
                <a:solidFill>
                  <a:srgbClr val="5458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1782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995680"/>
            <a:ext cx="7886700" cy="695008"/>
          </a:xfrm>
        </p:spPr>
        <p:txBody>
          <a:bodyPr anchor="t">
            <a:noAutofit/>
          </a:bodyPr>
          <a:lstStyle>
            <a:lvl1pPr>
              <a:defRPr>
                <a:solidFill>
                  <a:srgbClr val="CC0633"/>
                </a:solidFill>
              </a:defRPr>
            </a:lvl1pPr>
          </a:lstStyle>
          <a:p>
            <a:r>
              <a:rPr lang="en-US" dirty="0"/>
              <a:t>PAGE WITH NUMBER LIST</a:t>
            </a:r>
          </a:p>
        </p:txBody>
      </p:sp>
      <p:sp>
        <p:nvSpPr>
          <p:cNvPr id="7" name="Text Placeholder 2">
            <a:extLst>
              <a:ext uri="{FF2B5EF4-FFF2-40B4-BE49-F238E27FC236}">
                <a16:creationId xmlns:a16="http://schemas.microsoft.com/office/drawing/2014/main" id="{3684F753-3455-1247-9A43-9DFAC72B8EE4}"/>
              </a:ext>
            </a:extLst>
          </p:cNvPr>
          <p:cNvSpPr>
            <a:spLocks noGrp="1"/>
          </p:cNvSpPr>
          <p:nvPr>
            <p:ph type="body" sz="quarter" idx="13"/>
          </p:nvPr>
        </p:nvSpPr>
        <p:spPr>
          <a:xfrm>
            <a:off x="-107074" y="1917700"/>
            <a:ext cx="9135164" cy="3568700"/>
          </a:xfrm>
          <a:prstGeom prst="rect">
            <a:avLst/>
          </a:prstGeom>
        </p:spPr>
        <p:txBody>
          <a:bodyPr/>
          <a:lstStyle>
            <a:lvl1pPr marL="1200150" indent="-393700">
              <a:buFont typeface="+mj-lt"/>
              <a:buAutoNum type="arabicPeriod"/>
              <a:tabLst/>
              <a:defRPr b="0">
                <a:solidFill>
                  <a:srgbClr val="54585A"/>
                </a:solidFill>
                <a:latin typeface="Times" charset="0"/>
                <a:ea typeface="Times" charset="0"/>
                <a:cs typeface="Times" charset="0"/>
              </a:defRPr>
            </a:lvl1pPr>
            <a:lvl2pPr marL="1466850" indent="-309563">
              <a:buFont typeface="+mj-lt"/>
              <a:buAutoNum type="arabicPeriod"/>
              <a:tabLst/>
              <a:defRPr b="0">
                <a:solidFill>
                  <a:srgbClr val="54585A"/>
                </a:solidFill>
                <a:latin typeface="Times" charset="0"/>
                <a:ea typeface="Times" charset="0"/>
                <a:cs typeface="Times" charset="0"/>
              </a:defRPr>
            </a:lvl2pPr>
            <a:lvl3pPr marL="1784350" indent="-274638">
              <a:buFont typeface="+mj-lt"/>
              <a:buAutoNum type="arabicPeriod"/>
              <a:tabLst/>
              <a:defRPr b="0">
                <a:solidFill>
                  <a:srgbClr val="54585A"/>
                </a:solidFill>
                <a:latin typeface="Times" charset="0"/>
                <a:ea typeface="Times" charset="0"/>
                <a:cs typeface="Times" charset="0"/>
              </a:defRPr>
            </a:lvl3pPr>
            <a:lvl4pPr marL="2092325" indent="-265113">
              <a:buFont typeface="+mj-lt"/>
              <a:buAutoNum type="arabicPeriod"/>
              <a:tabLst/>
              <a:defRPr b="0">
                <a:solidFill>
                  <a:srgbClr val="54585A"/>
                </a:solidFill>
                <a:latin typeface="Times" charset="0"/>
                <a:ea typeface="Times" charset="0"/>
                <a:cs typeface="Times" charset="0"/>
              </a:defRPr>
            </a:lvl4pPr>
            <a:lvl5pPr marL="2359025" indent="-274638">
              <a:buFont typeface="+mj-lt"/>
              <a:buAutoNum type="arabicPeriod"/>
              <a:tabLst/>
              <a:defRPr b="0">
                <a:solidFill>
                  <a:srgbClr val="54585A"/>
                </a:solidFill>
                <a:latin typeface="Times" charset="0"/>
                <a:ea typeface="Times" charset="0"/>
                <a:cs typeface="Times"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8679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2052638"/>
            <a:ext cx="3282950" cy="1450415"/>
          </a:xfrm>
        </p:spPr>
        <p:txBody>
          <a:bodyPr anchor="t">
            <a:noAutofit/>
          </a:bodyPr>
          <a:lstStyle>
            <a:lvl1pPr>
              <a:defRPr>
                <a:solidFill>
                  <a:srgbClr val="CC0633"/>
                </a:solidFill>
              </a:defRPr>
            </a:lvl1pPr>
          </a:lstStyle>
          <a:p>
            <a:r>
              <a:rPr lang="en-US" dirty="0"/>
              <a:t>PAGE WITH TABLE</a:t>
            </a:r>
          </a:p>
        </p:txBody>
      </p:sp>
      <p:sp>
        <p:nvSpPr>
          <p:cNvPr id="7" name="Table Placeholder 6">
            <a:extLst>
              <a:ext uri="{FF2B5EF4-FFF2-40B4-BE49-F238E27FC236}">
                <a16:creationId xmlns:a16="http://schemas.microsoft.com/office/drawing/2014/main" id="{D332C8B6-E003-6F49-BBD3-BF1095D864C2}"/>
              </a:ext>
            </a:extLst>
          </p:cNvPr>
          <p:cNvSpPr>
            <a:spLocks noGrp="1"/>
          </p:cNvSpPr>
          <p:nvPr>
            <p:ph type="tbl" sz="quarter" idx="13"/>
          </p:nvPr>
        </p:nvSpPr>
        <p:spPr>
          <a:xfrm>
            <a:off x="3911600" y="2052638"/>
            <a:ext cx="5232400" cy="3379787"/>
          </a:xfrm>
          <a:prstGeom prst="rect">
            <a:avLst/>
          </a:prstGeom>
        </p:spPr>
        <p:txBody>
          <a:bodyPr/>
          <a:lstStyle>
            <a:lvl1pPr>
              <a:defRPr>
                <a:solidFill>
                  <a:srgbClr val="CC0633"/>
                </a:solidFill>
              </a:defRPr>
            </a:lvl1pPr>
          </a:lstStyle>
          <a:p>
            <a:endParaRPr lang="en-US" dirty="0"/>
          </a:p>
        </p:txBody>
      </p:sp>
      <p:sp>
        <p:nvSpPr>
          <p:cNvPr id="10" name="Text Placeholder 7">
            <a:extLst>
              <a:ext uri="{FF2B5EF4-FFF2-40B4-BE49-F238E27FC236}">
                <a16:creationId xmlns:a16="http://schemas.microsoft.com/office/drawing/2014/main" id="{23C88C86-2FE6-B243-AC2D-1C16F2D7CD77}"/>
              </a:ext>
            </a:extLst>
          </p:cNvPr>
          <p:cNvSpPr>
            <a:spLocks noGrp="1"/>
          </p:cNvSpPr>
          <p:nvPr>
            <p:ph type="body" sz="quarter" idx="14" hasCustomPrompt="1"/>
          </p:nvPr>
        </p:nvSpPr>
        <p:spPr>
          <a:xfrm>
            <a:off x="628650" y="3823640"/>
            <a:ext cx="1869851" cy="419950"/>
          </a:xfrm>
          <a:prstGeom prst="rect">
            <a:avLst/>
          </a:prstGeom>
        </p:spPr>
        <p:txBody>
          <a:bodyPr/>
          <a:lstStyle>
            <a:lvl1pPr marL="0" indent="0">
              <a:buNone/>
              <a:defRPr sz="2400" b="1">
                <a:solidFill>
                  <a:srgbClr val="54585A"/>
                </a:solidFill>
                <a:latin typeface="Trebuchet MS" panose="020B0703020202090204" pitchFamily="34" charset="0"/>
              </a:defRPr>
            </a:lvl1pPr>
          </a:lstStyle>
          <a:p>
            <a:pPr lvl="0"/>
            <a:r>
              <a:rPr lang="en-US" dirty="0"/>
              <a:t>SUBHEADER</a:t>
            </a:r>
          </a:p>
        </p:txBody>
      </p:sp>
    </p:spTree>
    <p:extLst>
      <p:ext uri="{BB962C8B-B14F-4D97-AF65-F5344CB8AC3E}">
        <p14:creationId xmlns:p14="http://schemas.microsoft.com/office/powerpoint/2010/main" val="3285386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itle 4">
            <a:extLst>
              <a:ext uri="{FF2B5EF4-FFF2-40B4-BE49-F238E27FC236}">
                <a16:creationId xmlns:a16="http://schemas.microsoft.com/office/drawing/2014/main" id="{A3DD9335-0275-2C4A-8220-431F8A826BA2}"/>
              </a:ext>
            </a:extLst>
          </p:cNvPr>
          <p:cNvSpPr>
            <a:spLocks noGrp="1"/>
          </p:cNvSpPr>
          <p:nvPr>
            <p:ph type="title" hasCustomPrompt="1"/>
          </p:nvPr>
        </p:nvSpPr>
        <p:spPr>
          <a:xfrm>
            <a:off x="628650" y="2052639"/>
            <a:ext cx="3282950" cy="1624280"/>
          </a:xfrm>
        </p:spPr>
        <p:txBody>
          <a:bodyPr anchor="t">
            <a:noAutofit/>
          </a:bodyPr>
          <a:lstStyle>
            <a:lvl1pPr>
              <a:defRPr>
                <a:solidFill>
                  <a:srgbClr val="CC0633"/>
                </a:solidFill>
              </a:defRPr>
            </a:lvl1pPr>
          </a:lstStyle>
          <a:p>
            <a:r>
              <a:rPr lang="en-US" dirty="0"/>
              <a:t>PAGE WITH CHART</a:t>
            </a:r>
          </a:p>
        </p:txBody>
      </p:sp>
      <p:sp>
        <p:nvSpPr>
          <p:cNvPr id="3" name="Chart Placeholder 2">
            <a:extLst>
              <a:ext uri="{FF2B5EF4-FFF2-40B4-BE49-F238E27FC236}">
                <a16:creationId xmlns:a16="http://schemas.microsoft.com/office/drawing/2014/main" id="{0BB26B3F-91C1-4D45-B69D-A58493665E8B}"/>
              </a:ext>
            </a:extLst>
          </p:cNvPr>
          <p:cNvSpPr>
            <a:spLocks noGrp="1"/>
          </p:cNvSpPr>
          <p:nvPr>
            <p:ph type="chart" sz="quarter" idx="13"/>
          </p:nvPr>
        </p:nvSpPr>
        <p:spPr>
          <a:xfrm>
            <a:off x="3911600" y="2052638"/>
            <a:ext cx="5232400" cy="3352800"/>
          </a:xfrm>
          <a:prstGeom prst="rect">
            <a:avLst/>
          </a:prstGeom>
        </p:spPr>
        <p:txBody>
          <a:bodyPr/>
          <a:lstStyle>
            <a:lvl1pPr>
              <a:defRPr>
                <a:solidFill>
                  <a:srgbClr val="CC0633"/>
                </a:solidFill>
              </a:defRPr>
            </a:lvl1pPr>
          </a:lstStyle>
          <a:p>
            <a:endParaRPr lang="en-US" dirty="0"/>
          </a:p>
        </p:txBody>
      </p:sp>
      <p:sp>
        <p:nvSpPr>
          <p:cNvPr id="7" name="Text Placeholder 7">
            <a:extLst>
              <a:ext uri="{FF2B5EF4-FFF2-40B4-BE49-F238E27FC236}">
                <a16:creationId xmlns:a16="http://schemas.microsoft.com/office/drawing/2014/main" id="{58AD251E-0061-3D48-830D-AF1EB95B70FC}"/>
              </a:ext>
            </a:extLst>
          </p:cNvPr>
          <p:cNvSpPr>
            <a:spLocks noGrp="1"/>
          </p:cNvSpPr>
          <p:nvPr>
            <p:ph type="body" sz="quarter" idx="14" hasCustomPrompt="1"/>
          </p:nvPr>
        </p:nvSpPr>
        <p:spPr>
          <a:xfrm>
            <a:off x="628650" y="3823640"/>
            <a:ext cx="1869851" cy="419950"/>
          </a:xfrm>
          <a:prstGeom prst="rect">
            <a:avLst/>
          </a:prstGeom>
        </p:spPr>
        <p:txBody>
          <a:bodyPr/>
          <a:lstStyle>
            <a:lvl1pPr marL="0" indent="0">
              <a:buNone/>
              <a:defRPr sz="2400" b="1">
                <a:solidFill>
                  <a:srgbClr val="54585A"/>
                </a:solidFill>
                <a:latin typeface="Trebuchet MS" panose="020B0703020202090204" pitchFamily="34" charset="0"/>
              </a:defRPr>
            </a:lvl1pPr>
          </a:lstStyle>
          <a:p>
            <a:pPr lvl="0"/>
            <a:r>
              <a:rPr lang="en-US" dirty="0"/>
              <a:t>SUBHEADER</a:t>
            </a:r>
          </a:p>
        </p:txBody>
      </p:sp>
    </p:spTree>
    <p:extLst>
      <p:ext uri="{BB962C8B-B14F-4D97-AF65-F5344CB8AC3E}">
        <p14:creationId xmlns:p14="http://schemas.microsoft.com/office/powerpoint/2010/main" val="650179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 and imag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8EC346D-FEA7-D94B-8FE2-AA7753AE27C4}"/>
              </a:ext>
            </a:extLst>
          </p:cNvPr>
          <p:cNvSpPr>
            <a:spLocks noGrp="1"/>
          </p:cNvSpPr>
          <p:nvPr>
            <p:ph type="sldNum" sz="quarter" idx="12"/>
          </p:nvPr>
        </p:nvSpPr>
        <p:spPr>
          <a:xfrm>
            <a:off x="5709920" y="5991224"/>
            <a:ext cx="2805430" cy="365125"/>
          </a:xfrm>
          <a:prstGeom prst="rect">
            <a:avLst/>
          </a:prstGeom>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3" name="Picture Placeholder 2">
            <a:extLst>
              <a:ext uri="{FF2B5EF4-FFF2-40B4-BE49-F238E27FC236}">
                <a16:creationId xmlns:a16="http://schemas.microsoft.com/office/drawing/2014/main" id="{091B9466-E87C-C54B-860C-17F37D71C88F}"/>
              </a:ext>
            </a:extLst>
          </p:cNvPr>
          <p:cNvSpPr>
            <a:spLocks noGrp="1"/>
          </p:cNvSpPr>
          <p:nvPr>
            <p:ph type="pic" sz="quarter" idx="14"/>
          </p:nvPr>
        </p:nvSpPr>
        <p:spPr>
          <a:xfrm>
            <a:off x="4814047" y="2052637"/>
            <a:ext cx="4060825" cy="3544887"/>
          </a:xfrm>
          <a:prstGeom prst="rect">
            <a:avLst/>
          </a:prstGeom>
        </p:spPr>
        <p:txBody>
          <a:bodyPr/>
          <a:lstStyle>
            <a:lvl1pPr>
              <a:defRPr>
                <a:solidFill>
                  <a:srgbClr val="CC0633"/>
                </a:solidFill>
              </a:defRPr>
            </a:lvl1pPr>
          </a:lstStyle>
          <a:p>
            <a:endParaRPr lang="en-US" dirty="0"/>
          </a:p>
        </p:txBody>
      </p:sp>
      <p:sp>
        <p:nvSpPr>
          <p:cNvPr id="4" name="Text Placeholder 3">
            <a:extLst>
              <a:ext uri="{FF2B5EF4-FFF2-40B4-BE49-F238E27FC236}">
                <a16:creationId xmlns:a16="http://schemas.microsoft.com/office/drawing/2014/main" id="{B2B44AA3-7262-A146-B295-8DCBF7C72229}"/>
              </a:ext>
            </a:extLst>
          </p:cNvPr>
          <p:cNvSpPr>
            <a:spLocks noGrp="1"/>
          </p:cNvSpPr>
          <p:nvPr>
            <p:ph type="body" sz="quarter" idx="15" hasCustomPrompt="1"/>
          </p:nvPr>
        </p:nvSpPr>
        <p:spPr>
          <a:xfrm>
            <a:off x="628650" y="2052638"/>
            <a:ext cx="4185397" cy="354488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STIXGeneral-Regular" pitchFamily="2" charset="2"/>
              <a:buNone/>
              <a:tabLst/>
              <a:defRPr>
                <a:solidFill>
                  <a:srgbClr val="54585A"/>
                </a:solidFill>
              </a:defRPr>
            </a:lvl1pPr>
            <a:lvl2pPr>
              <a:defRPr>
                <a:solidFill>
                  <a:srgbClr val="54585A"/>
                </a:solidFill>
              </a:defRPr>
            </a:lvl2pPr>
            <a:lvl3pPr>
              <a:defRPr>
                <a:solidFill>
                  <a:srgbClr val="54585A"/>
                </a:solidFill>
              </a:defRPr>
            </a:lvl3pPr>
            <a:lvl4pPr>
              <a:defRPr>
                <a:solidFill>
                  <a:srgbClr val="54585A"/>
                </a:solidFill>
              </a:defRPr>
            </a:lvl4pPr>
            <a:lvl5pPr>
              <a:defRPr>
                <a:solidFill>
                  <a:srgbClr val="54585A"/>
                </a:solidFill>
              </a:defRPr>
            </a:lvl5pPr>
          </a:lstStyle>
          <a:p>
            <a:pPr marL="0" marR="0" lvl="0" indent="0" algn="l" defTabSz="914400" rtl="0" eaLnBrk="1" fontAlgn="auto" latinLnBrk="0" hangingPunct="1">
              <a:lnSpc>
                <a:spcPct val="90000"/>
              </a:lnSpc>
              <a:spcBef>
                <a:spcPts val="1000"/>
              </a:spcBef>
              <a:spcAft>
                <a:spcPts val="0"/>
              </a:spcAft>
              <a:buClrTx/>
              <a:buSzTx/>
              <a:buFont typeface="STIXGeneral-Regular" pitchFamily="2" charset="2"/>
              <a:buNone/>
              <a:tabLst/>
              <a:defRPr/>
            </a:pPr>
            <a:r>
              <a:rPr lang="en-CA" b="1" dirty="0">
                <a:latin typeface="Trebuchet MS" panose="020B0703020202090204" pitchFamily="34" charset="0"/>
              </a:rPr>
              <a:t>SUBHEADER</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A6C43D69-A87B-4D49-95CF-7AF393951B90}"/>
              </a:ext>
            </a:extLst>
          </p:cNvPr>
          <p:cNvSpPr>
            <a:spLocks noGrp="1"/>
          </p:cNvSpPr>
          <p:nvPr>
            <p:ph type="title" hasCustomPrompt="1"/>
          </p:nvPr>
        </p:nvSpPr>
        <p:spPr>
          <a:xfrm>
            <a:off x="628650" y="365125"/>
            <a:ext cx="7886700" cy="1325563"/>
          </a:xfrm>
        </p:spPr>
        <p:txBody>
          <a:bodyPr>
            <a:noAutofit/>
          </a:bodyPr>
          <a:lstStyle>
            <a:lvl1pPr>
              <a:defRPr>
                <a:solidFill>
                  <a:srgbClr val="CC0633"/>
                </a:solidFill>
              </a:defRPr>
            </a:lvl1pPr>
          </a:lstStyle>
          <a:p>
            <a:r>
              <a:rPr lang="en-US" dirty="0"/>
              <a:t>PAGE WITH COPY AND IMAGE</a:t>
            </a:r>
          </a:p>
        </p:txBody>
      </p:sp>
    </p:spTree>
    <p:extLst>
      <p:ext uri="{BB962C8B-B14F-4D97-AF65-F5344CB8AC3E}">
        <p14:creationId xmlns:p14="http://schemas.microsoft.com/office/powerpoint/2010/main" val="885017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E0DB9-2A74-BF45-BB9E-9E500F37ABAE}"/>
              </a:ext>
            </a:extLst>
          </p:cNvPr>
          <p:cNvSpPr>
            <a:spLocks noGrp="1"/>
          </p:cNvSpPr>
          <p:nvPr>
            <p:ph type="title" hasCustomPrompt="1"/>
          </p:nvPr>
        </p:nvSpPr>
        <p:spPr/>
        <p:txBody>
          <a:bodyPr>
            <a:noAutofit/>
          </a:bodyPr>
          <a:lstStyle>
            <a:lvl1pPr>
              <a:defRPr>
                <a:solidFill>
                  <a:srgbClr val="CC0633"/>
                </a:solidFill>
              </a:defRPr>
            </a:lvl1pPr>
          </a:lstStyle>
          <a:p>
            <a:r>
              <a:rPr lang="en-US" dirty="0"/>
              <a:t>PAGE WITH TEXT ONLY</a:t>
            </a:r>
          </a:p>
        </p:txBody>
      </p:sp>
      <p:sp>
        <p:nvSpPr>
          <p:cNvPr id="3" name="Slide Number Placeholder 2">
            <a:extLst>
              <a:ext uri="{FF2B5EF4-FFF2-40B4-BE49-F238E27FC236}">
                <a16:creationId xmlns:a16="http://schemas.microsoft.com/office/drawing/2014/main" id="{B6F9D54D-918F-514C-BBA7-693AF6C02B2D}"/>
              </a:ext>
            </a:extLst>
          </p:cNvPr>
          <p:cNvSpPr>
            <a:spLocks noGrp="1"/>
          </p:cNvSpPr>
          <p:nvPr>
            <p:ph type="sldNum" sz="quarter" idx="10"/>
          </p:nvPr>
        </p:nvSpPr>
        <p:spPr/>
        <p:txBody>
          <a:bodyPr/>
          <a:lstStyle>
            <a:lvl1pPr>
              <a:defRPr>
                <a:solidFill>
                  <a:srgbClr val="4D4D4C"/>
                </a:solidFill>
              </a:defRPr>
            </a:lvl1pPr>
          </a:lstStyle>
          <a:p>
            <a:r>
              <a:rPr lang="en-US" dirty="0"/>
              <a:t>SIMON FRASER UNIVERSITY   </a:t>
            </a:r>
            <a:fld id="{45E0C454-F75C-A944-8BC1-78DA56BBB239}" type="slidenum">
              <a:rPr lang="en-US" smtClean="0"/>
              <a:pPr/>
              <a:t>‹#›</a:t>
            </a:fld>
            <a:endParaRPr lang="en-US" dirty="0"/>
          </a:p>
        </p:txBody>
      </p:sp>
      <p:sp>
        <p:nvSpPr>
          <p:cNvPr id="5" name="Text Placeholder 4">
            <a:extLst>
              <a:ext uri="{FF2B5EF4-FFF2-40B4-BE49-F238E27FC236}">
                <a16:creationId xmlns:a16="http://schemas.microsoft.com/office/drawing/2014/main" id="{950C7CFC-CA74-9343-951B-3D96B6149607}"/>
              </a:ext>
            </a:extLst>
          </p:cNvPr>
          <p:cNvSpPr>
            <a:spLocks noGrp="1"/>
          </p:cNvSpPr>
          <p:nvPr>
            <p:ph type="body" sz="quarter" idx="11" hasCustomPrompt="1"/>
          </p:nvPr>
        </p:nvSpPr>
        <p:spPr>
          <a:xfrm>
            <a:off x="628650" y="1912938"/>
            <a:ext cx="7886700" cy="387826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STIXGeneral-Regular" pitchFamily="2" charset="2"/>
              <a:buNone/>
              <a:tabLst/>
              <a:defRPr>
                <a:solidFill>
                  <a:srgbClr val="54585A"/>
                </a:solidFill>
              </a:defRPr>
            </a:lvl1pPr>
            <a:lvl2pPr>
              <a:defRPr>
                <a:solidFill>
                  <a:srgbClr val="54585A"/>
                </a:solidFill>
              </a:defRPr>
            </a:lvl2pPr>
            <a:lvl3pPr>
              <a:defRPr>
                <a:solidFill>
                  <a:srgbClr val="54585A"/>
                </a:solidFill>
              </a:defRPr>
            </a:lvl3pPr>
            <a:lvl4pPr>
              <a:defRPr>
                <a:solidFill>
                  <a:srgbClr val="54585A"/>
                </a:solidFill>
              </a:defRPr>
            </a:lvl4pPr>
            <a:lvl5pPr>
              <a:defRPr>
                <a:solidFill>
                  <a:srgbClr val="54585A"/>
                </a:solidFill>
              </a:defRPr>
            </a:lvl5pPr>
          </a:lstStyle>
          <a:p>
            <a:pPr marL="0" marR="0" lvl="0" indent="0" algn="l" defTabSz="914400" rtl="0" eaLnBrk="1" fontAlgn="auto" latinLnBrk="0" hangingPunct="1">
              <a:lnSpc>
                <a:spcPct val="90000"/>
              </a:lnSpc>
              <a:spcBef>
                <a:spcPts val="1000"/>
              </a:spcBef>
              <a:spcAft>
                <a:spcPts val="0"/>
              </a:spcAft>
              <a:buClrTx/>
              <a:buSzTx/>
              <a:buFont typeface="STIXGeneral-Regular" pitchFamily="2" charset="2"/>
              <a:buNone/>
              <a:tabLst/>
              <a:defRPr/>
            </a:pPr>
            <a:r>
              <a:rPr lang="en-CA" b="1" dirty="0">
                <a:latin typeface="Trebuchet MS" panose="020B0703020202090204" pitchFamily="34" charset="0"/>
              </a:rPr>
              <a:t>SUBHEADER</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103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Single Phras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22C1386-D334-864D-8255-FFC79183ABF5}"/>
              </a:ext>
            </a:extLst>
          </p:cNvPr>
          <p:cNvSpPr>
            <a:spLocks noGrp="1"/>
          </p:cNvSpPr>
          <p:nvPr>
            <p:ph type="sldNum" sz="quarter" idx="10"/>
          </p:nvPr>
        </p:nvSpPr>
        <p:spPr/>
        <p:txBody>
          <a:bodyPr/>
          <a:lstStyle/>
          <a:p>
            <a:r>
              <a:rPr lang="en-US"/>
              <a:t>SIMON FRASER UNIVERSITY   </a:t>
            </a:r>
            <a:fld id="{45E0C454-F75C-A944-8BC1-78DA56BBB239}" type="slidenum">
              <a:rPr lang="en-US" smtClean="0"/>
              <a:pPr/>
              <a:t>‹#›</a:t>
            </a:fld>
            <a:endParaRPr lang="en-US" dirty="0"/>
          </a:p>
        </p:txBody>
      </p:sp>
      <p:sp>
        <p:nvSpPr>
          <p:cNvPr id="7" name="Title 1">
            <a:extLst>
              <a:ext uri="{FF2B5EF4-FFF2-40B4-BE49-F238E27FC236}">
                <a16:creationId xmlns:a16="http://schemas.microsoft.com/office/drawing/2014/main" id="{90878862-92D6-5247-A8B5-C605B2892168}"/>
              </a:ext>
            </a:extLst>
          </p:cNvPr>
          <p:cNvSpPr>
            <a:spLocks noGrp="1"/>
          </p:cNvSpPr>
          <p:nvPr>
            <p:ph type="title" hasCustomPrompt="1"/>
          </p:nvPr>
        </p:nvSpPr>
        <p:spPr>
          <a:xfrm>
            <a:off x="838200" y="2766218"/>
            <a:ext cx="8054662" cy="1325563"/>
          </a:xfrm>
        </p:spPr>
        <p:txBody>
          <a:bodyPr/>
          <a:lstStyle>
            <a:lvl1pPr>
              <a:defRPr sz="3600" b="1" baseline="0">
                <a:solidFill>
                  <a:srgbClr val="CC0633"/>
                </a:solidFill>
                <a:latin typeface="Trebuchet MS" panose="020B0703020202090204" pitchFamily="34" charset="0"/>
              </a:defRPr>
            </a:lvl1pPr>
          </a:lstStyle>
          <a:p>
            <a:r>
              <a:rPr lang="en-US" dirty="0"/>
              <a:t>PAGE WITH QUOTE/SINGLE PHRASE</a:t>
            </a:r>
          </a:p>
        </p:txBody>
      </p:sp>
    </p:spTree>
    <p:extLst>
      <p:ext uri="{BB962C8B-B14F-4D97-AF65-F5344CB8AC3E}">
        <p14:creationId xmlns:p14="http://schemas.microsoft.com/office/powerpoint/2010/main" val="11109219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a:prstGeom prst="rect">
            <a:avLst/>
          </a:prstGeom>
        </p:spPr>
        <p:txBody>
          <a:bodyPr/>
          <a:lstStyle/>
          <a:p>
            <a:endParaRPr lang="en-US"/>
          </a:p>
        </p:txBody>
      </p:sp>
    </p:spTree>
    <p:extLst>
      <p:ext uri="{BB962C8B-B14F-4D97-AF65-F5344CB8AC3E}">
        <p14:creationId xmlns:p14="http://schemas.microsoft.com/office/powerpoint/2010/main" val="39356084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841266"/>
            <a:ext cx="7886700" cy="849423"/>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p:cNvSpPr>
            <a:spLocks noGrp="1"/>
          </p:cNvSpPr>
          <p:nvPr>
            <p:ph type="body" idx="1"/>
          </p:nvPr>
        </p:nvSpPr>
        <p:spPr>
          <a:xfrm>
            <a:off x="628650" y="1825625"/>
            <a:ext cx="7886700" cy="3296981"/>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5322937"/>
            <a:ext cx="2057400" cy="365125"/>
          </a:xfrm>
          <a:prstGeom prst="rect">
            <a:avLst/>
          </a:prstGeom>
        </p:spPr>
        <p:txBody>
          <a:bodyPr vert="horz" lIns="91440" tIns="45720" rIns="91440" bIns="45720" rtlCol="0" anchor="ctr"/>
          <a:lstStyle>
            <a:lvl1pPr algn="l">
              <a:defRPr sz="1600" b="1">
                <a:solidFill>
                  <a:schemeClr val="bg1"/>
                </a:solidFill>
                <a:latin typeface="Trebuchet MS" panose="020B0703020202090204" pitchFamily="34" charset="0"/>
              </a:defRPr>
            </a:lvl1pPr>
          </a:lstStyle>
          <a:p>
            <a:endParaRPr lang="en-US" dirty="0"/>
          </a:p>
        </p:txBody>
      </p:sp>
      <p:pic>
        <p:nvPicPr>
          <p:cNvPr id="10" name="Picture 9">
            <a:extLst>
              <a:ext uri="{FF2B5EF4-FFF2-40B4-BE49-F238E27FC236}">
                <a16:creationId xmlns:a16="http://schemas.microsoft.com/office/drawing/2014/main" id="{3913B9BE-9F57-4747-AEFA-02E77983E8B9}"/>
              </a:ext>
            </a:extLst>
          </p:cNvPr>
          <p:cNvPicPr>
            <a:picLocks noChangeAspect="1"/>
          </p:cNvPicPr>
          <p:nvPr userDrawn="1"/>
        </p:nvPicPr>
        <p:blipFill>
          <a:blip r:embed="rId9"/>
          <a:stretch>
            <a:fillRect/>
          </a:stretch>
        </p:blipFill>
        <p:spPr>
          <a:xfrm>
            <a:off x="7233480" y="0"/>
            <a:ext cx="1281870" cy="640935"/>
          </a:xfrm>
          <a:prstGeom prst="rect">
            <a:avLst/>
          </a:prstGeom>
        </p:spPr>
      </p:pic>
    </p:spTree>
    <p:extLst>
      <p:ext uri="{BB962C8B-B14F-4D97-AF65-F5344CB8AC3E}">
        <p14:creationId xmlns:p14="http://schemas.microsoft.com/office/powerpoint/2010/main" val="4021742897"/>
      </p:ext>
    </p:extLst>
  </p:cSld>
  <p:clrMap bg1="lt1" tx1="dk1" bg2="lt2" tx2="dk2" accent1="accent1" accent2="accent2" accent3="accent3" accent4="accent4" accent5="accent5" accent6="accent6" hlink="hlink" folHlink="folHlink"/>
  <p:sldLayoutIdLst>
    <p:sldLayoutId id="2147483678" r:id="rId1"/>
    <p:sldLayoutId id="2147483693" r:id="rId2"/>
    <p:sldLayoutId id="2147483707" r:id="rId3"/>
    <p:sldLayoutId id="2147483708" r:id="rId4"/>
    <p:sldLayoutId id="2147483694" r:id="rId5"/>
    <p:sldLayoutId id="2147483661" r:id="rId6"/>
    <p:sldLayoutId id="2147483711" r:id="rId7"/>
  </p:sldLayoutIdLst>
  <p:hf sldNum="0" hdr="0" ftr="0"/>
  <p:txStyles>
    <p:titleStyle>
      <a:lvl1pPr algn="l" defTabSz="914400" rtl="0" eaLnBrk="1" latinLnBrk="0" hangingPunct="1">
        <a:lnSpc>
          <a:spcPct val="90000"/>
        </a:lnSpc>
        <a:spcBef>
          <a:spcPct val="0"/>
        </a:spcBef>
        <a:buNone/>
        <a:defRPr sz="4400" kern="1200">
          <a:solidFill>
            <a:srgbClr val="CC0633"/>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Trebuchet MS" panose="020B070302020209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FC180A-BC04-6A42-9CF6-8190FCAB4891}"/>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Autofit/>
          </a:bodyPr>
          <a:lstStyle/>
          <a:p>
            <a:r>
              <a:rPr lang="en-US" dirty="0"/>
              <a:t>CLICK HERE TO EDIT MASTER SLIDE</a:t>
            </a:r>
          </a:p>
        </p:txBody>
      </p:sp>
      <p:sp>
        <p:nvSpPr>
          <p:cNvPr id="6" name="Slide Number Placeholder 5">
            <a:extLst>
              <a:ext uri="{FF2B5EF4-FFF2-40B4-BE49-F238E27FC236}">
                <a16:creationId xmlns:a16="http://schemas.microsoft.com/office/drawing/2014/main" id="{B4FF0E72-51BC-3048-B086-FB9CBD13AF56}"/>
              </a:ext>
            </a:extLst>
          </p:cNvPr>
          <p:cNvSpPr>
            <a:spLocks noGrp="1"/>
          </p:cNvSpPr>
          <p:nvPr>
            <p:ph type="sldNum" sz="quarter" idx="4"/>
          </p:nvPr>
        </p:nvSpPr>
        <p:spPr>
          <a:xfrm>
            <a:off x="6035040" y="5991225"/>
            <a:ext cx="2480310" cy="365125"/>
          </a:xfrm>
          <a:prstGeom prst="rect">
            <a:avLst/>
          </a:prstGeom>
        </p:spPr>
        <p:txBody>
          <a:bodyPr vert="horz" lIns="91440" tIns="45720" rIns="91440" bIns="45720" rtlCol="0" anchor="ctr"/>
          <a:lstStyle>
            <a:lvl1pPr algn="r">
              <a:defRPr sz="1200" b="1">
                <a:solidFill>
                  <a:srgbClr val="4D4D4C"/>
                </a:solidFill>
                <a:latin typeface="Trebuchet MS" panose="020B0703020202090204" pitchFamily="34" charset="0"/>
              </a:defRPr>
            </a:lvl1pPr>
          </a:lstStyle>
          <a:p>
            <a:r>
              <a:rPr lang="en-US" dirty="0"/>
              <a:t>SIMON FRASER UNIVERSITY   </a:t>
            </a:r>
            <a:fld id="{45E0C454-F75C-A944-8BC1-78DA56BBB239}" type="slidenum">
              <a:rPr lang="en-US" smtClean="0"/>
              <a:pPr/>
              <a:t>‹#›</a:t>
            </a:fld>
            <a:endParaRPr lang="en-US" dirty="0"/>
          </a:p>
        </p:txBody>
      </p:sp>
    </p:spTree>
    <p:extLst>
      <p:ext uri="{BB962C8B-B14F-4D97-AF65-F5344CB8AC3E}">
        <p14:creationId xmlns:p14="http://schemas.microsoft.com/office/powerpoint/2010/main" val="2917555359"/>
      </p:ext>
    </p:extLst>
  </p:cSld>
  <p:clrMap bg1="lt1" tx1="dk1" bg2="lt2" tx2="dk2" accent1="accent1" accent2="accent2" accent3="accent3" accent4="accent4" accent5="accent5" accent6="accent6" hlink="hlink" folHlink="folHlink"/>
  <p:sldLayoutIdLst>
    <p:sldLayoutId id="2147483699" r:id="rId1"/>
    <p:sldLayoutId id="2147483709" r:id="rId2"/>
    <p:sldLayoutId id="2147483700" r:id="rId3"/>
    <p:sldLayoutId id="2147483703" r:id="rId4"/>
    <p:sldLayoutId id="2147483701" r:id="rId5"/>
    <p:sldLayoutId id="2147483706" r:id="rId6"/>
    <p:sldLayoutId id="2147483710" r:id="rId7"/>
  </p:sldLayoutIdLst>
  <p:hf sldNum="0" hdr="0" ftr="0"/>
  <p:txStyles>
    <p:title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p:titleStyle>
    <p:bodyStyle>
      <a:lvl1pPr marL="0" indent="0" algn="l" defTabSz="914400" rtl="0" eaLnBrk="1" latinLnBrk="0" hangingPunct="1">
        <a:lnSpc>
          <a:spcPct val="90000"/>
        </a:lnSpc>
        <a:spcBef>
          <a:spcPts val="1000"/>
        </a:spcBef>
        <a:buFont typeface="STIXGeneral-Regular" pitchFamily="2" charset="2"/>
        <a:buNone/>
        <a:defRPr lang="en-US" sz="2800" kern="1200" dirty="0">
          <a:solidFill>
            <a:srgbClr val="D82139"/>
          </a:solidFill>
          <a:latin typeface="Times" pitchFamily="2" charset="0"/>
          <a:ea typeface="+mn-ea"/>
          <a:cs typeface="+mn-cs"/>
        </a:defRPr>
      </a:lvl1pPr>
      <a:lvl2pPr marL="457200" indent="0" algn="l" defTabSz="914400" rtl="0" eaLnBrk="1" latinLnBrk="0" hangingPunct="1">
        <a:lnSpc>
          <a:spcPct val="90000"/>
        </a:lnSpc>
        <a:spcBef>
          <a:spcPts val="500"/>
        </a:spcBef>
        <a:buFont typeface="STIXGeneral-Regular" pitchFamily="2" charset="2"/>
        <a:buNone/>
        <a:tabLst/>
        <a:defRPr lang="en-US" sz="2400" kern="1200" dirty="0">
          <a:solidFill>
            <a:srgbClr val="D82139"/>
          </a:solidFill>
          <a:latin typeface="Times" pitchFamily="2" charset="0"/>
          <a:ea typeface="+mn-ea"/>
          <a:cs typeface="+mn-cs"/>
        </a:defRPr>
      </a:lvl2pPr>
      <a:lvl3pPr marL="914400" indent="0" algn="l" defTabSz="914400" rtl="0" eaLnBrk="1" latinLnBrk="0" hangingPunct="1">
        <a:lnSpc>
          <a:spcPct val="90000"/>
        </a:lnSpc>
        <a:spcBef>
          <a:spcPts val="500"/>
        </a:spcBef>
        <a:buFont typeface="STIXGeneral-Regular" pitchFamily="2" charset="2"/>
        <a:buNone/>
        <a:defRPr lang="en-US" sz="2000" kern="1200" dirty="0">
          <a:solidFill>
            <a:srgbClr val="D82139"/>
          </a:solidFill>
          <a:latin typeface="Times" pitchFamily="2" charset="0"/>
          <a:ea typeface="+mn-ea"/>
          <a:cs typeface="+mn-cs"/>
        </a:defRPr>
      </a:lvl3pPr>
      <a:lvl4pPr marL="1371600" indent="0" algn="l" defTabSz="914400" rtl="0" eaLnBrk="1" latinLnBrk="0" hangingPunct="1">
        <a:lnSpc>
          <a:spcPct val="90000"/>
        </a:lnSpc>
        <a:spcBef>
          <a:spcPts val="500"/>
        </a:spcBef>
        <a:buFont typeface="STIXGeneral-Regular" pitchFamily="2" charset="2"/>
        <a:buNone/>
        <a:defRPr lang="en-US" sz="1800" kern="1200" dirty="0">
          <a:solidFill>
            <a:srgbClr val="D82139"/>
          </a:solidFill>
          <a:latin typeface="Times" pitchFamily="2" charset="0"/>
          <a:ea typeface="+mn-ea"/>
          <a:cs typeface="+mn-cs"/>
        </a:defRPr>
      </a:lvl4pPr>
      <a:lvl5pPr marL="1828800" indent="0" algn="l" defTabSz="914400" rtl="0" eaLnBrk="1" latinLnBrk="0" hangingPunct="1">
        <a:lnSpc>
          <a:spcPct val="90000"/>
        </a:lnSpc>
        <a:spcBef>
          <a:spcPts val="500"/>
        </a:spcBef>
        <a:buFont typeface="STIXGeneral-Regular" pitchFamily="2" charset="2"/>
        <a:buNone/>
        <a:defRPr lang="en-US" sz="1800" kern="1200" dirty="0">
          <a:solidFill>
            <a:srgbClr val="D82139"/>
          </a:solidFill>
          <a:latin typeface="Time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816104"/>
      </p:ext>
    </p:extLst>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9D0164EB-59A3-F34F-8705-99AC061BA256}"/>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a:ext>
            </a:extLst>
          </a:blip>
          <a:srcRect/>
          <a:stretch/>
        </p:blipFill>
        <p:spPr>
          <a:xfrm>
            <a:off x="5380038" y="0"/>
            <a:ext cx="3763962" cy="4549140"/>
          </a:xfrm>
        </p:spPr>
      </p:pic>
      <p:sp>
        <p:nvSpPr>
          <p:cNvPr id="6" name="Title 1">
            <a:extLst>
              <a:ext uri="{FF2B5EF4-FFF2-40B4-BE49-F238E27FC236}">
                <a16:creationId xmlns:a16="http://schemas.microsoft.com/office/drawing/2014/main" id="{3C7CA13D-EABF-A69A-74C7-6746451A52DD}"/>
              </a:ext>
            </a:extLst>
          </p:cNvPr>
          <p:cNvSpPr>
            <a:spLocks noGrp="1"/>
          </p:cNvSpPr>
          <p:nvPr>
            <p:ph type="ctrTitle"/>
          </p:nvPr>
        </p:nvSpPr>
        <p:spPr>
          <a:xfrm>
            <a:off x="346313" y="499376"/>
            <a:ext cx="4781074" cy="2487016"/>
          </a:xfrm>
        </p:spPr>
        <p:txBody>
          <a:bodyPr/>
          <a:lstStyle/>
          <a:p>
            <a:pPr algn="ctr"/>
            <a:r>
              <a:rPr lang="en-US" sz="3200" dirty="0">
                <a:solidFill>
                  <a:schemeClr val="tx1">
                    <a:lumMod val="85000"/>
                    <a:lumOff val="15000"/>
                  </a:schemeClr>
                </a:solidFill>
                <a:latin typeface="Times" panose="02020603050405020304" pitchFamily="18" charset="0"/>
                <a:cs typeface="Times" panose="02020603050405020304" pitchFamily="18" charset="0"/>
              </a:rPr>
              <a:t>robot04 Mapping Experiments: 20 October 2026</a:t>
            </a:r>
          </a:p>
        </p:txBody>
      </p:sp>
      <p:sp>
        <p:nvSpPr>
          <p:cNvPr id="10" name="Date Placeholder 3">
            <a:extLst>
              <a:ext uri="{FF2B5EF4-FFF2-40B4-BE49-F238E27FC236}">
                <a16:creationId xmlns:a16="http://schemas.microsoft.com/office/drawing/2014/main" id="{008CBB81-B760-E15A-0234-F912112CB4DA}"/>
              </a:ext>
            </a:extLst>
          </p:cNvPr>
          <p:cNvSpPr txBox="1">
            <a:spLocks/>
          </p:cNvSpPr>
          <p:nvPr/>
        </p:nvSpPr>
        <p:spPr>
          <a:xfrm>
            <a:off x="271689" y="4221804"/>
            <a:ext cx="4781074" cy="2348412"/>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Trebuchet MS" panose="020B070302020209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dirty="0">
                <a:solidFill>
                  <a:schemeClr val="tx1">
                    <a:lumMod val="85000"/>
                    <a:lumOff val="15000"/>
                  </a:schemeClr>
                </a:solidFill>
                <a:latin typeface="Times" panose="02020603050405020304" pitchFamily="18" charset="0"/>
                <a:cs typeface="+mj-cs"/>
              </a:rPr>
              <a:t>BCIT Centre of Welding Technologies and Metallurgy Research </a:t>
            </a:r>
          </a:p>
          <a:p>
            <a:pPr algn="ctr"/>
            <a:r>
              <a:rPr lang="en-GB" b="0" dirty="0">
                <a:solidFill>
                  <a:schemeClr val="tx1">
                    <a:lumMod val="85000"/>
                    <a:lumOff val="15000"/>
                  </a:schemeClr>
                </a:solidFill>
                <a:latin typeface="Times" panose="02020603050405020304" pitchFamily="18" charset="0"/>
                <a:cs typeface="+mj-cs"/>
              </a:rPr>
              <a:t>x</a:t>
            </a:r>
          </a:p>
          <a:p>
            <a:pPr algn="ctr"/>
            <a:r>
              <a:rPr lang="en-GB" b="0" dirty="0">
                <a:solidFill>
                  <a:schemeClr val="tx1">
                    <a:lumMod val="85000"/>
                    <a:lumOff val="15000"/>
                  </a:schemeClr>
                </a:solidFill>
                <a:latin typeface="Times" panose="02020603050405020304" pitchFamily="18" charset="0"/>
                <a:cs typeface="+mj-cs"/>
              </a:rPr>
              <a:t>Motion and Power Electronics Control (MPEC) Lab</a:t>
            </a:r>
          </a:p>
          <a:p>
            <a:pPr algn="ctr"/>
            <a:endParaRPr lang="en-US" sz="1600" b="0" dirty="0">
              <a:solidFill>
                <a:schemeClr val="tx1">
                  <a:lumMod val="85000"/>
                  <a:lumOff val="15000"/>
                </a:schemeClr>
              </a:solidFill>
              <a:latin typeface="Times" panose="02020603050405020304" pitchFamily="18" charset="0"/>
              <a:cs typeface="Times" panose="02020603050405020304" pitchFamily="18" charset="0"/>
            </a:endParaRPr>
          </a:p>
          <a:p>
            <a:pPr algn="ctr"/>
            <a:r>
              <a:rPr lang="en-US" sz="1600" b="0" dirty="0">
                <a:solidFill>
                  <a:schemeClr val="tx1">
                    <a:lumMod val="85000"/>
                    <a:lumOff val="15000"/>
                  </a:schemeClr>
                </a:solidFill>
                <a:latin typeface="Times" panose="02020603050405020304" pitchFamily="18" charset="0"/>
                <a:cs typeface="Times" panose="02020603050405020304" pitchFamily="18" charset="0"/>
              </a:rPr>
              <a:t>18 autonomous exploration runs · Hector SLAM, Nav2 and frontier exploration on a Raspberry Pi 5 · robot04 (MentorPi T1)</a:t>
            </a:r>
          </a:p>
        </p:txBody>
      </p:sp>
      <p:pic>
        <p:nvPicPr>
          <p:cNvPr id="8" name="Picture 7" descr="A red rectangular sign with white text  Description automatically generated">
            <a:extLst>
              <a:ext uri="{FF2B5EF4-FFF2-40B4-BE49-F238E27FC236}">
                <a16:creationId xmlns:a16="http://schemas.microsoft.com/office/drawing/2014/main" id="{DD2A540D-FCB7-F311-CE90-8D873CEB64D6}"/>
              </a:ext>
            </a:extLst>
          </p:cNvPr>
          <p:cNvPicPr>
            <a:picLocks noChangeAspect="1"/>
          </p:cNvPicPr>
          <p:nvPr/>
        </p:nvPicPr>
        <p:blipFill>
          <a:blip r:embed="rId4"/>
          <a:stretch>
            <a:fillRect/>
          </a:stretch>
        </p:blipFill>
        <p:spPr>
          <a:xfrm>
            <a:off x="5318295" y="-204439"/>
            <a:ext cx="1943724" cy="1457793"/>
          </a:xfrm>
          <a:prstGeom prst="rect">
            <a:avLst/>
          </a:prstGeom>
        </p:spPr>
      </p:pic>
      <p:sp>
        <p:nvSpPr>
          <p:cNvPr id="4" name="TextBox 3">
            <a:extLst>
              <a:ext uri="{FF2B5EF4-FFF2-40B4-BE49-F238E27FC236}">
                <a16:creationId xmlns:a16="http://schemas.microsoft.com/office/drawing/2014/main" id="{F9AA8DF4-7A2A-B6EC-F984-D4ABC963E8CE}"/>
              </a:ext>
            </a:extLst>
          </p:cNvPr>
          <p:cNvSpPr txBox="1"/>
          <p:nvPr/>
        </p:nvSpPr>
        <p:spPr>
          <a:xfrm>
            <a:off x="5330218" y="5396010"/>
            <a:ext cx="3925925" cy="923330"/>
          </a:xfrm>
          <a:prstGeom prst="rect">
            <a:avLst/>
          </a:prstGeom>
          <a:noFill/>
        </p:spPr>
        <p:txBody>
          <a:bodyPr wrap="square">
            <a:spAutoFit/>
          </a:bodyPr>
          <a:lstStyle/>
          <a:p>
            <a:pPr algn="ctr"/>
            <a:endParaRPr lang="en-US" sz="1800" b="0" dirty="0">
              <a:solidFill>
                <a:schemeClr val="tx1">
                  <a:lumMod val="85000"/>
                  <a:lumOff val="15000"/>
                </a:schemeClr>
              </a:solidFill>
              <a:latin typeface="Times" panose="02020603050405020304" pitchFamily="18" charset="0"/>
              <a:cs typeface="Times" panose="02020603050405020304" pitchFamily="18" charset="0"/>
            </a:endParaRPr>
          </a:p>
          <a:p>
            <a:pPr algn="ctr"/>
            <a:r>
              <a:rPr lang="en-CA" sz="1800" b="0" dirty="0">
                <a:solidFill>
                  <a:schemeClr val="tx1">
                    <a:lumMod val="85000"/>
                    <a:lumOff val="15000"/>
                  </a:schemeClr>
                </a:solidFill>
                <a:latin typeface="Times" panose="02020603050405020304" pitchFamily="18" charset="0"/>
                <a:cs typeface="Times" panose="02020603050405020304" pitchFamily="18" charset="0"/>
              </a:rPr>
              <a:t>By:</a:t>
            </a:r>
          </a:p>
          <a:p>
            <a:pPr algn="ctr"/>
            <a:r>
              <a:rPr lang="en-CA" dirty="0">
                <a:solidFill>
                  <a:schemeClr val="tx1">
                    <a:lumMod val="85000"/>
                    <a:lumOff val="15000"/>
                  </a:schemeClr>
                </a:solidFill>
                <a:latin typeface="Times" panose="02020603050405020304" pitchFamily="18" charset="0"/>
                <a:cs typeface="Times" panose="02020603050405020304" pitchFamily="18" charset="0"/>
              </a:rPr>
              <a:t>Marthens HAKIZIMANA</a:t>
            </a:r>
            <a:br/>
            <a:r>
              <a:rPr lang="en-CA" dirty="0">
                <a:solidFill>
                  <a:schemeClr val="tx1">
                    <a:lumMod val="85000"/>
                    <a:lumOff val="15000"/>
                  </a:schemeClr>
                </a:solidFill>
                <a:latin typeface="Times" panose="02020603050405020304" pitchFamily="18" charset="0"/>
                <a:cs typeface="Times" panose="02020603050405020304" pitchFamily="18" charset="0"/>
              </a:rPr>
              <a:t>Amir TAGHAVIPOUR</a:t>
            </a:r>
            <a:br/>
            <a:endParaRPr lang="en-GB" sz="1800" b="0" dirty="0">
              <a:solidFill>
                <a:schemeClr val="tx1">
                  <a:lumMod val="85000"/>
                  <a:lumOff val="15000"/>
                </a:schemeClr>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185292129"/>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The Day at a Glance</a:t>
            </a:r>
          </a:p>
          <a:p>
            <a:pPr algn="just"/>
            <a:r>
              <a:rPr lang="en-US" sz="2500" dirty="0">
                <a:solidFill>
                  <a:srgbClr val="FFFFFF"/>
                </a:solidFill>
                <a:latin typeface="Times" panose="02020603050405020304" pitchFamily="18" charset="0"/>
                <a:cs typeface="Times" panose="02020603050405020304" pitchFamily="18" charset="0"/>
              </a:rPr>
              <a:t>20 October 2026, 09:32 – 12:57</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2</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1892807"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1280160"/>
            <a:ext cx="1709928"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18</a:t>
            </a:r>
          </a:p>
        </p:txBody>
      </p:sp>
      <p:sp>
        <p:nvSpPr>
          <p:cNvPr id="18" name="TextBox 17"/>
          <p:cNvSpPr txBox="1"/>
          <p:nvPr/>
        </p:nvSpPr>
        <p:spPr>
          <a:xfrm>
            <a:off x="594360" y="1847088"/>
            <a:ext cx="1709928"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autonomous runs</a:t>
            </a:r>
          </a:p>
        </p:txBody>
      </p:sp>
      <p:sp>
        <p:nvSpPr>
          <p:cNvPr id="19" name="Rounded Rectangle 18"/>
          <p:cNvSpPr/>
          <p:nvPr/>
        </p:nvSpPr>
        <p:spPr>
          <a:xfrm>
            <a:off x="2578608" y="1234440"/>
            <a:ext cx="1892807"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670048" y="1280160"/>
            <a:ext cx="1709928"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153 m</a:t>
            </a:r>
          </a:p>
        </p:txBody>
      </p:sp>
      <p:sp>
        <p:nvSpPr>
          <p:cNvPr id="21" name="TextBox 20"/>
          <p:cNvSpPr txBox="1"/>
          <p:nvPr/>
        </p:nvSpPr>
        <p:spPr>
          <a:xfrm>
            <a:off x="2670048" y="1847088"/>
            <a:ext cx="1709928"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driven by the robot</a:t>
            </a:r>
          </a:p>
        </p:txBody>
      </p:sp>
      <p:sp>
        <p:nvSpPr>
          <p:cNvPr id="22" name="Rounded Rectangle 21"/>
          <p:cNvSpPr/>
          <p:nvPr/>
        </p:nvSpPr>
        <p:spPr>
          <a:xfrm>
            <a:off x="4654296" y="1234440"/>
            <a:ext cx="1892807"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45736" y="1280160"/>
            <a:ext cx="1709928"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32.5 min</a:t>
            </a:r>
          </a:p>
        </p:txBody>
      </p:sp>
      <p:sp>
        <p:nvSpPr>
          <p:cNvPr id="24" name="TextBox 23"/>
          <p:cNvSpPr txBox="1"/>
          <p:nvPr/>
        </p:nvSpPr>
        <p:spPr>
          <a:xfrm>
            <a:off x="4745736" y="1847088"/>
            <a:ext cx="1709928"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explorer time</a:t>
            </a:r>
          </a:p>
        </p:txBody>
      </p:sp>
      <p:sp>
        <p:nvSpPr>
          <p:cNvPr id="25" name="Rounded Rectangle 24"/>
          <p:cNvSpPr/>
          <p:nvPr/>
        </p:nvSpPr>
        <p:spPr>
          <a:xfrm>
            <a:off x="6729984" y="1234440"/>
            <a:ext cx="1892807"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21424" y="1280160"/>
            <a:ext cx="1709928"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8</a:t>
            </a:r>
          </a:p>
        </p:txBody>
      </p:sp>
      <p:sp>
        <p:nvSpPr>
          <p:cNvPr id="27" name="TextBox 26"/>
          <p:cNvSpPr txBox="1"/>
          <p:nvPr/>
        </p:nvSpPr>
        <p:spPr>
          <a:xfrm>
            <a:off x="6821424" y="1847088"/>
            <a:ext cx="1709928"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maps saved on the PC</a:t>
            </a:r>
          </a:p>
        </p:txBody>
      </p:sp>
      <p:sp>
        <p:nvSpPr>
          <p:cNvPr id="28" name="Oval 27"/>
          <p:cNvSpPr/>
          <p:nvPr/>
        </p:nvSpPr>
        <p:spPr>
          <a:xfrm>
            <a:off x="640080" y="2788920"/>
            <a:ext cx="502920" cy="50292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1</a:t>
            </a:r>
          </a:p>
        </p:txBody>
      </p:sp>
      <p:sp>
        <p:nvSpPr>
          <p:cNvPr id="29" name="TextBox 28"/>
          <p:cNvSpPr txBox="1"/>
          <p:nvPr/>
        </p:nvSpPr>
        <p:spPr>
          <a:xfrm>
            <a:off x="1325880" y="2697480"/>
            <a:ext cx="7315200" cy="365760"/>
          </a:xfrm>
          <a:prstGeom prst="rect">
            <a:avLst/>
          </a:prstGeom>
          <a:noFill/>
        </p:spPr>
        <p:txBody>
          <a:bodyPr wrap="square" anchor="t" lIns="45720" rIns="45720">
            <a:spAutoFit/>
          </a:bodyPr>
          <a:lstStyle/>
          <a:p>
            <a:pPr algn="l">
              <a:spcAft>
                <a:spcPts val="0"/>
              </a:spcAft>
            </a:pPr>
            <a:r>
              <a:rPr sz="1700" b="1" i="0">
                <a:solidFill>
                  <a:srgbClr val="0000CC"/>
                </a:solidFill>
                <a:latin typeface="Times New Roman"/>
              </a:rPr>
              <a:t>Bounded area: works</a:t>
            </a:r>
          </a:p>
        </p:txBody>
      </p:sp>
      <p:sp>
        <p:nvSpPr>
          <p:cNvPr id="30" name="TextBox 29"/>
          <p:cNvSpPr txBox="1"/>
          <p:nvPr/>
        </p:nvSpPr>
        <p:spPr>
          <a:xfrm>
            <a:off x="1325880" y="3063240"/>
            <a:ext cx="7315200" cy="457200"/>
          </a:xfrm>
          <a:prstGeom prst="rect">
            <a:avLst/>
          </a:prstGeom>
          <a:noFill/>
        </p:spPr>
        <p:txBody>
          <a:bodyPr wrap="square" anchor="t" lIns="45720" rIns="45720">
            <a:spAutoFit/>
          </a:bodyPr>
          <a:lstStyle/>
          <a:p>
            <a:pPr algn="l">
              <a:spcAft>
                <a:spcPts val="0"/>
              </a:spcAft>
            </a:pPr>
            <a:r>
              <a:rPr sz="1400" b="0" i="0">
                <a:solidFill>
                  <a:srgbClr val="55555F"/>
                </a:solidFill>
                <a:latin typeface="Times New Roman"/>
              </a:rPr>
              <a:t>7 of 9 enclosure runs finished and drove home; the last 6 runs had no failed goal</a:t>
            </a:r>
          </a:p>
        </p:txBody>
      </p:sp>
      <p:sp>
        <p:nvSpPr>
          <p:cNvPr id="31" name="Oval 30"/>
          <p:cNvSpPr/>
          <p:nvPr/>
        </p:nvSpPr>
        <p:spPr>
          <a:xfrm>
            <a:off x="640080" y="3657600"/>
            <a:ext cx="502920" cy="502920"/>
          </a:xfrm>
          <a:prstGeom prst="ellipse">
            <a:avLst/>
          </a:prstGeom>
          <a:solidFill>
            <a:srgbClr val="CC0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2</a:t>
            </a:r>
          </a:p>
        </p:txBody>
      </p:sp>
      <p:sp>
        <p:nvSpPr>
          <p:cNvPr id="32" name="TextBox 31"/>
          <p:cNvSpPr txBox="1"/>
          <p:nvPr/>
        </p:nvSpPr>
        <p:spPr>
          <a:xfrm>
            <a:off x="1325880" y="3566160"/>
            <a:ext cx="7315200" cy="365760"/>
          </a:xfrm>
          <a:prstGeom prst="rect">
            <a:avLst/>
          </a:prstGeom>
          <a:noFill/>
        </p:spPr>
        <p:txBody>
          <a:bodyPr wrap="square" anchor="t" lIns="45720" rIns="45720">
            <a:spAutoFit/>
          </a:bodyPr>
          <a:lstStyle/>
          <a:p>
            <a:pPr algn="l">
              <a:spcAft>
                <a:spcPts val="0"/>
              </a:spcAft>
            </a:pPr>
            <a:r>
              <a:rPr sz="1700" b="1" i="0">
                <a:solidFill>
                  <a:srgbClr val="CC0633"/>
                </a:solidFill>
                <a:latin typeface="Times New Roman"/>
              </a:rPr>
              <a:t>Large open area: not yet</a:t>
            </a:r>
          </a:p>
        </p:txBody>
      </p:sp>
      <p:sp>
        <p:nvSpPr>
          <p:cNvPr id="33" name="TextBox 32"/>
          <p:cNvSpPr txBox="1"/>
          <p:nvPr/>
        </p:nvSpPr>
        <p:spPr>
          <a:xfrm>
            <a:off x="1325880" y="3931920"/>
            <a:ext cx="7315200" cy="457200"/>
          </a:xfrm>
          <a:prstGeom prst="rect">
            <a:avLst/>
          </a:prstGeom>
          <a:noFill/>
        </p:spPr>
        <p:txBody>
          <a:bodyPr wrap="square" anchor="t" lIns="45720" rIns="45720">
            <a:spAutoFit/>
          </a:bodyPr>
          <a:lstStyle/>
          <a:p>
            <a:pPr algn="l">
              <a:spcAft>
                <a:spcPts val="0"/>
              </a:spcAft>
            </a:pPr>
            <a:r>
              <a:rPr sz="1400" b="0" i="0">
                <a:solidFill>
                  <a:srgbClr val="55555F"/>
                </a:solidFill>
                <a:latin typeface="Times New Roman"/>
              </a:rPr>
              <a:t>82 % of goals aborted by Nav2 in the morning; no run got back to its start</a:t>
            </a:r>
          </a:p>
        </p:txBody>
      </p:sp>
      <p:sp>
        <p:nvSpPr>
          <p:cNvPr id="34" name="Oval 33"/>
          <p:cNvSpPr/>
          <p:nvPr/>
        </p:nvSpPr>
        <p:spPr>
          <a:xfrm>
            <a:off x="640080" y="4526279"/>
            <a:ext cx="502920" cy="50292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3</a:t>
            </a:r>
          </a:p>
        </p:txBody>
      </p:sp>
      <p:sp>
        <p:nvSpPr>
          <p:cNvPr id="35" name="TextBox 34"/>
          <p:cNvSpPr txBox="1"/>
          <p:nvPr/>
        </p:nvSpPr>
        <p:spPr>
          <a:xfrm>
            <a:off x="1325880" y="4434840"/>
            <a:ext cx="7315200" cy="365760"/>
          </a:xfrm>
          <a:prstGeom prst="rect">
            <a:avLst/>
          </a:prstGeom>
          <a:noFill/>
        </p:spPr>
        <p:txBody>
          <a:bodyPr wrap="square" anchor="t" lIns="45720" rIns="45720">
            <a:spAutoFit/>
          </a:bodyPr>
          <a:lstStyle/>
          <a:p>
            <a:pPr algn="l">
              <a:spcAft>
                <a:spcPts val="0"/>
              </a:spcAft>
            </a:pPr>
            <a:r>
              <a:rPr sz="1700" b="1" i="0">
                <a:solidFill>
                  <a:srgbClr val="0000CC"/>
                </a:solidFill>
                <a:latin typeface="Times New Roman"/>
              </a:rPr>
              <a:t>Two side findings</a:t>
            </a:r>
          </a:p>
        </p:txBody>
      </p:sp>
      <p:sp>
        <p:nvSpPr>
          <p:cNvPr id="36" name="TextBox 35"/>
          <p:cNvSpPr txBox="1"/>
          <p:nvPr/>
        </p:nvSpPr>
        <p:spPr>
          <a:xfrm>
            <a:off x="1325880" y="4800600"/>
            <a:ext cx="7315200" cy="457200"/>
          </a:xfrm>
          <a:prstGeom prst="rect">
            <a:avLst/>
          </a:prstGeom>
          <a:noFill/>
        </p:spPr>
        <p:txBody>
          <a:bodyPr wrap="square" anchor="t" lIns="45720" rIns="45720">
            <a:spAutoFit/>
          </a:bodyPr>
          <a:lstStyle/>
          <a:p>
            <a:pPr algn="l">
              <a:spcAft>
                <a:spcPts val="0"/>
              </a:spcAft>
            </a:pPr>
            <a:r>
              <a:rPr sz="1400" b="0" i="0">
                <a:solidFill>
                  <a:srgbClr val="55555F"/>
                </a:solidFill>
                <a:latin typeface="Times New Roman"/>
              </a:rPr>
              <a:t>battery check trips on voltage dips; new app timer matches the explorer within 12 s</a:t>
            </a:r>
          </a:p>
        </p:txBody>
      </p:sp>
      <p:sp>
        <p:nvSpPr>
          <p:cNvPr id="37" name="Rounded Rectangle 36"/>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No code changed during the day: the runs differ in where they ran and how they ended.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Setup and What Was Measured</a:t>
            </a:r>
          </a:p>
          <a:p>
            <a:pPr algn="just"/>
            <a:r>
              <a:rPr lang="en-US" sz="2500" dirty="0">
                <a:solidFill>
                  <a:srgbClr val="FFFFFF"/>
                </a:solidFill>
                <a:latin typeface="Times" panose="02020603050405020304" pitchFamily="18" charset="0"/>
                <a:cs typeface="Times" panose="02020603050405020304" pitchFamily="18" charset="0"/>
              </a:rPr>
              <a:t>Same software and parameters in every run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3</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3977639" cy="196596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94360" y="1289304"/>
            <a:ext cx="3794759" cy="365760"/>
          </a:xfrm>
          <a:prstGeom prst="rect">
            <a:avLst/>
          </a:prstGeom>
          <a:noFill/>
        </p:spPr>
        <p:txBody>
          <a:bodyPr wrap="square" anchor="t" lIns="45720" rIns="45720">
            <a:spAutoFit/>
          </a:bodyPr>
          <a:lstStyle/>
          <a:p>
            <a:pPr algn="l">
              <a:spcAft>
                <a:spcPts val="0"/>
              </a:spcAft>
            </a:pPr>
            <a:r>
              <a:rPr sz="1500" b="1" i="0">
                <a:solidFill>
                  <a:srgbClr val="0000CC"/>
                </a:solidFill>
                <a:latin typeface="Times New Roman"/>
              </a:rPr>
              <a:t>On the robot (Raspberry Pi 5)</a:t>
            </a:r>
          </a:p>
        </p:txBody>
      </p:sp>
      <p:sp>
        <p:nvSpPr>
          <p:cNvPr id="18" name="TextBox 17"/>
          <p:cNvSpPr txBox="1"/>
          <p:nvPr/>
        </p:nvSpPr>
        <p:spPr>
          <a:xfrm>
            <a:off x="594360" y="1655064"/>
            <a:ext cx="3794759" cy="1508760"/>
          </a:xfrm>
          <a:prstGeom prst="rect">
            <a:avLst/>
          </a:prstGeom>
          <a:noFill/>
        </p:spPr>
        <p:txBody>
          <a:bodyPr wrap="square" anchor="t" lIns="45720" rIns="45720">
            <a:spAutoFit/>
          </a:bodyPr>
          <a:lstStyle/>
          <a:p>
            <a:pPr algn="l">
              <a:spcAft>
                <a:spcPts val="300"/>
              </a:spcAft>
            </a:pPr>
            <a:r>
              <a:rPr sz="1300" b="0" i="0">
                <a:solidFill>
                  <a:srgbClr val="55555F"/>
                </a:solidFill>
                <a:latin typeface="Times New Roman"/>
              </a:rPr>
              <a:t>Hector SLAM, 0.05 m cells, MS200 lidar 10 Hz</a:t>
            </a:r>
          </a:p>
          <a:p>
            <a:pPr algn="l">
              <a:spcAft>
                <a:spcPts val="300"/>
              </a:spcAft>
            </a:pPr>
            <a:r>
              <a:rPr sz="1300" b="0" i="0">
                <a:solidFill>
                  <a:srgbClr val="55555F"/>
                </a:solidFill>
                <a:latin typeface="Times New Roman"/>
              </a:rPr>
              <a:t>Nav2: NavFn + Regulated Pure Pursuit, 0.10 m/s</a:t>
            </a:r>
          </a:p>
          <a:p>
            <a:pPr algn="l">
              <a:spcAft>
                <a:spcPts val="300"/>
              </a:spcAft>
            </a:pPr>
            <a:r>
              <a:rPr sz="1300" b="0" i="0">
                <a:solidFill>
                  <a:srgbClr val="55555F"/>
                </a:solidFill>
                <a:latin typeface="Times New Roman"/>
              </a:rPr>
              <a:t>Frontier explorer: radius 0.15 m, min frontier 0.30 m, replan 3 s, no-progress 30 s, battery ≥ 7.0 V</a:t>
            </a:r>
          </a:p>
        </p:txBody>
      </p:sp>
      <p:sp>
        <p:nvSpPr>
          <p:cNvPr id="19" name="Rounded Rectangle 18"/>
          <p:cNvSpPr/>
          <p:nvPr/>
        </p:nvSpPr>
        <p:spPr>
          <a:xfrm>
            <a:off x="4663440" y="1234440"/>
            <a:ext cx="3977639" cy="196596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79" y="1289304"/>
            <a:ext cx="3794759" cy="365760"/>
          </a:xfrm>
          <a:prstGeom prst="rect">
            <a:avLst/>
          </a:prstGeom>
          <a:noFill/>
        </p:spPr>
        <p:txBody>
          <a:bodyPr wrap="square" anchor="t" lIns="45720" rIns="45720">
            <a:spAutoFit/>
          </a:bodyPr>
          <a:lstStyle/>
          <a:p>
            <a:pPr algn="l">
              <a:spcAft>
                <a:spcPts val="0"/>
              </a:spcAft>
            </a:pPr>
            <a:r>
              <a:rPr sz="1500" b="1" i="0">
                <a:solidFill>
                  <a:srgbClr val="0000CC"/>
                </a:solidFill>
                <a:latin typeface="Times New Roman"/>
              </a:rPr>
              <a:t>On the PC (robot04 mapper app)</a:t>
            </a:r>
          </a:p>
        </p:txBody>
      </p:sp>
      <p:sp>
        <p:nvSpPr>
          <p:cNvPr id="21" name="TextBox 20"/>
          <p:cNvSpPr txBox="1"/>
          <p:nvPr/>
        </p:nvSpPr>
        <p:spPr>
          <a:xfrm>
            <a:off x="4754879" y="1655064"/>
            <a:ext cx="3794759" cy="1508760"/>
          </a:xfrm>
          <a:prstGeom prst="rect">
            <a:avLst/>
          </a:prstGeom>
          <a:noFill/>
        </p:spPr>
        <p:txBody>
          <a:bodyPr wrap="square" anchor="t" lIns="45720" rIns="45720">
            <a:spAutoFit/>
          </a:bodyPr>
          <a:lstStyle/>
          <a:p>
            <a:pPr algn="l">
              <a:spcAft>
                <a:spcPts val="300"/>
              </a:spcAft>
            </a:pPr>
            <a:r>
              <a:rPr sz="1300" b="0" i="0">
                <a:solidFill>
                  <a:srgbClr val="55555F"/>
                </a:solidFill>
                <a:latin typeface="Times New Roman"/>
              </a:rPr>
              <a:t>Watches map, path, Nav2 plan and frontiers</a:t>
            </a:r>
          </a:p>
          <a:p>
            <a:pPr algn="l">
              <a:spcAft>
                <a:spcPts val="300"/>
              </a:spcAft>
            </a:pPr>
            <a:r>
              <a:rPr sz="1300" b="0" i="0">
                <a:solidFill>
                  <a:srgbClr val="55555F"/>
                </a:solidFill>
                <a:latin typeface="Times New Roman"/>
              </a:rPr>
              <a:t>Starts the stack over ssh; Explore / Pause / Home</a:t>
            </a:r>
          </a:p>
          <a:p>
            <a:pPr algn="l">
              <a:spcAft>
                <a:spcPts val="300"/>
              </a:spcAft>
            </a:pPr>
            <a:r>
              <a:rPr sz="1300" b="0" i="0">
                <a:solidFill>
                  <a:srgbClr val="55555F"/>
                </a:solidFill>
                <a:latin typeface="Times New Roman"/>
              </a:rPr>
              <a:t>Saves pgm + yaml + json; new mapping timer saved with the map</a:t>
            </a:r>
          </a:p>
        </p:txBody>
      </p:sp>
      <p:graphicFrame>
        <p:nvGraphicFramePr>
          <p:cNvPr id="22" name="Table 21"/>
          <p:cNvGraphicFramePr>
            <a:graphicFrameLocks noGrp="1"/>
          </p:cNvGraphicFramePr>
          <p:nvPr/>
        </p:nvGraphicFramePr>
        <p:xfrm>
          <a:off x="502920" y="3383280"/>
          <a:ext cx="8138160" cy="1645920"/>
        </p:xfrm>
        <a:graphic>
          <a:graphicData uri="http://schemas.openxmlformats.org/drawingml/2006/table">
            <a:tbl>
              <a:tblPr firstRow="0" bandRow="0"/>
              <a:tblGrid>
                <a:gridCol w="1463040"/>
                <a:gridCol w="1463040"/>
                <a:gridCol w="5212080"/>
              </a:tblGrid>
              <a:tr h="329184">
                <a:tc>
                  <a:txBody>
                    <a:bodyPr wrap="square"/>
                    <a:lstStyle/>
                    <a:p>
                      <a:r>
                        <a:rPr sz="1200" b="1">
                          <a:solidFill>
                            <a:srgbClr val="FFFFFF"/>
                          </a:solidFill>
                          <a:latin typeface="Times New Roman"/>
                        </a:rPr>
                        <a:t>Measure</a:t>
                      </a:r>
                    </a:p>
                  </a:txBody>
                  <a:tcPr marL="54864" marR="54864" marT="18288" marB="18288" anchor="ctr">
                    <a:solidFill>
                      <a:srgbClr val="0000CC"/>
                    </a:solidFill>
                  </a:tcPr>
                </a:tc>
                <a:tc>
                  <a:txBody>
                    <a:bodyPr wrap="square"/>
                    <a:lstStyle/>
                    <a:p>
                      <a:r>
                        <a:rPr sz="1200" b="1">
                          <a:solidFill>
                            <a:srgbClr val="FFFFFF"/>
                          </a:solidFill>
                          <a:latin typeface="Times New Roman"/>
                        </a:rPr>
                        <a:t>Source</a:t>
                      </a:r>
                    </a:p>
                  </a:txBody>
                  <a:tcPr marL="54864" marR="54864" marT="18288" marB="18288" anchor="ctr">
                    <a:solidFill>
                      <a:srgbClr val="0000CC"/>
                    </a:solidFill>
                  </a:tcPr>
                </a:tc>
                <a:tc>
                  <a:txBody>
                    <a:bodyPr wrap="square"/>
                    <a:lstStyle/>
                    <a:p>
                      <a:r>
                        <a:rPr sz="1200" b="1">
                          <a:solidFill>
                            <a:srgbClr val="FFFFFF"/>
                          </a:solidFill>
                          <a:latin typeface="Times New Roman"/>
                        </a:rPr>
                        <a:t>Definition</a:t>
                      </a:r>
                    </a:p>
                  </a:txBody>
                  <a:tcPr marL="54864" marR="54864" marT="18288" marB="18288" anchor="ctr">
                    <a:solidFill>
                      <a:srgbClr val="0000CC"/>
                    </a:solidFill>
                  </a:tcPr>
                </a:tc>
              </a:tr>
              <a:tr h="329184">
                <a:tc>
                  <a:txBody>
                    <a:bodyPr wrap="square"/>
                    <a:lstStyle/>
                    <a:p>
                      <a:r>
                        <a:rPr sz="1200" b="0">
                          <a:solidFill>
                            <a:srgbClr val="1A1A1A"/>
                          </a:solidFill>
                          <a:latin typeface="Times New Roman"/>
                        </a:rPr>
                        <a:t>duration</a:t>
                      </a:r>
                    </a:p>
                  </a:txBody>
                  <a:tcPr marL="54864" marR="54864" marT="18288" marB="18288" anchor="ctr">
                    <a:solidFill>
                      <a:srgbClr val="ECECFA"/>
                    </a:solidFill>
                  </a:tcPr>
                </a:tc>
                <a:tc>
                  <a:txBody>
                    <a:bodyPr wrap="square"/>
                    <a:lstStyle/>
                    <a:p>
                      <a:r>
                        <a:rPr sz="1200" b="0">
                          <a:solidFill>
                            <a:srgbClr val="1A1A1A"/>
                          </a:solidFill>
                          <a:latin typeface="Times New Roman"/>
                        </a:rPr>
                        <a:t>explorer log</a:t>
                      </a:r>
                    </a:p>
                  </a:txBody>
                  <a:tcPr marL="54864" marR="54864" marT="18288" marB="18288" anchor="ctr">
                    <a:solidFill>
                      <a:srgbClr val="ECECFA"/>
                    </a:solidFill>
                  </a:tcPr>
                </a:tc>
                <a:tc>
                  <a:txBody>
                    <a:bodyPr wrap="square"/>
                    <a:lstStyle/>
                    <a:p>
                      <a:r>
                        <a:rPr sz="1200" b="0">
                          <a:solidFill>
                            <a:srgbClr val="1A1A1A"/>
                          </a:solidFill>
                          <a:latin typeface="Times New Roman"/>
                        </a:rPr>
                        <a:t>Explore pressed → done or operator stop</a:t>
                      </a:r>
                    </a:p>
                  </a:txBody>
                  <a:tcPr marL="54864" marR="54864" marT="18288" marB="18288" anchor="ctr">
                    <a:solidFill>
                      <a:srgbClr val="ECECFA"/>
                    </a:solidFill>
                  </a:tcPr>
                </a:tc>
              </a:tr>
              <a:tr h="329184">
                <a:tc>
                  <a:txBody>
                    <a:bodyPr wrap="square"/>
                    <a:lstStyle/>
                    <a:p>
                      <a:r>
                        <a:rPr sz="1200" b="0">
                          <a:solidFill>
                            <a:srgbClr val="1A1A1A"/>
                          </a:solidFill>
                          <a:latin typeface="Times New Roman"/>
                        </a:rPr>
                        <a:t>distance</a:t>
                      </a:r>
                    </a:p>
                  </a:txBody>
                  <a:tcPr marL="54864" marR="54864" marT="18288" marB="18288" anchor="ctr">
                    <a:solidFill>
                      <a:srgbClr val="FFFFFF"/>
                    </a:solidFill>
                  </a:tcPr>
                </a:tc>
                <a:tc>
                  <a:txBody>
                    <a:bodyPr wrap="square"/>
                    <a:lstStyle/>
                    <a:p>
                      <a:r>
                        <a:rPr sz="1200" b="0">
                          <a:solidFill>
                            <a:srgbClr val="1A1A1A"/>
                          </a:solidFill>
                          <a:latin typeface="Times New Roman"/>
                        </a:rPr>
                        <a:t>explorer log</a:t>
                      </a:r>
                    </a:p>
                  </a:txBody>
                  <a:tcPr marL="54864" marR="54864" marT="18288" marB="18288" anchor="ctr">
                    <a:solidFill>
                      <a:srgbClr val="FFFFFF"/>
                    </a:solidFill>
                  </a:tcPr>
                </a:tc>
                <a:tc>
                  <a:txBody>
                    <a:bodyPr wrap="square"/>
                    <a:lstStyle/>
                    <a:p>
                      <a:r>
                        <a:rPr sz="1200" b="0">
                          <a:solidFill>
                            <a:srgbClr val="1A1A1A"/>
                          </a:solidFill>
                          <a:latin typeface="Times New Roman"/>
                        </a:rPr>
                        <a:t>sum of SLAM pose steps</a:t>
                      </a:r>
                    </a:p>
                  </a:txBody>
                  <a:tcPr marL="54864" marR="54864" marT="18288" marB="18288" anchor="ctr">
                    <a:solidFill>
                      <a:srgbClr val="FFFFFF"/>
                    </a:solidFill>
                  </a:tcPr>
                </a:tc>
              </a:tr>
              <a:tr h="329184">
                <a:tc>
                  <a:txBody>
                    <a:bodyPr wrap="square"/>
                    <a:lstStyle/>
                    <a:p>
                      <a:r>
                        <a:rPr sz="1200" b="0">
                          <a:solidFill>
                            <a:srgbClr val="1A1A1A"/>
                          </a:solidFill>
                          <a:latin typeface="Times New Roman"/>
                        </a:rPr>
                        <a:t>mapped area</a:t>
                      </a:r>
                    </a:p>
                  </a:txBody>
                  <a:tcPr marL="54864" marR="54864" marT="18288" marB="18288" anchor="ctr">
                    <a:solidFill>
                      <a:srgbClr val="ECECFA"/>
                    </a:solidFill>
                  </a:tcPr>
                </a:tc>
                <a:tc>
                  <a:txBody>
                    <a:bodyPr wrap="square"/>
                    <a:lstStyle/>
                    <a:p>
                      <a:r>
                        <a:rPr sz="1200" b="0">
                          <a:solidFill>
                            <a:srgbClr val="1A1A1A"/>
                          </a:solidFill>
                          <a:latin typeface="Times New Roman"/>
                        </a:rPr>
                        <a:t>map</a:t>
                      </a:r>
                    </a:p>
                  </a:txBody>
                  <a:tcPr marL="54864" marR="54864" marT="18288" marB="18288" anchor="ctr">
                    <a:solidFill>
                      <a:srgbClr val="ECECFA"/>
                    </a:solidFill>
                  </a:tcPr>
                </a:tc>
                <a:tc>
                  <a:txBody>
                    <a:bodyPr wrap="square"/>
                    <a:lstStyle/>
                    <a:p>
                      <a:r>
                        <a:rPr sz="1200" b="0">
                          <a:solidFill>
                            <a:srgbClr val="1A1A1A"/>
                          </a:solidFill>
                          <a:latin typeface="Times New Roman"/>
                        </a:rPr>
                        <a:t>known cells (free + occupied) × 0.05² m², also beyond walls</a:t>
                      </a:r>
                    </a:p>
                  </a:txBody>
                  <a:tcPr marL="54864" marR="54864" marT="18288" marB="18288" anchor="ctr">
                    <a:solidFill>
                      <a:srgbClr val="ECECFA"/>
                    </a:solidFill>
                  </a:tcPr>
                </a:tc>
              </a:tr>
              <a:tr h="329184">
                <a:tc>
                  <a:txBody>
                    <a:bodyPr wrap="square"/>
                    <a:lstStyle/>
                    <a:p>
                      <a:r>
                        <a:rPr sz="1200" b="0">
                          <a:solidFill>
                            <a:srgbClr val="1A1A1A"/>
                          </a:solidFill>
                          <a:latin typeface="Times New Roman"/>
                        </a:rPr>
                        <a:t>goals</a:t>
                      </a:r>
                    </a:p>
                  </a:txBody>
                  <a:tcPr marL="54864" marR="54864" marT="18288" marB="18288" anchor="ctr">
                    <a:solidFill>
                      <a:srgbClr val="FFFFFF"/>
                    </a:solidFill>
                  </a:tcPr>
                </a:tc>
                <a:tc>
                  <a:txBody>
                    <a:bodyPr wrap="square"/>
                    <a:lstStyle/>
                    <a:p>
                      <a:r>
                        <a:rPr sz="1200" b="0">
                          <a:solidFill>
                            <a:srgbClr val="1A1A1A"/>
                          </a:solidFill>
                          <a:latin typeface="Times New Roman"/>
                        </a:rPr>
                        <a:t>explorer log</a:t>
                      </a:r>
                    </a:p>
                  </a:txBody>
                  <a:tcPr marL="54864" marR="54864" marT="18288" marB="18288" anchor="ctr">
                    <a:solidFill>
                      <a:srgbClr val="FFFFFF"/>
                    </a:solidFill>
                  </a:tcPr>
                </a:tc>
                <a:tc>
                  <a:txBody>
                    <a:bodyPr wrap="square"/>
                    <a:lstStyle/>
                    <a:p>
                      <a:r>
                        <a:rPr sz="1200" b="0">
                          <a:solidFill>
                            <a:srgbClr val="1A1A1A"/>
                          </a:solidFill>
                          <a:latin typeface="Times New Roman"/>
                        </a:rPr>
                        <a:t>reached / frontier seen on the way / failed (Nav2 aborted, timeout)</a:t>
                      </a:r>
                    </a:p>
                  </a:txBody>
                  <a:tcPr marL="54864" marR="54864" marT="18288" marB="18288" anchor="ctr">
                    <a:solidFill>
                      <a:srgbClr val="FFFFFF"/>
                    </a:solidFill>
                  </a:tcPr>
                </a:tc>
              </a:tr>
            </a:tbl>
          </a:graphicData>
        </a:graphic>
      </p:graphicFrame>
      <p:sp>
        <p:nvSpPr>
          <p:cNvPr id="23" name="Rounded Rectangle 22"/>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Data: 18 explorer logs, 17 robot maps, 8 PC maps, all in experiments/2026-10-20/data.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Five Sessions Through the Day</a:t>
            </a:r>
          </a:p>
          <a:p>
            <a:pPr algn="just"/>
            <a:r>
              <a:rPr lang="en-US" sz="2500" dirty="0">
                <a:solidFill>
                  <a:srgbClr val="FFFFFF"/>
                </a:solidFill>
                <a:latin typeface="Times" panose="02020603050405020304" pitchFamily="18" charset="0"/>
                <a:cs typeface="Times" panose="02020603050405020304" pitchFamily="18" charset="0"/>
              </a:rPr>
              <a:t>How each group of runs ended</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4</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234440"/>
            <a:ext cx="1508760" cy="38404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05840" y="1371600"/>
            <a:ext cx="502920" cy="502920"/>
          </a:xfrm>
          <a:prstGeom prst="ellipse">
            <a:avLst/>
          </a:prstGeom>
          <a:solidFill>
            <a:srgbClr val="CC0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A</a:t>
            </a:r>
          </a:p>
        </p:txBody>
      </p:sp>
      <p:sp>
        <p:nvSpPr>
          <p:cNvPr id="18" name="TextBox 17"/>
          <p:cNvSpPr txBox="1"/>
          <p:nvPr/>
        </p:nvSpPr>
        <p:spPr>
          <a:xfrm>
            <a:off x="548640" y="1965960"/>
            <a:ext cx="1417320" cy="320040"/>
          </a:xfrm>
          <a:prstGeom prst="rect">
            <a:avLst/>
          </a:prstGeom>
          <a:noFill/>
        </p:spPr>
        <p:txBody>
          <a:bodyPr wrap="square" anchor="t" lIns="45720" rIns="45720">
            <a:spAutoFit/>
          </a:bodyPr>
          <a:lstStyle/>
          <a:p>
            <a:pPr algn="ctr">
              <a:spcAft>
                <a:spcPts val="0"/>
              </a:spcAft>
            </a:pPr>
            <a:r>
              <a:rPr sz="1400" b="1" i="0">
                <a:solidFill>
                  <a:srgbClr val="1A1A1A"/>
                </a:solidFill>
                <a:latin typeface="Times New Roman"/>
              </a:rPr>
              <a:t>09:32</a:t>
            </a:r>
          </a:p>
        </p:txBody>
      </p:sp>
      <p:sp>
        <p:nvSpPr>
          <p:cNvPr id="19" name="TextBox 18"/>
          <p:cNvSpPr txBox="1"/>
          <p:nvPr/>
        </p:nvSpPr>
        <p:spPr>
          <a:xfrm>
            <a:off x="548640" y="2286000"/>
            <a:ext cx="1417320" cy="548640"/>
          </a:xfrm>
          <a:prstGeom prst="rect">
            <a:avLst/>
          </a:prstGeom>
          <a:noFill/>
        </p:spPr>
        <p:txBody>
          <a:bodyPr wrap="square" anchor="t" lIns="45720" rIns="45720">
            <a:spAutoFit/>
          </a:bodyPr>
          <a:lstStyle/>
          <a:p>
            <a:pPr algn="ctr">
              <a:spcAft>
                <a:spcPts val="0"/>
              </a:spcAft>
            </a:pPr>
            <a:r>
              <a:rPr sz="1300" b="1" i="0">
                <a:solidFill>
                  <a:srgbClr val="CC0633"/>
                </a:solidFill>
                <a:latin typeface="Times New Roman"/>
              </a:rPr>
              <a:t>Large open area</a:t>
            </a:r>
          </a:p>
        </p:txBody>
      </p:sp>
      <p:sp>
        <p:nvSpPr>
          <p:cNvPr id="20" name="TextBox 19"/>
          <p:cNvSpPr txBox="1"/>
          <p:nvPr/>
        </p:nvSpPr>
        <p:spPr>
          <a:xfrm>
            <a:off x="594360" y="2880360"/>
            <a:ext cx="1325880" cy="2103120"/>
          </a:xfrm>
          <a:prstGeom prst="rect">
            <a:avLst/>
          </a:prstGeom>
          <a:noFill/>
        </p:spPr>
        <p:txBody>
          <a:bodyPr wrap="square" anchor="t" lIns="45720" rIns="45720">
            <a:spAutoFit/>
          </a:bodyPr>
          <a:lstStyle/>
          <a:p>
            <a:pPr algn="l">
              <a:spcAft>
                <a:spcPts val="500"/>
              </a:spcAft>
            </a:pPr>
            <a:r>
              <a:rPr sz="1300" b="1" i="0">
                <a:solidFill>
                  <a:srgbClr val="55555F"/>
                </a:solidFill>
                <a:latin typeface="Times New Roman"/>
              </a:rPr>
              <a:t>4</a:t>
            </a:r>
            <a:r>
              <a:rPr sz="1300" b="0" i="0">
                <a:solidFill>
                  <a:srgbClr val="55555F"/>
                </a:solidFill>
                <a:latin typeface="Times New Roman"/>
              </a:rPr>
              <a:t> runs</a:t>
            </a:r>
          </a:p>
          <a:p>
            <a:pPr algn="l">
              <a:spcAft>
                <a:spcPts val="500"/>
              </a:spcAft>
            </a:pPr>
            <a:r>
              <a:rPr sz="1300" b="1" i="0">
                <a:solidFill>
                  <a:srgbClr val="55555F"/>
                </a:solidFill>
                <a:latin typeface="Times New Roman"/>
              </a:rPr>
              <a:t>0</a:t>
            </a:r>
            <a:r>
              <a:rPr sz="1300" b="0" i="0">
                <a:solidFill>
                  <a:srgbClr val="55555F"/>
                </a:solidFill>
                <a:latin typeface="Times New Roman"/>
              </a:rPr>
              <a:t> back home</a:t>
            </a:r>
          </a:p>
          <a:p>
            <a:pPr algn="l">
              <a:spcAft>
                <a:spcPts val="500"/>
              </a:spcAft>
            </a:pPr>
            <a:r>
              <a:rPr sz="1300" b="1" i="0">
                <a:solidFill>
                  <a:srgbClr val="55555F"/>
                </a:solidFill>
                <a:latin typeface="Times New Roman"/>
              </a:rPr>
              <a:t>65 / 79</a:t>
            </a:r>
            <a:r>
              <a:rPr sz="1300" b="0" i="0">
                <a:solidFill>
                  <a:srgbClr val="55555F"/>
                </a:solidFill>
                <a:latin typeface="Times New Roman"/>
              </a:rPr>
              <a:t> goals failed</a:t>
            </a:r>
          </a:p>
          <a:p>
            <a:pPr algn="l">
              <a:spcAft>
                <a:spcPts val="500"/>
              </a:spcAft>
            </a:pPr>
            <a:r>
              <a:rPr sz="1300" b="1" i="0">
                <a:solidFill>
                  <a:srgbClr val="55555F"/>
                </a:solidFill>
                <a:latin typeface="Times New Roman"/>
              </a:rPr>
              <a:t>26 m</a:t>
            </a:r>
            <a:r>
              <a:rPr sz="1300" b="0" i="0">
                <a:solidFill>
                  <a:srgbClr val="55555F"/>
                </a:solidFill>
                <a:latin typeface="Times New Roman"/>
              </a:rPr>
              <a:t> driven</a:t>
            </a:r>
          </a:p>
        </p:txBody>
      </p:sp>
      <p:sp>
        <p:nvSpPr>
          <p:cNvPr id="21" name="Rounded Rectangle 20"/>
          <p:cNvSpPr/>
          <p:nvPr/>
        </p:nvSpPr>
        <p:spPr>
          <a:xfrm>
            <a:off x="2148840" y="1234440"/>
            <a:ext cx="1508760" cy="38404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2651760" y="1371600"/>
            <a:ext cx="502920" cy="502920"/>
          </a:xfrm>
          <a:prstGeom prst="ellipse">
            <a:avLst/>
          </a:prstGeom>
          <a:solidFill>
            <a:srgbClr val="5555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B</a:t>
            </a:r>
          </a:p>
        </p:txBody>
      </p:sp>
      <p:sp>
        <p:nvSpPr>
          <p:cNvPr id="23" name="TextBox 22"/>
          <p:cNvSpPr txBox="1"/>
          <p:nvPr/>
        </p:nvSpPr>
        <p:spPr>
          <a:xfrm>
            <a:off x="2194560" y="1965960"/>
            <a:ext cx="1417320" cy="320040"/>
          </a:xfrm>
          <a:prstGeom prst="rect">
            <a:avLst/>
          </a:prstGeom>
          <a:noFill/>
        </p:spPr>
        <p:txBody>
          <a:bodyPr wrap="square" anchor="t" lIns="45720" rIns="45720">
            <a:spAutoFit/>
          </a:bodyPr>
          <a:lstStyle/>
          <a:p>
            <a:pPr algn="ctr">
              <a:spcAft>
                <a:spcPts val="0"/>
              </a:spcAft>
            </a:pPr>
            <a:r>
              <a:rPr sz="1400" b="1" i="0">
                <a:solidFill>
                  <a:srgbClr val="1A1A1A"/>
                </a:solidFill>
                <a:latin typeface="Times New Roman"/>
              </a:rPr>
              <a:t>10:09</a:t>
            </a:r>
          </a:p>
        </p:txBody>
      </p:sp>
      <p:sp>
        <p:nvSpPr>
          <p:cNvPr id="24" name="TextBox 23"/>
          <p:cNvSpPr txBox="1"/>
          <p:nvPr/>
        </p:nvSpPr>
        <p:spPr>
          <a:xfrm>
            <a:off x="2194560" y="2286000"/>
            <a:ext cx="1417320" cy="548640"/>
          </a:xfrm>
          <a:prstGeom prst="rect">
            <a:avLst/>
          </a:prstGeom>
          <a:noFill/>
        </p:spPr>
        <p:txBody>
          <a:bodyPr wrap="square" anchor="t" lIns="45720" rIns="45720">
            <a:spAutoFit/>
          </a:bodyPr>
          <a:lstStyle/>
          <a:p>
            <a:pPr algn="ctr">
              <a:spcAft>
                <a:spcPts val="0"/>
              </a:spcAft>
            </a:pPr>
            <a:r>
              <a:rPr sz="1300" b="1" i="0">
                <a:solidFill>
                  <a:srgbClr val="55555F"/>
                </a:solidFill>
                <a:latin typeface="Times New Roman"/>
              </a:rPr>
              <a:t>One long run</a:t>
            </a:r>
          </a:p>
        </p:txBody>
      </p:sp>
      <p:sp>
        <p:nvSpPr>
          <p:cNvPr id="25" name="TextBox 24"/>
          <p:cNvSpPr txBox="1"/>
          <p:nvPr/>
        </p:nvSpPr>
        <p:spPr>
          <a:xfrm>
            <a:off x="2240280" y="2880360"/>
            <a:ext cx="1325880" cy="2103120"/>
          </a:xfrm>
          <a:prstGeom prst="rect">
            <a:avLst/>
          </a:prstGeom>
          <a:noFill/>
        </p:spPr>
        <p:txBody>
          <a:bodyPr wrap="square" anchor="t" lIns="45720" rIns="45720">
            <a:spAutoFit/>
          </a:bodyPr>
          <a:lstStyle/>
          <a:p>
            <a:pPr algn="l">
              <a:spcAft>
                <a:spcPts val="500"/>
              </a:spcAft>
            </a:pPr>
            <a:r>
              <a:rPr sz="1300" b="1" i="0">
                <a:solidFill>
                  <a:srgbClr val="55555F"/>
                </a:solidFill>
                <a:latin typeface="Times New Roman"/>
              </a:rPr>
              <a:t>1</a:t>
            </a:r>
            <a:r>
              <a:rPr sz="1300" b="0" i="0">
                <a:solidFill>
                  <a:srgbClr val="55555F"/>
                </a:solidFill>
                <a:latin typeface="Times New Roman"/>
              </a:rPr>
              <a:t> runs</a:t>
            </a:r>
          </a:p>
          <a:p>
            <a:pPr algn="l">
              <a:spcAft>
                <a:spcPts val="500"/>
              </a:spcAft>
            </a:pPr>
            <a:r>
              <a:rPr sz="1300" b="1" i="0">
                <a:solidFill>
                  <a:srgbClr val="55555F"/>
                </a:solidFill>
                <a:latin typeface="Times New Roman"/>
              </a:rPr>
              <a:t>0</a:t>
            </a:r>
            <a:r>
              <a:rPr sz="1300" b="0" i="0">
                <a:solidFill>
                  <a:srgbClr val="55555F"/>
                </a:solidFill>
                <a:latin typeface="Times New Roman"/>
              </a:rPr>
              <a:t> back home</a:t>
            </a:r>
          </a:p>
          <a:p>
            <a:pPr algn="l">
              <a:spcAft>
                <a:spcPts val="500"/>
              </a:spcAft>
            </a:pPr>
            <a:r>
              <a:rPr sz="1300" b="1" i="0">
                <a:solidFill>
                  <a:srgbClr val="55555F"/>
                </a:solidFill>
                <a:latin typeface="Times New Roman"/>
              </a:rPr>
              <a:t>2 / 16</a:t>
            </a:r>
            <a:r>
              <a:rPr sz="1300" b="0" i="0">
                <a:solidFill>
                  <a:srgbClr val="55555F"/>
                </a:solidFill>
                <a:latin typeface="Times New Roman"/>
              </a:rPr>
              <a:t> goals failed</a:t>
            </a:r>
          </a:p>
          <a:p>
            <a:pPr algn="l">
              <a:spcAft>
                <a:spcPts val="500"/>
              </a:spcAft>
            </a:pPr>
            <a:r>
              <a:rPr sz="1300" b="1" i="0">
                <a:solidFill>
                  <a:srgbClr val="55555F"/>
                </a:solidFill>
                <a:latin typeface="Times New Roman"/>
              </a:rPr>
              <a:t>59 m</a:t>
            </a:r>
            <a:r>
              <a:rPr sz="1300" b="0" i="0">
                <a:solidFill>
                  <a:srgbClr val="55555F"/>
                </a:solidFill>
                <a:latin typeface="Times New Roman"/>
              </a:rPr>
              <a:t> driven</a:t>
            </a:r>
          </a:p>
        </p:txBody>
      </p:sp>
      <p:sp>
        <p:nvSpPr>
          <p:cNvPr id="26" name="Rounded Rectangle 25"/>
          <p:cNvSpPr/>
          <p:nvPr/>
        </p:nvSpPr>
        <p:spPr>
          <a:xfrm>
            <a:off x="3794760" y="1234440"/>
            <a:ext cx="1508760" cy="38404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297680" y="1371600"/>
            <a:ext cx="502920" cy="502920"/>
          </a:xfrm>
          <a:prstGeom prst="ellipse">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C</a:t>
            </a:r>
          </a:p>
        </p:txBody>
      </p:sp>
      <p:sp>
        <p:nvSpPr>
          <p:cNvPr id="28" name="TextBox 27"/>
          <p:cNvSpPr txBox="1"/>
          <p:nvPr/>
        </p:nvSpPr>
        <p:spPr>
          <a:xfrm>
            <a:off x="3840480" y="1965960"/>
            <a:ext cx="1417320" cy="320040"/>
          </a:xfrm>
          <a:prstGeom prst="rect">
            <a:avLst/>
          </a:prstGeom>
          <a:noFill/>
        </p:spPr>
        <p:txBody>
          <a:bodyPr wrap="square" anchor="t" lIns="45720" rIns="45720">
            <a:spAutoFit/>
          </a:bodyPr>
          <a:lstStyle/>
          <a:p>
            <a:pPr algn="ctr">
              <a:spcAft>
                <a:spcPts val="0"/>
              </a:spcAft>
            </a:pPr>
            <a:r>
              <a:rPr sz="1400" b="1" i="0">
                <a:solidFill>
                  <a:srgbClr val="1A1A1A"/>
                </a:solidFill>
                <a:latin typeface="Times New Roman"/>
              </a:rPr>
              <a:t>10:53</a:t>
            </a:r>
          </a:p>
        </p:txBody>
      </p:sp>
      <p:sp>
        <p:nvSpPr>
          <p:cNvPr id="29" name="TextBox 28"/>
          <p:cNvSpPr txBox="1"/>
          <p:nvPr/>
        </p:nvSpPr>
        <p:spPr>
          <a:xfrm>
            <a:off x="3840480" y="2286000"/>
            <a:ext cx="1417320" cy="548640"/>
          </a:xfrm>
          <a:prstGeom prst="rect">
            <a:avLst/>
          </a:prstGeom>
          <a:noFill/>
        </p:spPr>
        <p:txBody>
          <a:bodyPr wrap="square" anchor="t" lIns="45720" rIns="45720">
            <a:spAutoFit/>
          </a:bodyPr>
          <a:lstStyle/>
          <a:p>
            <a:pPr algn="ctr">
              <a:spcAft>
                <a:spcPts val="0"/>
              </a:spcAft>
            </a:pPr>
            <a:r>
              <a:rPr sz="1300" b="1" i="0">
                <a:solidFill>
                  <a:srgbClr val="E07B00"/>
                </a:solidFill>
                <a:latin typeface="Times New Roman"/>
              </a:rPr>
              <a:t>Battery low</a:t>
            </a:r>
          </a:p>
        </p:txBody>
      </p:sp>
      <p:sp>
        <p:nvSpPr>
          <p:cNvPr id="30" name="TextBox 29"/>
          <p:cNvSpPr txBox="1"/>
          <p:nvPr/>
        </p:nvSpPr>
        <p:spPr>
          <a:xfrm>
            <a:off x="3886200" y="2880360"/>
            <a:ext cx="1325880" cy="2103120"/>
          </a:xfrm>
          <a:prstGeom prst="rect">
            <a:avLst/>
          </a:prstGeom>
          <a:noFill/>
        </p:spPr>
        <p:txBody>
          <a:bodyPr wrap="square" anchor="t" lIns="45720" rIns="45720">
            <a:spAutoFit/>
          </a:bodyPr>
          <a:lstStyle/>
          <a:p>
            <a:pPr algn="l">
              <a:spcAft>
                <a:spcPts val="500"/>
              </a:spcAft>
            </a:pPr>
            <a:r>
              <a:rPr sz="1300" b="1" i="0">
                <a:solidFill>
                  <a:srgbClr val="55555F"/>
                </a:solidFill>
                <a:latin typeface="Times New Roman"/>
              </a:rPr>
              <a:t>4</a:t>
            </a:r>
            <a:r>
              <a:rPr sz="1300" b="0" i="0">
                <a:solidFill>
                  <a:srgbClr val="55555F"/>
                </a:solidFill>
                <a:latin typeface="Times New Roman"/>
              </a:rPr>
              <a:t> runs</a:t>
            </a:r>
          </a:p>
          <a:p>
            <a:pPr algn="l">
              <a:spcAft>
                <a:spcPts val="500"/>
              </a:spcAft>
            </a:pPr>
            <a:r>
              <a:rPr sz="1300" b="1" i="0">
                <a:solidFill>
                  <a:srgbClr val="55555F"/>
                </a:solidFill>
                <a:latin typeface="Times New Roman"/>
              </a:rPr>
              <a:t>0</a:t>
            </a:r>
            <a:r>
              <a:rPr sz="1300" b="0" i="0">
                <a:solidFill>
                  <a:srgbClr val="55555F"/>
                </a:solidFill>
                <a:latin typeface="Times New Roman"/>
              </a:rPr>
              <a:t> back home</a:t>
            </a:r>
          </a:p>
          <a:p>
            <a:pPr algn="l">
              <a:spcAft>
                <a:spcPts val="500"/>
              </a:spcAft>
            </a:pPr>
            <a:r>
              <a:rPr sz="1300" b="1" i="0">
                <a:solidFill>
                  <a:srgbClr val="55555F"/>
                </a:solidFill>
                <a:latin typeface="Times New Roman"/>
              </a:rPr>
              <a:t>0 / 5</a:t>
            </a:r>
            <a:r>
              <a:rPr sz="1300" b="0" i="0">
                <a:solidFill>
                  <a:srgbClr val="55555F"/>
                </a:solidFill>
                <a:latin typeface="Times New Roman"/>
              </a:rPr>
              <a:t> goals failed</a:t>
            </a:r>
          </a:p>
          <a:p>
            <a:pPr algn="l">
              <a:spcAft>
                <a:spcPts val="500"/>
              </a:spcAft>
            </a:pPr>
            <a:r>
              <a:rPr sz="1300" b="1" i="0">
                <a:solidFill>
                  <a:srgbClr val="55555F"/>
                </a:solidFill>
                <a:latin typeface="Times New Roman"/>
              </a:rPr>
              <a:t>0 m</a:t>
            </a:r>
            <a:r>
              <a:rPr sz="1300" b="0" i="0">
                <a:solidFill>
                  <a:srgbClr val="55555F"/>
                </a:solidFill>
                <a:latin typeface="Times New Roman"/>
              </a:rPr>
              <a:t> driven</a:t>
            </a:r>
          </a:p>
        </p:txBody>
      </p:sp>
      <p:sp>
        <p:nvSpPr>
          <p:cNvPr id="31" name="Rounded Rectangle 30"/>
          <p:cNvSpPr/>
          <p:nvPr/>
        </p:nvSpPr>
        <p:spPr>
          <a:xfrm>
            <a:off x="5440680" y="1234440"/>
            <a:ext cx="1508760" cy="38404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5943600" y="1371600"/>
            <a:ext cx="502920" cy="50292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D</a:t>
            </a:r>
          </a:p>
        </p:txBody>
      </p:sp>
      <p:sp>
        <p:nvSpPr>
          <p:cNvPr id="33" name="TextBox 32"/>
          <p:cNvSpPr txBox="1"/>
          <p:nvPr/>
        </p:nvSpPr>
        <p:spPr>
          <a:xfrm>
            <a:off x="5486400" y="1965960"/>
            <a:ext cx="1417320" cy="320040"/>
          </a:xfrm>
          <a:prstGeom prst="rect">
            <a:avLst/>
          </a:prstGeom>
          <a:noFill/>
        </p:spPr>
        <p:txBody>
          <a:bodyPr wrap="square" anchor="t" lIns="45720" rIns="45720">
            <a:spAutoFit/>
          </a:bodyPr>
          <a:lstStyle/>
          <a:p>
            <a:pPr algn="ctr">
              <a:spcAft>
                <a:spcPts val="0"/>
              </a:spcAft>
            </a:pPr>
            <a:r>
              <a:rPr sz="1400" b="1" i="0">
                <a:solidFill>
                  <a:srgbClr val="1A1A1A"/>
                </a:solidFill>
                <a:latin typeface="Times New Roman"/>
              </a:rPr>
              <a:t>11:49</a:t>
            </a:r>
          </a:p>
        </p:txBody>
      </p:sp>
      <p:sp>
        <p:nvSpPr>
          <p:cNvPr id="34" name="TextBox 33"/>
          <p:cNvSpPr txBox="1"/>
          <p:nvPr/>
        </p:nvSpPr>
        <p:spPr>
          <a:xfrm>
            <a:off x="5486400" y="2286000"/>
            <a:ext cx="1417320" cy="548640"/>
          </a:xfrm>
          <a:prstGeom prst="rect">
            <a:avLst/>
          </a:prstGeom>
          <a:noFill/>
        </p:spPr>
        <p:txBody>
          <a:bodyPr wrap="square" anchor="t" lIns="45720" rIns="45720">
            <a:spAutoFit/>
          </a:bodyPr>
          <a:lstStyle/>
          <a:p>
            <a:pPr algn="ctr">
              <a:spcAft>
                <a:spcPts val="0"/>
              </a:spcAft>
            </a:pPr>
            <a:r>
              <a:rPr sz="1300" b="1" i="0">
                <a:solidFill>
                  <a:srgbClr val="0000CC"/>
                </a:solidFill>
                <a:latin typeface="Times New Roman"/>
              </a:rPr>
              <a:t>Small enclosure</a:t>
            </a:r>
          </a:p>
        </p:txBody>
      </p:sp>
      <p:sp>
        <p:nvSpPr>
          <p:cNvPr id="35" name="TextBox 34"/>
          <p:cNvSpPr txBox="1"/>
          <p:nvPr/>
        </p:nvSpPr>
        <p:spPr>
          <a:xfrm>
            <a:off x="5532120" y="2880360"/>
            <a:ext cx="1325880" cy="2103120"/>
          </a:xfrm>
          <a:prstGeom prst="rect">
            <a:avLst/>
          </a:prstGeom>
          <a:noFill/>
        </p:spPr>
        <p:txBody>
          <a:bodyPr wrap="square" anchor="t" lIns="45720" rIns="45720">
            <a:spAutoFit/>
          </a:bodyPr>
          <a:lstStyle/>
          <a:p>
            <a:pPr algn="l">
              <a:spcAft>
                <a:spcPts val="500"/>
              </a:spcAft>
            </a:pPr>
            <a:r>
              <a:rPr sz="1300" b="1" i="0">
                <a:solidFill>
                  <a:srgbClr val="55555F"/>
                </a:solidFill>
                <a:latin typeface="Times New Roman"/>
              </a:rPr>
              <a:t>5</a:t>
            </a:r>
            <a:r>
              <a:rPr sz="1300" b="0" i="0">
                <a:solidFill>
                  <a:srgbClr val="55555F"/>
                </a:solidFill>
                <a:latin typeface="Times New Roman"/>
              </a:rPr>
              <a:t> runs</a:t>
            </a:r>
          </a:p>
          <a:p>
            <a:pPr algn="l">
              <a:spcAft>
                <a:spcPts val="500"/>
              </a:spcAft>
            </a:pPr>
            <a:r>
              <a:rPr sz="1300" b="1" i="0">
                <a:solidFill>
                  <a:srgbClr val="55555F"/>
                </a:solidFill>
                <a:latin typeface="Times New Roman"/>
              </a:rPr>
              <a:t>4</a:t>
            </a:r>
            <a:r>
              <a:rPr sz="1300" b="0" i="0">
                <a:solidFill>
                  <a:srgbClr val="55555F"/>
                </a:solidFill>
                <a:latin typeface="Times New Roman"/>
              </a:rPr>
              <a:t> back home</a:t>
            </a:r>
          </a:p>
          <a:p>
            <a:pPr algn="l">
              <a:spcAft>
                <a:spcPts val="500"/>
              </a:spcAft>
            </a:pPr>
            <a:r>
              <a:rPr sz="1300" b="1" i="0">
                <a:solidFill>
                  <a:srgbClr val="55555F"/>
                </a:solidFill>
                <a:latin typeface="Times New Roman"/>
              </a:rPr>
              <a:t>10 / 34</a:t>
            </a:r>
            <a:r>
              <a:rPr sz="1300" b="0" i="0">
                <a:solidFill>
                  <a:srgbClr val="55555F"/>
                </a:solidFill>
                <a:latin typeface="Times New Roman"/>
              </a:rPr>
              <a:t> goals failed</a:t>
            </a:r>
          </a:p>
          <a:p>
            <a:pPr algn="l">
              <a:spcAft>
                <a:spcPts val="500"/>
              </a:spcAft>
            </a:pPr>
            <a:r>
              <a:rPr sz="1300" b="1" i="0">
                <a:solidFill>
                  <a:srgbClr val="55555F"/>
                </a:solidFill>
                <a:latin typeface="Times New Roman"/>
              </a:rPr>
              <a:t>29 m</a:t>
            </a:r>
            <a:r>
              <a:rPr sz="1300" b="0" i="0">
                <a:solidFill>
                  <a:srgbClr val="55555F"/>
                </a:solidFill>
                <a:latin typeface="Times New Roman"/>
              </a:rPr>
              <a:t> driven</a:t>
            </a:r>
          </a:p>
        </p:txBody>
      </p:sp>
      <p:sp>
        <p:nvSpPr>
          <p:cNvPr id="36" name="Rounded Rectangle 35"/>
          <p:cNvSpPr/>
          <p:nvPr/>
        </p:nvSpPr>
        <p:spPr>
          <a:xfrm>
            <a:off x="7086600" y="1234440"/>
            <a:ext cx="1508760" cy="38404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7589520" y="1371600"/>
            <a:ext cx="502920" cy="5029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Times New Roman"/>
              </a:rPr>
              <a:t>E</a:t>
            </a:r>
          </a:p>
        </p:txBody>
      </p:sp>
      <p:sp>
        <p:nvSpPr>
          <p:cNvPr id="38" name="TextBox 37"/>
          <p:cNvSpPr txBox="1"/>
          <p:nvPr/>
        </p:nvSpPr>
        <p:spPr>
          <a:xfrm>
            <a:off x="7132320" y="1965960"/>
            <a:ext cx="1417320" cy="320040"/>
          </a:xfrm>
          <a:prstGeom prst="rect">
            <a:avLst/>
          </a:prstGeom>
          <a:noFill/>
        </p:spPr>
        <p:txBody>
          <a:bodyPr wrap="square" anchor="t" lIns="45720" rIns="45720">
            <a:spAutoFit/>
          </a:bodyPr>
          <a:lstStyle/>
          <a:p>
            <a:pPr algn="ctr">
              <a:spcAft>
                <a:spcPts val="0"/>
              </a:spcAft>
            </a:pPr>
            <a:r>
              <a:rPr sz="1400" b="1" i="0">
                <a:solidFill>
                  <a:srgbClr val="1A1A1A"/>
                </a:solidFill>
                <a:latin typeface="Times New Roman"/>
              </a:rPr>
              <a:t>12:38</a:t>
            </a:r>
          </a:p>
        </p:txBody>
      </p:sp>
      <p:sp>
        <p:nvSpPr>
          <p:cNvPr id="39" name="TextBox 38"/>
          <p:cNvSpPr txBox="1"/>
          <p:nvPr/>
        </p:nvSpPr>
        <p:spPr>
          <a:xfrm>
            <a:off x="7132320" y="2286000"/>
            <a:ext cx="1417320" cy="548640"/>
          </a:xfrm>
          <a:prstGeom prst="rect">
            <a:avLst/>
          </a:prstGeom>
          <a:noFill/>
        </p:spPr>
        <p:txBody>
          <a:bodyPr wrap="square" anchor="t" lIns="45720" rIns="45720">
            <a:spAutoFit/>
          </a:bodyPr>
          <a:lstStyle/>
          <a:p>
            <a:pPr algn="ctr">
              <a:spcAft>
                <a:spcPts val="0"/>
              </a:spcAft>
            </a:pPr>
            <a:r>
              <a:rPr sz="1300" b="1" i="0">
                <a:solidFill>
                  <a:srgbClr val="2E7D32"/>
                </a:solidFill>
                <a:latin typeface="Times New Roman"/>
              </a:rPr>
              <a:t>Enclosure, repeat</a:t>
            </a:r>
          </a:p>
        </p:txBody>
      </p:sp>
      <p:sp>
        <p:nvSpPr>
          <p:cNvPr id="40" name="TextBox 39"/>
          <p:cNvSpPr txBox="1"/>
          <p:nvPr/>
        </p:nvSpPr>
        <p:spPr>
          <a:xfrm>
            <a:off x="7178040" y="2880360"/>
            <a:ext cx="1325880" cy="2103120"/>
          </a:xfrm>
          <a:prstGeom prst="rect">
            <a:avLst/>
          </a:prstGeom>
          <a:noFill/>
        </p:spPr>
        <p:txBody>
          <a:bodyPr wrap="square" anchor="t" lIns="45720" rIns="45720">
            <a:spAutoFit/>
          </a:bodyPr>
          <a:lstStyle/>
          <a:p>
            <a:pPr algn="l">
              <a:spcAft>
                <a:spcPts val="500"/>
              </a:spcAft>
            </a:pPr>
            <a:r>
              <a:rPr sz="1300" b="1" i="0">
                <a:solidFill>
                  <a:srgbClr val="55555F"/>
                </a:solidFill>
                <a:latin typeface="Times New Roman"/>
              </a:rPr>
              <a:t>4</a:t>
            </a:r>
            <a:r>
              <a:rPr sz="1300" b="0" i="0">
                <a:solidFill>
                  <a:srgbClr val="55555F"/>
                </a:solidFill>
                <a:latin typeface="Times New Roman"/>
              </a:rPr>
              <a:t> runs</a:t>
            </a:r>
          </a:p>
          <a:p>
            <a:pPr algn="l">
              <a:spcAft>
                <a:spcPts val="500"/>
              </a:spcAft>
            </a:pPr>
            <a:r>
              <a:rPr sz="1300" b="1" i="0">
                <a:solidFill>
                  <a:srgbClr val="55555F"/>
                </a:solidFill>
                <a:latin typeface="Times New Roman"/>
              </a:rPr>
              <a:t>3</a:t>
            </a:r>
            <a:r>
              <a:rPr sz="1300" b="0" i="0">
                <a:solidFill>
                  <a:srgbClr val="55555F"/>
                </a:solidFill>
                <a:latin typeface="Times New Roman"/>
              </a:rPr>
              <a:t> back home</a:t>
            </a:r>
          </a:p>
          <a:p>
            <a:pPr algn="l">
              <a:spcAft>
                <a:spcPts val="500"/>
              </a:spcAft>
            </a:pPr>
            <a:r>
              <a:rPr sz="1300" b="1" i="0">
                <a:solidFill>
                  <a:srgbClr val="55555F"/>
                </a:solidFill>
                <a:latin typeface="Times New Roman"/>
              </a:rPr>
              <a:t>0 / 31</a:t>
            </a:r>
            <a:r>
              <a:rPr sz="1300" b="0" i="0">
                <a:solidFill>
                  <a:srgbClr val="55555F"/>
                </a:solidFill>
                <a:latin typeface="Times New Roman"/>
              </a:rPr>
              <a:t> goals failed</a:t>
            </a:r>
          </a:p>
          <a:p>
            <a:pPr algn="l">
              <a:spcAft>
                <a:spcPts val="500"/>
              </a:spcAft>
            </a:pPr>
            <a:r>
              <a:rPr sz="1300" b="1" i="0">
                <a:solidFill>
                  <a:srgbClr val="55555F"/>
                </a:solidFill>
                <a:latin typeface="Times New Roman"/>
              </a:rPr>
              <a:t>39 m</a:t>
            </a:r>
            <a:r>
              <a:rPr sz="1300" b="0" i="0">
                <a:solidFill>
                  <a:srgbClr val="55555F"/>
                </a:solidFill>
                <a:latin typeface="Times New Roman"/>
              </a:rPr>
              <a:t> driven</a:t>
            </a:r>
          </a:p>
        </p:txBody>
      </p:sp>
      <p:sp>
        <p:nvSpPr>
          <p:cNvPr id="41" name="Rounded Rectangle 4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Failures fell from 82 % (A) to 29 % (D) to 0 % (E) as the area became smaller and closed.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Every Run</a:t>
            </a:r>
          </a:p>
          <a:p>
            <a:pPr algn="just"/>
            <a:r>
              <a:rPr lang="en-US" sz="2500" dirty="0">
                <a:solidFill>
                  <a:srgbClr val="FFFFFF"/>
                </a:solidFill>
                <a:latin typeface="Times" panose="02020603050405020304" pitchFamily="18" charset="0"/>
                <a:cs typeface="Times" panose="02020603050405020304" pitchFamily="18" charset="0"/>
              </a:rPr>
              <a:t>Duration, distance and mapped area, coloured by outcome</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5</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runs_overview.png"/>
          <p:cNvPicPr>
            <a:picLocks noChangeAspect="1"/>
          </p:cNvPicPr>
          <p:nvPr/>
        </p:nvPicPr>
        <p:blipFill>
          <a:blip r:embed="rId2"/>
          <a:stretch>
            <a:fillRect/>
          </a:stretch>
        </p:blipFill>
        <p:spPr>
          <a:xfrm>
            <a:off x="587432" y="1097280"/>
            <a:ext cx="5043054" cy="4160520"/>
          </a:xfrm>
          <a:prstGeom prst="rect">
            <a:avLst/>
          </a:prstGeom>
        </p:spPr>
      </p:pic>
      <p:sp>
        <p:nvSpPr>
          <p:cNvPr id="17" name="Rounded Rectangle 16"/>
          <p:cNvSpPr/>
          <p:nvPr/>
        </p:nvSpPr>
        <p:spPr>
          <a:xfrm>
            <a:off x="5989320" y="1234440"/>
            <a:ext cx="2651760" cy="118872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080760" y="1280160"/>
            <a:ext cx="2468880" cy="365760"/>
          </a:xfrm>
          <a:prstGeom prst="rect">
            <a:avLst/>
          </a:prstGeom>
          <a:noFill/>
        </p:spPr>
        <p:txBody>
          <a:bodyPr wrap="square" anchor="t" lIns="45720" rIns="45720">
            <a:spAutoFit/>
          </a:bodyPr>
          <a:lstStyle/>
          <a:p>
            <a:pPr algn="l">
              <a:spcAft>
                <a:spcPts val="0"/>
              </a:spcAft>
            </a:pPr>
            <a:r>
              <a:rPr sz="1500" b="1" i="0">
                <a:solidFill>
                  <a:srgbClr val="0000CC"/>
                </a:solidFill>
                <a:latin typeface="Times New Roman"/>
              </a:rPr>
              <a:t>Longest</a:t>
            </a:r>
          </a:p>
        </p:txBody>
      </p:sp>
      <p:sp>
        <p:nvSpPr>
          <p:cNvPr id="19" name="TextBox 18"/>
          <p:cNvSpPr txBox="1"/>
          <p:nvPr/>
        </p:nvSpPr>
        <p:spPr>
          <a:xfrm>
            <a:off x="6080760" y="1645920"/>
            <a:ext cx="2468880" cy="731520"/>
          </a:xfrm>
          <a:prstGeom prst="rect">
            <a:avLst/>
          </a:prstGeom>
          <a:noFill/>
        </p:spPr>
        <p:txBody>
          <a:bodyPr wrap="square" anchor="t" lIns="45720" rIns="45720">
            <a:spAutoFit/>
          </a:bodyPr>
          <a:lstStyle/>
          <a:p>
            <a:pPr algn="l">
              <a:spcAft>
                <a:spcPts val="0"/>
              </a:spcAft>
            </a:pPr>
            <a:r>
              <a:rPr sz="1300" b="0" i="0">
                <a:solidFill>
                  <a:srgbClr val="1A1A1A"/>
                </a:solidFill>
                <a:latin typeface="Times New Roman"/>
              </a:rPr>
              <a:t>R05: 7.7 min, 58.6 m, 136 m²</a:t>
            </a:r>
          </a:p>
        </p:txBody>
      </p:sp>
      <p:sp>
        <p:nvSpPr>
          <p:cNvPr id="20" name="Rounded Rectangle 19"/>
          <p:cNvSpPr/>
          <p:nvPr/>
        </p:nvSpPr>
        <p:spPr>
          <a:xfrm>
            <a:off x="5989320" y="2560320"/>
            <a:ext cx="2651760" cy="118872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80760" y="2606039"/>
            <a:ext cx="2468880" cy="365760"/>
          </a:xfrm>
          <a:prstGeom prst="rect">
            <a:avLst/>
          </a:prstGeom>
          <a:noFill/>
        </p:spPr>
        <p:txBody>
          <a:bodyPr wrap="square" anchor="t" lIns="45720" rIns="45720">
            <a:spAutoFit/>
          </a:bodyPr>
          <a:lstStyle/>
          <a:p>
            <a:pPr algn="l">
              <a:spcAft>
                <a:spcPts val="0"/>
              </a:spcAft>
            </a:pPr>
            <a:r>
              <a:rPr sz="1500" b="1" i="0">
                <a:solidFill>
                  <a:srgbClr val="0000CC"/>
                </a:solidFill>
                <a:latin typeface="Times New Roman"/>
              </a:rPr>
              <a:t>Completed</a:t>
            </a:r>
          </a:p>
        </p:txBody>
      </p:sp>
      <p:sp>
        <p:nvSpPr>
          <p:cNvPr id="22" name="TextBox 21"/>
          <p:cNvSpPr txBox="1"/>
          <p:nvPr/>
        </p:nvSpPr>
        <p:spPr>
          <a:xfrm>
            <a:off x="6080760" y="2971800"/>
            <a:ext cx="2468880" cy="731520"/>
          </a:xfrm>
          <a:prstGeom prst="rect">
            <a:avLst/>
          </a:prstGeom>
          <a:noFill/>
        </p:spPr>
        <p:txBody>
          <a:bodyPr wrap="square" anchor="t" lIns="45720" rIns="45720">
            <a:spAutoFit/>
          </a:bodyPr>
          <a:lstStyle/>
          <a:p>
            <a:pPr algn="l">
              <a:spcAft>
                <a:spcPts val="0"/>
              </a:spcAft>
            </a:pPr>
            <a:r>
              <a:rPr sz="1300" b="0" i="0">
                <a:solidFill>
                  <a:srgbClr val="1A1A1A"/>
                </a:solidFill>
                <a:latin typeface="Times New Roman"/>
              </a:rPr>
              <a:t>7 runs, 0.6–3.7 min</a:t>
            </a:r>
          </a:p>
        </p:txBody>
      </p:sp>
      <p:sp>
        <p:nvSpPr>
          <p:cNvPr id="23" name="Rounded Rectangle 22"/>
          <p:cNvSpPr/>
          <p:nvPr/>
        </p:nvSpPr>
        <p:spPr>
          <a:xfrm>
            <a:off x="5989320" y="3886200"/>
            <a:ext cx="2651760" cy="118872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080760" y="3931920"/>
            <a:ext cx="2468880" cy="365760"/>
          </a:xfrm>
          <a:prstGeom prst="rect">
            <a:avLst/>
          </a:prstGeom>
          <a:noFill/>
        </p:spPr>
        <p:txBody>
          <a:bodyPr wrap="square" anchor="t" lIns="45720" rIns="45720">
            <a:spAutoFit/>
          </a:bodyPr>
          <a:lstStyle/>
          <a:p>
            <a:pPr algn="l">
              <a:spcAft>
                <a:spcPts val="0"/>
              </a:spcAft>
            </a:pPr>
            <a:r>
              <a:rPr sz="1500" b="1" i="0">
                <a:solidFill>
                  <a:srgbClr val="0000CC"/>
                </a:solidFill>
                <a:latin typeface="Times New Roman"/>
              </a:rPr>
              <a:t>Cumulative</a:t>
            </a:r>
          </a:p>
        </p:txBody>
      </p:sp>
      <p:sp>
        <p:nvSpPr>
          <p:cNvPr id="25" name="TextBox 24"/>
          <p:cNvSpPr txBox="1"/>
          <p:nvPr/>
        </p:nvSpPr>
        <p:spPr>
          <a:xfrm>
            <a:off x="6080760" y="4297680"/>
            <a:ext cx="2468880" cy="731520"/>
          </a:xfrm>
          <a:prstGeom prst="rect">
            <a:avLst/>
          </a:prstGeom>
          <a:noFill/>
        </p:spPr>
        <p:txBody>
          <a:bodyPr wrap="square" anchor="t" lIns="45720" rIns="45720">
            <a:spAutoFit/>
          </a:bodyPr>
          <a:lstStyle/>
          <a:p>
            <a:pPr algn="l">
              <a:spcAft>
                <a:spcPts val="0"/>
              </a:spcAft>
            </a:pPr>
            <a:r>
              <a:rPr sz="1300" b="0" i="0">
                <a:solidFill>
                  <a:srgbClr val="55555F"/>
                </a:solidFill>
                <a:latin typeface="Times New Roman"/>
              </a:rPr>
              <a:t>A and C kept one SLAM map across runs, so their area adds up</a:t>
            </a:r>
          </a:p>
        </p:txBody>
      </p:sp>
      <p:sp>
        <p:nvSpPr>
          <p:cNvPr id="26" name="Rounded Rectangle 25"/>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Green = explored to the last frontier and drove home without help.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Session A: Large Open Area</a:t>
            </a:r>
          </a:p>
          <a:p>
            <a:pPr algn="just"/>
            <a:r>
              <a:rPr lang="en-US" sz="2500" dirty="0">
                <a:solidFill>
                  <a:srgbClr val="FFFFFF"/>
                </a:solidFill>
                <a:latin typeface="Times" panose="02020603050405020304" pitchFamily="18" charset="0"/>
                <a:cs typeface="Times" panose="02020603050405020304" pitchFamily="18" charset="0"/>
              </a:rPr>
              <a:t>Nav2 aborted 62 of 74 goals in R01 and R02</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6</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explore_2026-10-20_09-35-26.png"/>
          <p:cNvPicPr>
            <a:picLocks noChangeAspect="1"/>
          </p:cNvPicPr>
          <p:nvPr/>
        </p:nvPicPr>
        <p:blipFill>
          <a:blip r:embed="rId2"/>
          <a:stretch>
            <a:fillRect/>
          </a:stretch>
        </p:blipFill>
        <p:spPr>
          <a:xfrm>
            <a:off x="411480" y="1102735"/>
            <a:ext cx="4937760" cy="4149609"/>
          </a:xfrm>
          <a:prstGeom prst="rect">
            <a:avLst/>
          </a:prstGeom>
        </p:spPr>
      </p:pic>
      <p:sp>
        <p:nvSpPr>
          <p:cNvPr id="17" name="Rounded Rectangle 16"/>
          <p:cNvSpPr/>
          <p:nvPr/>
        </p:nvSpPr>
        <p:spPr>
          <a:xfrm>
            <a:off x="5486400" y="1234440"/>
            <a:ext cx="1508760" cy="118872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577840" y="1280160"/>
            <a:ext cx="132588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29 / 41</a:t>
            </a:r>
          </a:p>
        </p:txBody>
      </p:sp>
      <p:sp>
        <p:nvSpPr>
          <p:cNvPr id="19" name="TextBox 18"/>
          <p:cNvSpPr txBox="1"/>
          <p:nvPr/>
        </p:nvSpPr>
        <p:spPr>
          <a:xfrm>
            <a:off x="5577840" y="1847088"/>
            <a:ext cx="1325880" cy="54864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R01 goals failed / sent</a:t>
            </a:r>
          </a:p>
        </p:txBody>
      </p:sp>
      <p:sp>
        <p:nvSpPr>
          <p:cNvPr id="20" name="Rounded Rectangle 19"/>
          <p:cNvSpPr/>
          <p:nvPr/>
        </p:nvSpPr>
        <p:spPr>
          <a:xfrm>
            <a:off x="7132320" y="1234440"/>
            <a:ext cx="1508760" cy="118872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23759" y="1280160"/>
            <a:ext cx="132588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33 / 33</a:t>
            </a:r>
          </a:p>
        </p:txBody>
      </p:sp>
      <p:sp>
        <p:nvSpPr>
          <p:cNvPr id="22" name="TextBox 21"/>
          <p:cNvSpPr txBox="1"/>
          <p:nvPr/>
        </p:nvSpPr>
        <p:spPr>
          <a:xfrm>
            <a:off x="7223759" y="1847088"/>
            <a:ext cx="1325880" cy="54864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R02 goals failed / sent</a:t>
            </a:r>
          </a:p>
        </p:txBody>
      </p:sp>
      <p:sp>
        <p:nvSpPr>
          <p:cNvPr id="23" name="TextBox 22"/>
          <p:cNvSpPr txBox="1"/>
          <p:nvPr/>
        </p:nvSpPr>
        <p:spPr>
          <a:xfrm>
            <a:off x="5486400" y="2606040"/>
            <a:ext cx="3154680" cy="1280160"/>
          </a:xfrm>
          <a:prstGeom prst="rect">
            <a:avLst/>
          </a:prstGeom>
          <a:noFill/>
        </p:spPr>
        <p:txBody>
          <a:bodyPr wrap="square" anchor="t" lIns="45720" rIns="45720">
            <a:spAutoFit/>
          </a:bodyPr>
          <a:lstStyle/>
          <a:p>
            <a:pPr algn="l">
              <a:spcAft>
                <a:spcPts val="500"/>
              </a:spcAft>
            </a:pPr>
            <a:r>
              <a:rPr sz="1300" b="0" i="0">
                <a:solidFill>
                  <a:srgbClr val="1A1A1A"/>
                </a:solidFill>
                <a:latin typeface="Times New Roman"/>
              </a:rPr>
              <a:t>Failed goals (×) sit at the far edge of the map and behind walls</a:t>
            </a:r>
          </a:p>
          <a:p>
            <a:pPr algn="l">
              <a:spcAft>
                <a:spcPts val="500"/>
              </a:spcAft>
            </a:pPr>
            <a:r>
              <a:rPr sz="1300" b="0" i="0">
                <a:solidFill>
                  <a:srgbClr val="1A1A1A"/>
                </a:solidFill>
                <a:latin typeface="Times New Roman"/>
              </a:rPr>
              <a:t>Neither run could drive back to its start</a:t>
            </a:r>
          </a:p>
          <a:p>
            <a:pPr algn="l">
              <a:spcAft>
                <a:spcPts val="500"/>
              </a:spcAft>
            </a:pPr>
            <a:r>
              <a:rPr sz="1300" b="0" i="0">
                <a:solidFill>
                  <a:srgbClr val="1A1A1A"/>
                </a:solidFill>
                <a:latin typeface="Times New Roman"/>
              </a:rPr>
              <a:t>Frontier search 80–150 ms per goal here (20–70 ms in the enclosure)</a:t>
            </a:r>
          </a:p>
        </p:txBody>
      </p:sp>
      <p:sp>
        <p:nvSpPr>
          <p:cNvPr id="24" name="Rounded Rectangle 23"/>
          <p:cNvSpPr/>
          <p:nvPr/>
        </p:nvSpPr>
        <p:spPr>
          <a:xfrm>
            <a:off x="5486400" y="3977639"/>
            <a:ext cx="3154680" cy="123444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577840" y="3995928"/>
            <a:ext cx="2971800" cy="1197864"/>
          </a:xfrm>
          <a:prstGeom prst="rect">
            <a:avLst/>
          </a:prstGeom>
          <a:noFill/>
        </p:spPr>
        <p:txBody>
          <a:bodyPr wrap="square" anchor="ctr" lIns="45720" rIns="45720">
            <a:spAutoFit/>
          </a:bodyPr>
          <a:lstStyle/>
          <a:p>
            <a:pPr algn="l">
              <a:spcAft>
                <a:spcPts val="0"/>
              </a:spcAft>
            </a:pPr>
            <a:r>
              <a:rPr sz="1200" b="1" i="0">
                <a:solidFill>
                  <a:srgbClr val="CC0633"/>
                </a:solidFill>
                <a:latin typeface="Times New Roman"/>
              </a:rPr>
              <a:t>Open question: </a:t>
            </a:r>
            <a:r>
              <a:rPr sz="1200" b="0" i="0">
                <a:solidFill>
                  <a:srgbClr val="CC0633"/>
                </a:solidFill>
                <a:latin typeface="Times New Roman"/>
              </a:rPr>
              <a:t>why Nav2 aborts. Check the 0.45 m wall clearance in narrow passages and goals inside the inflated costmap.</a:t>
            </a:r>
          </a:p>
        </p:txBody>
      </p:sp>
      <p:sp>
        <p:nvSpPr>
          <p:cNvPr id="26" name="Rounded Rectangle 25"/>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The explorer kept choosing goals Nav2 could not plan to: 41 goals in 3 min in R01.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Session B: The Longest Run</a:t>
            </a:r>
          </a:p>
          <a:p>
            <a:pPr algn="just"/>
            <a:r>
              <a:rPr lang="en-US" sz="2500" dirty="0">
                <a:solidFill>
                  <a:srgbClr val="FFFFFF"/>
                </a:solidFill>
                <a:latin typeface="Times" panose="02020603050405020304" pitchFamily="18" charset="0"/>
                <a:cs typeface="Times" panose="02020603050405020304" pitchFamily="18" charset="0"/>
              </a:rPr>
              <a:t>R05, 10:09, saved as lab_2026-10-20_1008</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7</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lab_2026-10-20_1008.png"/>
          <p:cNvPicPr>
            <a:picLocks noChangeAspect="1"/>
          </p:cNvPicPr>
          <p:nvPr/>
        </p:nvPicPr>
        <p:blipFill>
          <a:blip r:embed="rId2"/>
          <a:stretch>
            <a:fillRect/>
          </a:stretch>
        </p:blipFill>
        <p:spPr>
          <a:xfrm>
            <a:off x="365760" y="1602353"/>
            <a:ext cx="5120640" cy="3150373"/>
          </a:xfrm>
          <a:prstGeom prst="rect">
            <a:avLst/>
          </a:prstGeom>
        </p:spPr>
      </p:pic>
      <p:sp>
        <p:nvSpPr>
          <p:cNvPr id="17" name="Rounded Rectangle 16"/>
          <p:cNvSpPr/>
          <p:nvPr/>
        </p:nvSpPr>
        <p:spPr>
          <a:xfrm>
            <a:off x="5623560" y="1234440"/>
            <a:ext cx="146304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15000" y="1280160"/>
            <a:ext cx="12801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7.7 min</a:t>
            </a:r>
          </a:p>
        </p:txBody>
      </p:sp>
      <p:sp>
        <p:nvSpPr>
          <p:cNvPr id="19" name="TextBox 18"/>
          <p:cNvSpPr txBox="1"/>
          <p:nvPr/>
        </p:nvSpPr>
        <p:spPr>
          <a:xfrm>
            <a:off x="5715000" y="1847088"/>
            <a:ext cx="128016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explored</a:t>
            </a:r>
          </a:p>
        </p:txBody>
      </p:sp>
      <p:sp>
        <p:nvSpPr>
          <p:cNvPr id="20" name="Rounded Rectangle 19"/>
          <p:cNvSpPr/>
          <p:nvPr/>
        </p:nvSpPr>
        <p:spPr>
          <a:xfrm>
            <a:off x="7178040" y="1234440"/>
            <a:ext cx="146304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1280160"/>
            <a:ext cx="12801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58.6 m</a:t>
            </a:r>
          </a:p>
        </p:txBody>
      </p:sp>
      <p:sp>
        <p:nvSpPr>
          <p:cNvPr id="22" name="TextBox 21"/>
          <p:cNvSpPr txBox="1"/>
          <p:nvPr/>
        </p:nvSpPr>
        <p:spPr>
          <a:xfrm>
            <a:off x="7269480" y="1847088"/>
            <a:ext cx="128016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driven</a:t>
            </a:r>
          </a:p>
        </p:txBody>
      </p:sp>
      <p:sp>
        <p:nvSpPr>
          <p:cNvPr id="23" name="Rounded Rectangle 22"/>
          <p:cNvSpPr/>
          <p:nvPr/>
        </p:nvSpPr>
        <p:spPr>
          <a:xfrm>
            <a:off x="5623560" y="2606040"/>
            <a:ext cx="146304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715000" y="2651760"/>
            <a:ext cx="12801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136 m²</a:t>
            </a:r>
          </a:p>
        </p:txBody>
      </p:sp>
      <p:sp>
        <p:nvSpPr>
          <p:cNvPr id="25" name="TextBox 24"/>
          <p:cNvSpPr txBox="1"/>
          <p:nvPr/>
        </p:nvSpPr>
        <p:spPr>
          <a:xfrm>
            <a:off x="5715000" y="3218688"/>
            <a:ext cx="128016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mapped</a:t>
            </a:r>
          </a:p>
        </p:txBody>
      </p:sp>
      <p:sp>
        <p:nvSpPr>
          <p:cNvPr id="26" name="Rounded Rectangle 25"/>
          <p:cNvSpPr/>
          <p:nvPr/>
        </p:nvSpPr>
        <p:spPr>
          <a:xfrm>
            <a:off x="7178040" y="2606040"/>
            <a:ext cx="1463040" cy="123444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269480" y="2651760"/>
            <a:ext cx="1280160" cy="548640"/>
          </a:xfrm>
          <a:prstGeom prst="rect">
            <a:avLst/>
          </a:prstGeom>
          <a:noFill/>
        </p:spPr>
        <p:txBody>
          <a:bodyPr wrap="square" anchor="t" lIns="45720" rIns="45720">
            <a:spAutoFit/>
          </a:bodyPr>
          <a:lstStyle/>
          <a:p>
            <a:pPr algn="l">
              <a:spcAft>
                <a:spcPts val="0"/>
              </a:spcAft>
            </a:pPr>
            <a:r>
              <a:rPr sz="2800" b="1" i="0">
                <a:solidFill>
                  <a:srgbClr val="CC0633"/>
                </a:solidFill>
                <a:latin typeface="Times New Roman"/>
              </a:rPr>
              <a:t>9 / 2</a:t>
            </a:r>
          </a:p>
        </p:txBody>
      </p:sp>
      <p:sp>
        <p:nvSpPr>
          <p:cNvPr id="28" name="TextBox 27"/>
          <p:cNvSpPr txBox="1"/>
          <p:nvPr/>
        </p:nvSpPr>
        <p:spPr>
          <a:xfrm>
            <a:off x="7269480" y="3218688"/>
            <a:ext cx="1280160" cy="594360"/>
          </a:xfrm>
          <a:prstGeom prst="rect">
            <a:avLst/>
          </a:prstGeom>
          <a:noFill/>
        </p:spPr>
        <p:txBody>
          <a:bodyPr wrap="square" anchor="t" lIns="45720" rIns="45720">
            <a:spAutoFit/>
          </a:bodyPr>
          <a:lstStyle/>
          <a:p>
            <a:pPr algn="l">
              <a:spcAft>
                <a:spcPts val="0"/>
              </a:spcAft>
            </a:pPr>
            <a:r>
              <a:rPr sz="1200" b="0" i="0">
                <a:solidFill>
                  <a:srgbClr val="1A1A1A"/>
                </a:solidFill>
                <a:latin typeface="Times New Roman"/>
              </a:rPr>
              <a:t>goals reached / failed</a:t>
            </a:r>
          </a:p>
        </p:txBody>
      </p:sp>
      <p:sp>
        <p:nvSpPr>
          <p:cNvPr id="29" name="TextBox 28"/>
          <p:cNvSpPr txBox="1"/>
          <p:nvPr/>
        </p:nvSpPr>
        <p:spPr>
          <a:xfrm>
            <a:off x="5623560" y="4023360"/>
            <a:ext cx="3017520" cy="1188720"/>
          </a:xfrm>
          <a:prstGeom prst="rect">
            <a:avLst/>
          </a:prstGeom>
          <a:noFill/>
        </p:spPr>
        <p:txBody>
          <a:bodyPr wrap="square" anchor="t" lIns="45720" rIns="45720">
            <a:spAutoFit/>
          </a:bodyPr>
          <a:lstStyle/>
          <a:p>
            <a:pPr algn="l">
              <a:spcAft>
                <a:spcPts val="0"/>
              </a:spcAft>
            </a:pPr>
            <a:r>
              <a:rPr sz="1300" b="0" i="0">
                <a:solidFill>
                  <a:srgbClr val="55555F"/>
                </a:solidFill>
                <a:latin typeface="Times New Roman"/>
              </a:rPr>
              <a:t>A corridor about 15 m long and the branch at its far end; stopped by the operator before it finished</a:t>
            </a:r>
          </a:p>
        </p:txBody>
      </p:sp>
      <p:sp>
        <p:nvSpPr>
          <p:cNvPr id="30" name="Rounded Rectangle 29"/>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In the same area as session A, one run reached 9 goals and drove 59 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Session C: The Battery Rule Fired at Once</a:t>
            </a:r>
          </a:p>
          <a:p>
            <a:pPr algn="just"/>
            <a:r>
              <a:rPr lang="en-US" sz="2500" dirty="0">
                <a:solidFill>
                  <a:srgbClr val="FFFFFF"/>
                </a:solidFill>
                <a:latin typeface="Times" panose="02020603050405020304" pitchFamily="18" charset="0"/>
                <a:cs typeface="Times" panose="02020603050405020304" pitchFamily="18" charset="0"/>
              </a:rPr>
              <a:t>Four runs at 10:53, each ended within 4 s</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8</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battery.png"/>
          <p:cNvPicPr>
            <a:picLocks noChangeAspect="1"/>
          </p:cNvPicPr>
          <p:nvPr/>
        </p:nvPicPr>
        <p:blipFill>
          <a:blip r:embed="rId2"/>
          <a:stretch>
            <a:fillRect/>
          </a:stretch>
        </p:blipFill>
        <p:spPr>
          <a:xfrm>
            <a:off x="411480" y="1211580"/>
            <a:ext cx="5120640" cy="2240279"/>
          </a:xfrm>
          <a:prstGeom prst="rect">
            <a:avLst/>
          </a:prstGeom>
        </p:spPr>
      </p:pic>
      <p:graphicFrame>
        <p:nvGraphicFramePr>
          <p:cNvPr id="17" name="Table 16"/>
          <p:cNvGraphicFramePr>
            <a:graphicFrameLocks noGrp="1"/>
          </p:cNvGraphicFramePr>
          <p:nvPr/>
        </p:nvGraphicFramePr>
        <p:xfrm>
          <a:off x="5715000" y="1234440"/>
          <a:ext cx="2926080" cy="1828800"/>
        </p:xfrm>
        <a:graphic>
          <a:graphicData uri="http://schemas.openxmlformats.org/drawingml/2006/table">
            <a:tbl>
              <a:tblPr firstRow="0" bandRow="0"/>
              <a:tblGrid>
                <a:gridCol w="822960"/>
                <a:gridCol w="1143000"/>
                <a:gridCol w="960120"/>
              </a:tblGrid>
              <a:tr h="365760">
                <a:tc>
                  <a:txBody>
                    <a:bodyPr wrap="square"/>
                    <a:lstStyle/>
                    <a:p>
                      <a:r>
                        <a:rPr sz="1200" b="1">
                          <a:solidFill>
                            <a:srgbClr val="FFFFFF"/>
                          </a:solidFill>
                          <a:latin typeface="Times New Roman"/>
                        </a:rPr>
                        <a:t>Run</a:t>
                      </a:r>
                    </a:p>
                  </a:txBody>
                  <a:tcPr marL="54864" marR="54864" marT="18288" marB="18288" anchor="ctr">
                    <a:solidFill>
                      <a:srgbClr val="0000CC"/>
                    </a:solidFill>
                  </a:tcPr>
                </a:tc>
                <a:tc>
                  <a:txBody>
                    <a:bodyPr wrap="square"/>
                    <a:lstStyle/>
                    <a:p>
                      <a:r>
                        <a:rPr sz="1200" b="1">
                          <a:solidFill>
                            <a:srgbClr val="FFFFFF"/>
                          </a:solidFill>
                          <a:latin typeface="Times New Roman"/>
                        </a:rPr>
                        <a:t>Battery</a:t>
                      </a:r>
                    </a:p>
                  </a:txBody>
                  <a:tcPr marL="54864" marR="54864" marT="18288" marB="18288" anchor="ctr">
                    <a:solidFill>
                      <a:srgbClr val="0000CC"/>
                    </a:solidFill>
                  </a:tcPr>
                </a:tc>
                <a:tc>
                  <a:txBody>
                    <a:bodyPr wrap="square"/>
                    <a:lstStyle/>
                    <a:p>
                      <a:r>
                        <a:rPr sz="1200" b="1">
                          <a:solidFill>
                            <a:srgbClr val="FFFFFF"/>
                          </a:solidFill>
                          <a:latin typeface="Times New Roman"/>
                        </a:rPr>
                        <a:t>Ran</a:t>
                      </a:r>
                    </a:p>
                  </a:txBody>
                  <a:tcPr marL="54864" marR="54864" marT="18288" marB="18288" anchor="ctr">
                    <a:solidFill>
                      <a:srgbClr val="0000CC"/>
                    </a:solidFill>
                  </a:tcPr>
                </a:tc>
              </a:tr>
              <a:tr h="365760">
                <a:tc>
                  <a:txBody>
                    <a:bodyPr wrap="square"/>
                    <a:lstStyle/>
                    <a:p>
                      <a:r>
                        <a:rPr sz="1200" b="0">
                          <a:solidFill>
                            <a:srgbClr val="1A1A1A"/>
                          </a:solidFill>
                          <a:latin typeface="Times New Roman"/>
                        </a:rPr>
                        <a:t>R06</a:t>
                      </a:r>
                    </a:p>
                  </a:txBody>
                  <a:tcPr marL="54864" marR="54864" marT="18288" marB="18288" anchor="ctr">
                    <a:solidFill>
                      <a:srgbClr val="ECECFA"/>
                    </a:solidFill>
                  </a:tcPr>
                </a:tc>
                <a:tc>
                  <a:txBody>
                    <a:bodyPr wrap="square"/>
                    <a:lstStyle/>
                    <a:p>
                      <a:r>
                        <a:rPr sz="1200" b="0">
                          <a:solidFill>
                            <a:srgbClr val="1A1A1A"/>
                          </a:solidFill>
                          <a:latin typeface="Times New Roman"/>
                        </a:rPr>
                        <a:t>7.06 V</a:t>
                      </a:r>
                    </a:p>
                  </a:txBody>
                  <a:tcPr marL="54864" marR="54864" marT="18288" marB="18288" anchor="ctr">
                    <a:solidFill>
                      <a:srgbClr val="ECECFA"/>
                    </a:solidFill>
                  </a:tcPr>
                </a:tc>
                <a:tc>
                  <a:txBody>
                    <a:bodyPr wrap="square"/>
                    <a:lstStyle/>
                    <a:p>
                      <a:r>
                        <a:rPr sz="1200" b="0">
                          <a:solidFill>
                            <a:srgbClr val="1A1A1A"/>
                          </a:solidFill>
                          <a:latin typeface="Times New Roman"/>
                        </a:rPr>
                        <a:t>4 s</a:t>
                      </a:r>
                    </a:p>
                  </a:txBody>
                  <a:tcPr marL="54864" marR="54864" marT="18288" marB="18288" anchor="ctr">
                    <a:solidFill>
                      <a:srgbClr val="ECECFA"/>
                    </a:solidFill>
                  </a:tcPr>
                </a:tc>
              </a:tr>
              <a:tr h="365760">
                <a:tc>
                  <a:txBody>
                    <a:bodyPr wrap="square"/>
                    <a:lstStyle/>
                    <a:p>
                      <a:r>
                        <a:rPr sz="1200" b="0">
                          <a:solidFill>
                            <a:srgbClr val="1A1A1A"/>
                          </a:solidFill>
                          <a:latin typeface="Times New Roman"/>
                        </a:rPr>
                        <a:t>R07</a:t>
                      </a:r>
                    </a:p>
                  </a:txBody>
                  <a:tcPr marL="54864" marR="54864" marT="18288" marB="18288" anchor="ctr">
                    <a:solidFill>
                      <a:srgbClr val="FFFFFF"/>
                    </a:solidFill>
                  </a:tcPr>
                </a:tc>
                <a:tc>
                  <a:txBody>
                    <a:bodyPr wrap="square"/>
                    <a:lstStyle/>
                    <a:p>
                      <a:r>
                        <a:rPr sz="1200" b="0">
                          <a:solidFill>
                            <a:srgbClr val="1A1A1A"/>
                          </a:solidFill>
                          <a:latin typeface="Times New Roman"/>
                        </a:rPr>
                        <a:t>7.04 V</a:t>
                      </a:r>
                    </a:p>
                  </a:txBody>
                  <a:tcPr marL="54864" marR="54864" marT="18288" marB="18288" anchor="ctr">
                    <a:solidFill>
                      <a:srgbClr val="FFFFFF"/>
                    </a:solidFill>
                  </a:tcPr>
                </a:tc>
                <a:tc>
                  <a:txBody>
                    <a:bodyPr wrap="square"/>
                    <a:lstStyle/>
                    <a:p>
                      <a:r>
                        <a:rPr sz="1200" b="0">
                          <a:solidFill>
                            <a:srgbClr val="1A1A1A"/>
                          </a:solidFill>
                          <a:latin typeface="Times New Roman"/>
                        </a:rPr>
                        <a:t>4 s</a:t>
                      </a:r>
                    </a:p>
                  </a:txBody>
                  <a:tcPr marL="54864" marR="54864" marT="18288" marB="18288" anchor="ctr">
                    <a:solidFill>
                      <a:srgbClr val="FFFFFF"/>
                    </a:solidFill>
                  </a:tcPr>
                </a:tc>
              </a:tr>
              <a:tr h="365760">
                <a:tc>
                  <a:txBody>
                    <a:bodyPr wrap="square"/>
                    <a:lstStyle/>
                    <a:p>
                      <a:r>
                        <a:rPr sz="1200" b="0">
                          <a:solidFill>
                            <a:srgbClr val="1A1A1A"/>
                          </a:solidFill>
                          <a:latin typeface="Times New Roman"/>
                        </a:rPr>
                        <a:t>R08</a:t>
                      </a:r>
                    </a:p>
                  </a:txBody>
                  <a:tcPr marL="54864" marR="54864" marT="18288" marB="18288" anchor="ctr">
                    <a:solidFill>
                      <a:srgbClr val="ECECFA"/>
                    </a:solidFill>
                  </a:tcPr>
                </a:tc>
                <a:tc>
                  <a:txBody>
                    <a:bodyPr wrap="square"/>
                    <a:lstStyle/>
                    <a:p>
                      <a:r>
                        <a:rPr sz="1200" b="0">
                          <a:solidFill>
                            <a:srgbClr val="1A1A1A"/>
                          </a:solidFill>
                          <a:latin typeface="Times New Roman"/>
                        </a:rPr>
                        <a:t>7.04 V</a:t>
                      </a:r>
                    </a:p>
                  </a:txBody>
                  <a:tcPr marL="54864" marR="54864" marT="18288" marB="18288" anchor="ctr">
                    <a:solidFill>
                      <a:srgbClr val="ECECFA"/>
                    </a:solidFill>
                  </a:tcPr>
                </a:tc>
                <a:tc>
                  <a:txBody>
                    <a:bodyPr wrap="square"/>
                    <a:lstStyle/>
                    <a:p>
                      <a:r>
                        <a:rPr sz="1200" b="0">
                          <a:solidFill>
                            <a:srgbClr val="1A1A1A"/>
                          </a:solidFill>
                          <a:latin typeface="Times New Roman"/>
                        </a:rPr>
                        <a:t>4 s</a:t>
                      </a:r>
                    </a:p>
                  </a:txBody>
                  <a:tcPr marL="54864" marR="54864" marT="18288" marB="18288" anchor="ctr">
                    <a:solidFill>
                      <a:srgbClr val="ECECFA"/>
                    </a:solidFill>
                  </a:tcPr>
                </a:tc>
              </a:tr>
              <a:tr h="365760">
                <a:tc>
                  <a:txBody>
                    <a:bodyPr wrap="square"/>
                    <a:lstStyle/>
                    <a:p>
                      <a:r>
                        <a:rPr sz="1200" b="0">
                          <a:solidFill>
                            <a:srgbClr val="1A1A1A"/>
                          </a:solidFill>
                          <a:latin typeface="Times New Roman"/>
                        </a:rPr>
                        <a:t>R09</a:t>
                      </a:r>
                    </a:p>
                  </a:txBody>
                  <a:tcPr marL="54864" marR="54864" marT="18288" marB="18288" anchor="ctr">
                    <a:solidFill>
                      <a:srgbClr val="FFFFFF"/>
                    </a:solidFill>
                  </a:tcPr>
                </a:tc>
                <a:tc>
                  <a:txBody>
                    <a:bodyPr wrap="square"/>
                    <a:lstStyle/>
                    <a:p>
                      <a:r>
                        <a:rPr sz="1200" b="0">
                          <a:solidFill>
                            <a:srgbClr val="1A1A1A"/>
                          </a:solidFill>
                          <a:latin typeface="Times New Roman"/>
                        </a:rPr>
                        <a:t>7.02 V</a:t>
                      </a:r>
                    </a:p>
                  </a:txBody>
                  <a:tcPr marL="54864" marR="54864" marT="18288" marB="18288" anchor="ctr">
                    <a:solidFill>
                      <a:srgbClr val="FFFFFF"/>
                    </a:solidFill>
                  </a:tcPr>
                </a:tc>
                <a:tc>
                  <a:txBody>
                    <a:bodyPr wrap="square"/>
                    <a:lstStyle/>
                    <a:p>
                      <a:r>
                        <a:rPr sz="1200" b="0">
                          <a:solidFill>
                            <a:srgbClr val="1A1A1A"/>
                          </a:solidFill>
                          <a:latin typeface="Times New Roman"/>
                        </a:rPr>
                        <a:t>4 s</a:t>
                      </a:r>
                    </a:p>
                  </a:txBody>
                  <a:tcPr marL="54864" marR="54864" marT="18288" marB="18288" anchor="ctr">
                    <a:solidFill>
                      <a:srgbClr val="FFFFFF"/>
                    </a:solidFill>
                  </a:tcPr>
                </a:tc>
              </a:tr>
            </a:tbl>
          </a:graphicData>
        </a:graphic>
      </p:graphicFrame>
      <p:sp>
        <p:nvSpPr>
          <p:cNvPr id="18" name="TextBox 17"/>
          <p:cNvSpPr txBox="1"/>
          <p:nvPr/>
        </p:nvSpPr>
        <p:spPr>
          <a:xfrm>
            <a:off x="502920" y="3703320"/>
            <a:ext cx="5029200" cy="1463040"/>
          </a:xfrm>
          <a:prstGeom prst="rect">
            <a:avLst/>
          </a:prstGeom>
          <a:noFill/>
        </p:spPr>
        <p:txBody>
          <a:bodyPr wrap="square" anchor="t" lIns="45720" rIns="45720">
            <a:spAutoFit/>
          </a:bodyPr>
          <a:lstStyle/>
          <a:p>
            <a:pPr algn="l">
              <a:spcAft>
                <a:spcPts val="500"/>
              </a:spcAft>
            </a:pPr>
            <a:r>
              <a:rPr sz="1300" b="0" i="0">
                <a:solidFill>
                  <a:srgbClr val="1A1A1A"/>
                </a:solidFill>
                <a:latin typeface="Times New Roman"/>
              </a:rPr>
              <a:t>Explorer limit: battery_min_v = 7.0 V</a:t>
            </a:r>
          </a:p>
          <a:p>
            <a:pPr algn="l">
              <a:spcAft>
                <a:spcPts val="500"/>
              </a:spcAft>
            </a:pPr>
            <a:r>
              <a:rPr sz="1300" b="0" i="0">
                <a:solidFill>
                  <a:srgbClr val="1A1A1A"/>
                </a:solidFill>
                <a:latin typeface="Times New Roman"/>
              </a:rPr>
              <a:t>Logged samples 7.02–7.06 V, but the check uses the instantaneous voltage, which dips when the motors start</a:t>
            </a:r>
          </a:p>
          <a:p>
            <a:pPr algn="l">
              <a:spcAft>
                <a:spcPts val="500"/>
              </a:spcAft>
            </a:pPr>
            <a:r>
              <a:rPr sz="1300" b="0" i="0">
                <a:solidFill>
                  <a:srgbClr val="1A1A1A"/>
                </a:solidFill>
                <a:latin typeface="Times New Roman"/>
              </a:rPr>
              <a:t>R05 had ended at 7.07 V; by 11:49 the battery read 8.18 V</a:t>
            </a:r>
          </a:p>
        </p:txBody>
      </p:sp>
      <p:sp>
        <p:nvSpPr>
          <p:cNvPr id="19" name="Rounded Rectangle 18"/>
          <p:cNvSpPr/>
          <p:nvPr/>
        </p:nvSpPr>
        <p:spPr>
          <a:xfrm>
            <a:off x="5715000" y="3246120"/>
            <a:ext cx="2926080" cy="1920240"/>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806440" y="3264408"/>
            <a:ext cx="2743200" cy="1883664"/>
          </a:xfrm>
          <a:prstGeom prst="rect">
            <a:avLst/>
          </a:prstGeom>
          <a:noFill/>
        </p:spPr>
        <p:txBody>
          <a:bodyPr wrap="square" anchor="ctr" lIns="45720" rIns="45720">
            <a:spAutoFit/>
          </a:bodyPr>
          <a:lstStyle/>
          <a:p>
            <a:pPr algn="l">
              <a:spcAft>
                <a:spcPts val="0"/>
              </a:spcAft>
            </a:pPr>
            <a:r>
              <a:rPr sz="1300" b="1" i="0">
                <a:solidFill>
                  <a:srgbClr val="CC0633"/>
                </a:solidFill>
                <a:latin typeface="Times New Roman"/>
              </a:rPr>
              <a:t>Fix: </a:t>
            </a:r>
            <a:r>
              <a:rPr sz="1300" b="0" i="0">
                <a:solidFill>
                  <a:srgbClr val="CC0633"/>
                </a:solidFill>
                <a:latin typeface="Times New Roman"/>
              </a:rPr>
              <a:t>filter the voltage (e.g. a 5 s mean) before comparing it with 7.0 V, and log the minimum voltage.</a:t>
            </a:r>
          </a:p>
        </p:txBody>
      </p:sp>
      <p:sp>
        <p:nvSpPr>
          <p:cNvPr id="21" name="Rounded Rectangle 2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A safety rule on a raw voltage stops the robot at the first load step.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Session D: A Small Enclosure</a:t>
            </a:r>
          </a:p>
          <a:p>
            <a:pPr algn="just"/>
            <a:r>
              <a:rPr lang="en-US" sz="2500" dirty="0">
                <a:solidFill>
                  <a:srgbClr val="FFFFFF"/>
                </a:solidFill>
                <a:latin typeface="Times" panose="02020603050405020304" pitchFamily="18" charset="0"/>
                <a:cs typeface="Times" panose="02020603050405020304" pitchFamily="18" charset="0"/>
              </a:rPr>
              <a:t>11:49 – 12:21, four of five runs finished on their own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9</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lab_2026-10-20_1148.png"/>
          <p:cNvPicPr>
            <a:picLocks noChangeAspect="1"/>
          </p:cNvPicPr>
          <p:nvPr/>
        </p:nvPicPr>
        <p:blipFill>
          <a:blip r:embed="rId2"/>
          <a:stretch>
            <a:fillRect/>
          </a:stretch>
        </p:blipFill>
        <p:spPr>
          <a:xfrm>
            <a:off x="317413" y="1051560"/>
            <a:ext cx="4257213" cy="3383280"/>
          </a:xfrm>
          <a:prstGeom prst="rect">
            <a:avLst/>
          </a:prstGeom>
        </p:spPr>
      </p:pic>
      <p:pic>
        <p:nvPicPr>
          <p:cNvPr id="17" name="Picture 16" descr="lab_2026-10-20_1148_3.png"/>
          <p:cNvPicPr>
            <a:picLocks noChangeAspect="1"/>
          </p:cNvPicPr>
          <p:nvPr/>
        </p:nvPicPr>
        <p:blipFill>
          <a:blip r:embed="rId3"/>
          <a:stretch>
            <a:fillRect/>
          </a:stretch>
        </p:blipFill>
        <p:spPr>
          <a:xfrm>
            <a:off x="4796627" y="1051560"/>
            <a:ext cx="3894145" cy="3383280"/>
          </a:xfrm>
          <a:prstGeom prst="rect">
            <a:avLst/>
          </a:prstGeom>
        </p:spPr>
      </p:pic>
      <p:sp>
        <p:nvSpPr>
          <p:cNvPr id="18" name="TextBox 17"/>
          <p:cNvSpPr txBox="1"/>
          <p:nvPr/>
        </p:nvSpPr>
        <p:spPr>
          <a:xfrm>
            <a:off x="502920" y="4480560"/>
            <a:ext cx="8138160" cy="777240"/>
          </a:xfrm>
          <a:prstGeom prst="rect">
            <a:avLst/>
          </a:prstGeom>
          <a:noFill/>
        </p:spPr>
        <p:txBody>
          <a:bodyPr wrap="square" anchor="t" lIns="45720" rIns="45720">
            <a:spAutoFit/>
          </a:bodyPr>
          <a:lstStyle/>
          <a:p>
            <a:pPr algn="l">
              <a:spcAft>
                <a:spcPts val="0"/>
              </a:spcAft>
            </a:pPr>
            <a:r>
              <a:rPr sz="1200" b="1" i="0">
                <a:solidFill>
                  <a:srgbClr val="0000CC"/>
                </a:solidFill>
                <a:latin typeface="Times New Roman"/>
              </a:rPr>
              <a:t>R11 (left): </a:t>
            </a:r>
            <a:r>
              <a:rPr sz="1200" b="0" i="0">
                <a:solidFill>
                  <a:srgbClr val="1A1A1A"/>
                </a:solidFill>
                <a:latin typeface="Times New Roman"/>
              </a:rPr>
              <a:t>R11 11:59: 3.7 min, 8.5 m, 3 reached / 4 failed; failed goals outside the walls. </a:t>
            </a:r>
            <a:r>
              <a:rPr sz="1200" b="1" i="0">
                <a:solidFill>
                  <a:srgbClr val="0000CC"/>
                </a:solidFill>
                <a:latin typeface="Times New Roman"/>
              </a:rPr>
              <a:t>R13 (right): </a:t>
            </a:r>
            <a:r>
              <a:rPr sz="1200" b="0" i="0">
                <a:solidFill>
                  <a:srgbClr val="1A1A1A"/>
                </a:solidFill>
                <a:latin typeface="Times New Roman"/>
              </a:rPr>
              <a:t>R13 12:11: 1.5 min, 9.9 m, 4 reached / 0 failed.</a:t>
            </a:r>
          </a:p>
        </p:txBody>
      </p:sp>
      <p:sp>
        <p:nvSpPr>
          <p:cNvPr id="19" name="Rounded Rectangle 18"/>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The lidar sees out of the enclosure; goals placed out there cannot be reached and fail.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Session E: Repeat Runs, No Failed Goals</a:t>
            </a:r>
          </a:p>
          <a:p>
            <a:pPr algn="just"/>
            <a:r>
              <a:rPr lang="en-US" sz="2500" dirty="0">
                <a:solidFill>
                  <a:srgbClr val="FFFFFF"/>
                </a:solidFill>
                <a:latin typeface="Times" panose="02020603050405020304" pitchFamily="18" charset="0"/>
                <a:cs typeface="Times" panose="02020603050405020304" pitchFamily="18" charset="0"/>
              </a:rPr>
              <a:t>12:38 – 12:57, 31 goals sent, none failed</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10</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lab_2026-10-20_1249_success2.png"/>
          <p:cNvPicPr>
            <a:picLocks noChangeAspect="1"/>
          </p:cNvPicPr>
          <p:nvPr/>
        </p:nvPicPr>
        <p:blipFill>
          <a:blip r:embed="rId2"/>
          <a:stretch>
            <a:fillRect/>
          </a:stretch>
        </p:blipFill>
        <p:spPr>
          <a:xfrm>
            <a:off x="351832" y="1051560"/>
            <a:ext cx="4188375" cy="3383280"/>
          </a:xfrm>
          <a:prstGeom prst="rect">
            <a:avLst/>
          </a:prstGeom>
        </p:spPr>
      </p:pic>
      <p:pic>
        <p:nvPicPr>
          <p:cNvPr id="17" name="Picture 16" descr="lab_2026-10-20_1249_success3.png"/>
          <p:cNvPicPr>
            <a:picLocks noChangeAspect="1"/>
          </p:cNvPicPr>
          <p:nvPr/>
        </p:nvPicPr>
        <p:blipFill>
          <a:blip r:embed="rId3"/>
          <a:stretch>
            <a:fillRect/>
          </a:stretch>
        </p:blipFill>
        <p:spPr>
          <a:xfrm>
            <a:off x="4668308" y="1051560"/>
            <a:ext cx="4150783" cy="3383280"/>
          </a:xfrm>
          <a:prstGeom prst="rect">
            <a:avLst/>
          </a:prstGeom>
        </p:spPr>
      </p:pic>
      <p:sp>
        <p:nvSpPr>
          <p:cNvPr id="18" name="TextBox 17"/>
          <p:cNvSpPr txBox="1"/>
          <p:nvPr/>
        </p:nvSpPr>
        <p:spPr>
          <a:xfrm>
            <a:off x="502920" y="4480560"/>
            <a:ext cx="8138160" cy="777240"/>
          </a:xfrm>
          <a:prstGeom prst="rect">
            <a:avLst/>
          </a:prstGeom>
          <a:noFill/>
        </p:spPr>
        <p:txBody>
          <a:bodyPr wrap="square" anchor="t" lIns="45720" rIns="45720">
            <a:spAutoFit/>
          </a:bodyPr>
          <a:lstStyle/>
          <a:p>
            <a:pPr algn="l">
              <a:spcAft>
                <a:spcPts val="0"/>
              </a:spcAft>
            </a:pPr>
            <a:r>
              <a:rPr sz="1200" b="1" i="0">
                <a:solidFill>
                  <a:srgbClr val="0000CC"/>
                </a:solidFill>
                <a:latin typeface="Times New Roman"/>
              </a:rPr>
              <a:t>Completed runs R16–R18: </a:t>
            </a:r>
            <a:r>
              <a:rPr sz="1200" b="0" i="0">
                <a:solidFill>
                  <a:srgbClr val="1A1A1A"/>
                </a:solidFill>
                <a:latin typeface="Times New Roman"/>
              </a:rPr>
              <a:t>1.4–3.3 min, 7.8–12.9 m driven, mean 0.08 m/s (cruise 0.10), 5–14 s to drive home after the last frontier.</a:t>
            </a:r>
          </a:p>
        </p:txBody>
      </p:sp>
      <p:sp>
        <p:nvSpPr>
          <p:cNvPr id="19" name="Rounded Rectangle 18"/>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R17 (left) reached all 8 of its goals; R18 (right) 7, and saw 1 more on the way.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How Long Mapping Takes</a:t>
            </a:r>
          </a:p>
          <a:p>
            <a:pPr algn="just"/>
            <a:r>
              <a:rPr lang="en-US" sz="2500" dirty="0">
                <a:solidFill>
                  <a:srgbClr val="FFFFFF"/>
                </a:solidFill>
                <a:latin typeface="Times" panose="02020603050405020304" pitchFamily="18" charset="0"/>
                <a:cs typeface="Times" panose="02020603050405020304" pitchFamily="18" charset="0"/>
              </a:rPr>
              <a:t>Mapped area against time, and the new app timer</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11</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area_vs_time.png"/>
          <p:cNvPicPr>
            <a:picLocks noChangeAspect="1"/>
          </p:cNvPicPr>
          <p:nvPr/>
        </p:nvPicPr>
        <p:blipFill>
          <a:blip r:embed="rId2"/>
          <a:stretch>
            <a:fillRect/>
          </a:stretch>
        </p:blipFill>
        <p:spPr>
          <a:xfrm>
            <a:off x="411480" y="1154430"/>
            <a:ext cx="5120640" cy="2720339"/>
          </a:xfrm>
          <a:prstGeom prst="rect">
            <a:avLst/>
          </a:prstGeom>
        </p:spPr>
      </p:pic>
      <p:sp>
        <p:nvSpPr>
          <p:cNvPr id="17" name="TextBox 16"/>
          <p:cNvSpPr txBox="1"/>
          <p:nvPr/>
        </p:nvSpPr>
        <p:spPr>
          <a:xfrm>
            <a:off x="502920" y="3977639"/>
            <a:ext cx="5029200" cy="1280160"/>
          </a:xfrm>
          <a:prstGeom prst="rect">
            <a:avLst/>
          </a:prstGeom>
          <a:noFill/>
        </p:spPr>
        <p:txBody>
          <a:bodyPr wrap="square" anchor="t" lIns="45720" rIns="45720">
            <a:spAutoFit/>
          </a:bodyPr>
          <a:lstStyle/>
          <a:p>
            <a:pPr algn="l">
              <a:spcAft>
                <a:spcPts val="400"/>
              </a:spcAft>
            </a:pPr>
            <a:r>
              <a:rPr sz="1300" b="0" i="0">
                <a:solidFill>
                  <a:srgbClr val="1A1A1A"/>
                </a:solidFill>
                <a:latin typeface="Times New Roman"/>
              </a:rPr>
              <a:t>Steep start: each goal opens a new view for a 360° lidar</a:t>
            </a:r>
          </a:p>
          <a:p>
            <a:pPr algn="l">
              <a:spcAft>
                <a:spcPts val="400"/>
              </a:spcAft>
            </a:pPr>
            <a:r>
              <a:rPr sz="1300" b="0" i="0">
                <a:solidFill>
                  <a:srgbClr val="1A1A1A"/>
                </a:solidFill>
                <a:latin typeface="Times New Roman"/>
              </a:rPr>
              <a:t>Then corners one at a time: R11 sat at 45–47 m² for more than 2 min</a:t>
            </a:r>
          </a:p>
          <a:p>
            <a:pPr algn="l">
              <a:spcAft>
                <a:spcPts val="400"/>
              </a:spcAft>
            </a:pPr>
            <a:r>
              <a:rPr sz="1300" b="0" i="0">
                <a:solidFill>
                  <a:srgbClr val="1A1A1A"/>
                </a:solidFill>
                <a:latin typeface="Times New Roman"/>
              </a:rPr>
              <a:t>Completed runs: 0.6–3.7 min</a:t>
            </a:r>
          </a:p>
        </p:txBody>
      </p:sp>
      <p:graphicFrame>
        <p:nvGraphicFramePr>
          <p:cNvPr id="18" name="Table 17"/>
          <p:cNvGraphicFramePr>
            <a:graphicFrameLocks noGrp="1"/>
          </p:cNvGraphicFramePr>
          <p:nvPr/>
        </p:nvGraphicFramePr>
        <p:xfrm>
          <a:off x="5715000" y="1234440"/>
          <a:ext cx="2926080" cy="1097280"/>
        </p:xfrm>
        <a:graphic>
          <a:graphicData uri="http://schemas.openxmlformats.org/drawingml/2006/table">
            <a:tbl>
              <a:tblPr firstRow="0" bandRow="0"/>
              <a:tblGrid>
                <a:gridCol w="822960"/>
                <a:gridCol w="1051560"/>
                <a:gridCol w="1051560"/>
              </a:tblGrid>
              <a:tr h="365760">
                <a:tc>
                  <a:txBody>
                    <a:bodyPr wrap="square"/>
                    <a:lstStyle/>
                    <a:p>
                      <a:r>
                        <a:rPr sz="1200" b="1">
                          <a:solidFill>
                            <a:srgbClr val="FFFFFF"/>
                          </a:solidFill>
                          <a:latin typeface="Times New Roman"/>
                        </a:rPr>
                        <a:t>Map</a:t>
                      </a:r>
                    </a:p>
                  </a:txBody>
                  <a:tcPr marL="54864" marR="54864" marT="18288" marB="18288" anchor="ctr">
                    <a:solidFill>
                      <a:srgbClr val="0000CC"/>
                    </a:solidFill>
                  </a:tcPr>
                </a:tc>
                <a:tc>
                  <a:txBody>
                    <a:bodyPr wrap="square"/>
                    <a:lstStyle/>
                    <a:p>
                      <a:r>
                        <a:rPr sz="1200" b="1">
                          <a:solidFill>
                            <a:srgbClr val="FFFFFF"/>
                          </a:solidFill>
                          <a:latin typeface="Times New Roman"/>
                        </a:rPr>
                        <a:t>App timer</a:t>
                      </a:r>
                    </a:p>
                  </a:txBody>
                  <a:tcPr marL="54864" marR="54864" marT="18288" marB="18288" anchor="ctr">
                    <a:solidFill>
                      <a:srgbClr val="0000CC"/>
                    </a:solidFill>
                  </a:tcPr>
                </a:tc>
                <a:tc>
                  <a:txBody>
                    <a:bodyPr wrap="square"/>
                    <a:lstStyle/>
                    <a:p>
                      <a:r>
                        <a:rPr sz="1200" b="1">
                          <a:solidFill>
                            <a:srgbClr val="FFFFFF"/>
                          </a:solidFill>
                          <a:latin typeface="Times New Roman"/>
                        </a:rPr>
                        <a:t>Explorer</a:t>
                      </a:r>
                    </a:p>
                  </a:txBody>
                  <a:tcPr marL="54864" marR="54864" marT="18288" marB="18288" anchor="ctr">
                    <a:solidFill>
                      <a:srgbClr val="0000CC"/>
                    </a:solidFill>
                  </a:tcPr>
                </a:tc>
              </a:tr>
              <a:tr h="365760">
                <a:tc>
                  <a:txBody>
                    <a:bodyPr wrap="square"/>
                    <a:lstStyle/>
                    <a:p>
                      <a:r>
                        <a:rPr sz="1200" b="0">
                          <a:solidFill>
                            <a:srgbClr val="1A1A1A"/>
                          </a:solidFill>
                          <a:latin typeface="Times New Roman"/>
                        </a:rPr>
                        <a:t>R17</a:t>
                      </a:r>
                    </a:p>
                  </a:txBody>
                  <a:tcPr marL="54864" marR="54864" marT="18288" marB="18288" anchor="ctr">
                    <a:solidFill>
                      <a:srgbClr val="ECECFA"/>
                    </a:solidFill>
                  </a:tcPr>
                </a:tc>
                <a:tc>
                  <a:txBody>
                    <a:bodyPr wrap="square"/>
                    <a:lstStyle/>
                    <a:p>
                      <a:r>
                        <a:rPr sz="1200" b="0">
                          <a:solidFill>
                            <a:srgbClr val="1A1A1A"/>
                          </a:solidFill>
                          <a:latin typeface="Times New Roman"/>
                        </a:rPr>
                        <a:t>211 s</a:t>
                      </a:r>
                    </a:p>
                  </a:txBody>
                  <a:tcPr marL="54864" marR="54864" marT="18288" marB="18288" anchor="ctr">
                    <a:solidFill>
                      <a:srgbClr val="ECECFA"/>
                    </a:solidFill>
                  </a:tcPr>
                </a:tc>
                <a:tc>
                  <a:txBody>
                    <a:bodyPr wrap="square"/>
                    <a:lstStyle/>
                    <a:p>
                      <a:r>
                        <a:rPr sz="1200" b="0">
                          <a:solidFill>
                            <a:srgbClr val="1A1A1A"/>
                          </a:solidFill>
                          <a:latin typeface="Times New Roman"/>
                        </a:rPr>
                        <a:t>199 s</a:t>
                      </a:r>
                    </a:p>
                  </a:txBody>
                  <a:tcPr marL="54864" marR="54864" marT="18288" marB="18288" anchor="ctr">
                    <a:solidFill>
                      <a:srgbClr val="ECECFA"/>
                    </a:solidFill>
                  </a:tcPr>
                </a:tc>
              </a:tr>
              <a:tr h="365760">
                <a:tc>
                  <a:txBody>
                    <a:bodyPr wrap="square"/>
                    <a:lstStyle/>
                    <a:p>
                      <a:r>
                        <a:rPr sz="1200" b="0">
                          <a:solidFill>
                            <a:srgbClr val="1A1A1A"/>
                          </a:solidFill>
                          <a:latin typeface="Times New Roman"/>
                        </a:rPr>
                        <a:t>R18</a:t>
                      </a:r>
                    </a:p>
                  </a:txBody>
                  <a:tcPr marL="54864" marR="54864" marT="18288" marB="18288" anchor="ctr">
                    <a:solidFill>
                      <a:srgbClr val="FFFFFF"/>
                    </a:solidFill>
                  </a:tcPr>
                </a:tc>
                <a:tc>
                  <a:txBody>
                    <a:bodyPr wrap="square"/>
                    <a:lstStyle/>
                    <a:p>
                      <a:r>
                        <a:rPr sz="1200" b="0">
                          <a:solidFill>
                            <a:srgbClr val="1A1A1A"/>
                          </a:solidFill>
                          <a:latin typeface="Times New Roman"/>
                        </a:rPr>
                        <a:t>130 s</a:t>
                      </a:r>
                    </a:p>
                  </a:txBody>
                  <a:tcPr marL="54864" marR="54864" marT="18288" marB="18288" anchor="ctr">
                    <a:solidFill>
                      <a:srgbClr val="FFFFFF"/>
                    </a:solidFill>
                  </a:tcPr>
                </a:tc>
                <a:tc>
                  <a:txBody>
                    <a:bodyPr wrap="square"/>
                    <a:lstStyle/>
                    <a:p>
                      <a:r>
                        <a:rPr sz="1200" b="0">
                          <a:solidFill>
                            <a:srgbClr val="1A1A1A"/>
                          </a:solidFill>
                          <a:latin typeface="Times New Roman"/>
                        </a:rPr>
                        <a:t>123 s</a:t>
                      </a:r>
                    </a:p>
                  </a:txBody>
                  <a:tcPr marL="54864" marR="54864" marT="18288" marB="18288" anchor="ctr">
                    <a:solidFill>
                      <a:srgbClr val="FFFFFF"/>
                    </a:solidFill>
                  </a:tcPr>
                </a:tc>
              </a:tr>
            </a:tbl>
          </a:graphicData>
        </a:graphic>
      </p:graphicFrame>
      <p:sp>
        <p:nvSpPr>
          <p:cNvPr id="19" name="Rounded Rectangle 18"/>
          <p:cNvSpPr/>
          <p:nvPr/>
        </p:nvSpPr>
        <p:spPr>
          <a:xfrm>
            <a:off x="5715000" y="2514600"/>
            <a:ext cx="2926080" cy="269748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806440" y="2560320"/>
            <a:ext cx="2743200" cy="2606040"/>
          </a:xfrm>
          <a:prstGeom prst="rect">
            <a:avLst/>
          </a:prstGeom>
          <a:noFill/>
        </p:spPr>
        <p:txBody>
          <a:bodyPr wrap="square" anchor="t" lIns="45720" rIns="45720">
            <a:spAutoFit/>
          </a:bodyPr>
          <a:lstStyle/>
          <a:p>
            <a:pPr algn="l">
              <a:spcAft>
                <a:spcPts val="800"/>
              </a:spcAft>
            </a:pPr>
            <a:r>
              <a:rPr sz="1300" b="1" i="0">
                <a:solidFill>
                  <a:srgbClr val="0000CC"/>
                </a:solidFill>
                <a:latin typeface="Times New Roman"/>
              </a:rPr>
              <a:t>Timer </a:t>
            </a:r>
            <a:r>
              <a:rPr sz="1300" b="0" i="0">
                <a:solidFill>
                  <a:srgbClr val="1A1A1A"/>
                </a:solidFill>
                <a:latin typeface="Times New Roman"/>
              </a:rPr>
              <a:t>runs while SLAM poses arrive and is saved in the map's json.</a:t>
            </a:r>
          </a:p>
          <a:p>
            <a:pPr algn="l">
              <a:spcAft>
                <a:spcPts val="800"/>
              </a:spcAft>
            </a:pPr>
            <a:r>
              <a:rPr sz="1300" b="1" i="0">
                <a:solidFill>
                  <a:srgbClr val="0000CC"/>
                </a:solidFill>
                <a:latin typeface="Times New Roman"/>
              </a:rPr>
              <a:t>Reads 6–12 s longer: </a:t>
            </a:r>
            <a:r>
              <a:rPr sz="1300" b="0" i="0">
                <a:solidFill>
                  <a:srgbClr val="1A1A1A"/>
                </a:solidFill>
                <a:latin typeface="Times New Roman"/>
              </a:rPr>
              <a:t>it also counts SLAM before Explore and the time until the map is saved.</a:t>
            </a:r>
          </a:p>
        </p:txBody>
      </p:sp>
      <p:sp>
        <p:nvSpPr>
          <p:cNvPr id="21" name="Rounded Rectangle 2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Use the explorer time to compare runs; the app timer records the whole session.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Where the Goals Went</a:t>
            </a:r>
          </a:p>
          <a:p>
            <a:pPr algn="just"/>
            <a:r>
              <a:rPr lang="en-US" sz="2500" dirty="0">
                <a:solidFill>
                  <a:srgbClr val="FFFFFF"/>
                </a:solidFill>
                <a:latin typeface="Times" panose="02020603050405020304" pitchFamily="18" charset="0"/>
                <a:cs typeface="Times" panose="02020603050405020304" pitchFamily="18" charset="0"/>
              </a:rPr>
              <a:t>Goal outcomes per run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12</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pic>
        <p:nvPicPr>
          <p:cNvPr id="16" name="Picture 15" descr="goal_outcomes.png"/>
          <p:cNvPicPr>
            <a:picLocks noChangeAspect="1"/>
          </p:cNvPicPr>
          <p:nvPr/>
        </p:nvPicPr>
        <p:blipFill>
          <a:blip r:embed="rId2"/>
          <a:stretch>
            <a:fillRect/>
          </a:stretch>
        </p:blipFill>
        <p:spPr>
          <a:xfrm>
            <a:off x="411480" y="1160145"/>
            <a:ext cx="8321040" cy="3120390"/>
          </a:xfrm>
          <a:prstGeom prst="rect">
            <a:avLst/>
          </a:prstGeom>
        </p:spPr>
      </p:pic>
      <p:graphicFrame>
        <p:nvGraphicFramePr>
          <p:cNvPr id="17" name="Table 16"/>
          <p:cNvGraphicFramePr>
            <a:graphicFrameLocks noGrp="1"/>
          </p:cNvGraphicFramePr>
          <p:nvPr/>
        </p:nvGraphicFramePr>
        <p:xfrm>
          <a:off x="502920" y="4389120"/>
          <a:ext cx="8138160" cy="731520"/>
        </p:xfrm>
        <a:graphic>
          <a:graphicData uri="http://schemas.openxmlformats.org/drawingml/2006/table">
            <a:tbl>
              <a:tblPr firstRow="0" bandRow="0"/>
              <a:tblGrid>
                <a:gridCol w="1737360"/>
                <a:gridCol w="1280160"/>
                <a:gridCol w="1280160"/>
                <a:gridCol w="1280160"/>
                <a:gridCol w="1280160"/>
                <a:gridCol w="1280160"/>
              </a:tblGrid>
              <a:tr h="365760">
                <a:tc>
                  <a:txBody>
                    <a:bodyPr wrap="square"/>
                    <a:lstStyle/>
                    <a:p>
                      <a:r>
                        <a:rPr sz="1200" b="1">
                          <a:solidFill>
                            <a:srgbClr val="FFFFFF"/>
                          </a:solidFill>
                          <a:latin typeface="Times New Roman"/>
                        </a:rPr>
                        <a:t>Session</a:t>
                      </a:r>
                    </a:p>
                  </a:txBody>
                  <a:tcPr marL="54864" marR="54864" marT="18288" marB="18288" anchor="ctr">
                    <a:solidFill>
                      <a:srgbClr val="0000CC"/>
                    </a:solidFill>
                  </a:tcPr>
                </a:tc>
                <a:tc>
                  <a:txBody>
                    <a:bodyPr wrap="square"/>
                    <a:lstStyle/>
                    <a:p>
                      <a:r>
                        <a:rPr sz="1200" b="1">
                          <a:solidFill>
                            <a:srgbClr val="FFFFFF"/>
                          </a:solidFill>
                          <a:latin typeface="Times New Roman"/>
                        </a:rPr>
                        <a:t>A</a:t>
                      </a:r>
                    </a:p>
                  </a:txBody>
                  <a:tcPr marL="54864" marR="54864" marT="18288" marB="18288" anchor="ctr">
                    <a:solidFill>
                      <a:srgbClr val="0000CC"/>
                    </a:solidFill>
                  </a:tcPr>
                </a:tc>
                <a:tc>
                  <a:txBody>
                    <a:bodyPr wrap="square"/>
                    <a:lstStyle/>
                    <a:p>
                      <a:r>
                        <a:rPr sz="1200" b="1">
                          <a:solidFill>
                            <a:srgbClr val="FFFFFF"/>
                          </a:solidFill>
                          <a:latin typeface="Times New Roman"/>
                        </a:rPr>
                        <a:t>B</a:t>
                      </a:r>
                    </a:p>
                  </a:txBody>
                  <a:tcPr marL="54864" marR="54864" marT="18288" marB="18288" anchor="ctr">
                    <a:solidFill>
                      <a:srgbClr val="0000CC"/>
                    </a:solidFill>
                  </a:tcPr>
                </a:tc>
                <a:tc>
                  <a:txBody>
                    <a:bodyPr wrap="square"/>
                    <a:lstStyle/>
                    <a:p>
                      <a:r>
                        <a:rPr sz="1200" b="1">
                          <a:solidFill>
                            <a:srgbClr val="FFFFFF"/>
                          </a:solidFill>
                          <a:latin typeface="Times New Roman"/>
                        </a:rPr>
                        <a:t>C</a:t>
                      </a:r>
                    </a:p>
                  </a:txBody>
                  <a:tcPr marL="54864" marR="54864" marT="18288" marB="18288" anchor="ctr">
                    <a:solidFill>
                      <a:srgbClr val="0000CC"/>
                    </a:solidFill>
                  </a:tcPr>
                </a:tc>
                <a:tc>
                  <a:txBody>
                    <a:bodyPr wrap="square"/>
                    <a:lstStyle/>
                    <a:p>
                      <a:r>
                        <a:rPr sz="1200" b="1">
                          <a:solidFill>
                            <a:srgbClr val="FFFFFF"/>
                          </a:solidFill>
                          <a:latin typeface="Times New Roman"/>
                        </a:rPr>
                        <a:t>D</a:t>
                      </a:r>
                    </a:p>
                  </a:txBody>
                  <a:tcPr marL="54864" marR="54864" marT="18288" marB="18288" anchor="ctr">
                    <a:solidFill>
                      <a:srgbClr val="0000CC"/>
                    </a:solidFill>
                  </a:tcPr>
                </a:tc>
                <a:tc>
                  <a:txBody>
                    <a:bodyPr wrap="square"/>
                    <a:lstStyle/>
                    <a:p>
                      <a:r>
                        <a:rPr sz="1200" b="1">
                          <a:solidFill>
                            <a:srgbClr val="FFFFFF"/>
                          </a:solidFill>
                          <a:latin typeface="Times New Roman"/>
                        </a:rPr>
                        <a:t>E</a:t>
                      </a:r>
                    </a:p>
                  </a:txBody>
                  <a:tcPr marL="54864" marR="54864" marT="18288" marB="18288" anchor="ctr">
                    <a:solidFill>
                      <a:srgbClr val="0000CC"/>
                    </a:solidFill>
                  </a:tcPr>
                </a:tc>
              </a:tr>
              <a:tr h="365760">
                <a:tc>
                  <a:txBody>
                    <a:bodyPr wrap="square"/>
                    <a:lstStyle/>
                    <a:p>
                      <a:r>
                        <a:rPr sz="1200" b="1">
                          <a:solidFill>
                            <a:srgbClr val="0000CC"/>
                          </a:solidFill>
                          <a:latin typeface="Times New Roman"/>
                        </a:rPr>
                        <a:t>failed / sent</a:t>
                      </a:r>
                    </a:p>
                  </a:txBody>
                  <a:tcPr marL="54864" marR="54864" marT="18288" marB="18288" anchor="ctr">
                    <a:solidFill>
                      <a:srgbClr val="ECECFA"/>
                    </a:solidFill>
                  </a:tcPr>
                </a:tc>
                <a:tc>
                  <a:txBody>
                    <a:bodyPr wrap="square"/>
                    <a:lstStyle/>
                    <a:p>
                      <a:r>
                        <a:rPr sz="1200" b="0">
                          <a:solidFill>
                            <a:srgbClr val="1A1A1A"/>
                          </a:solidFill>
                          <a:latin typeface="Times New Roman"/>
                        </a:rPr>
                        <a:t>65 / 79</a:t>
                      </a:r>
                    </a:p>
                  </a:txBody>
                  <a:tcPr marL="54864" marR="54864" marT="18288" marB="18288" anchor="ctr">
                    <a:solidFill>
                      <a:srgbClr val="ECECFA"/>
                    </a:solidFill>
                  </a:tcPr>
                </a:tc>
                <a:tc>
                  <a:txBody>
                    <a:bodyPr wrap="square"/>
                    <a:lstStyle/>
                    <a:p>
                      <a:r>
                        <a:rPr sz="1200" b="0">
                          <a:solidFill>
                            <a:srgbClr val="1A1A1A"/>
                          </a:solidFill>
                          <a:latin typeface="Times New Roman"/>
                        </a:rPr>
                        <a:t>2 / 16</a:t>
                      </a:r>
                    </a:p>
                  </a:txBody>
                  <a:tcPr marL="54864" marR="54864" marT="18288" marB="18288" anchor="ctr">
                    <a:solidFill>
                      <a:srgbClr val="ECECFA"/>
                    </a:solidFill>
                  </a:tcPr>
                </a:tc>
                <a:tc>
                  <a:txBody>
                    <a:bodyPr wrap="square"/>
                    <a:lstStyle/>
                    <a:p>
                      <a:r>
                        <a:rPr sz="1200" b="0">
                          <a:solidFill>
                            <a:srgbClr val="1A1A1A"/>
                          </a:solidFill>
                          <a:latin typeface="Times New Roman"/>
                        </a:rPr>
                        <a:t>0 / 5</a:t>
                      </a:r>
                    </a:p>
                  </a:txBody>
                  <a:tcPr marL="54864" marR="54864" marT="18288" marB="18288" anchor="ctr">
                    <a:solidFill>
                      <a:srgbClr val="ECECFA"/>
                    </a:solidFill>
                  </a:tcPr>
                </a:tc>
                <a:tc>
                  <a:txBody>
                    <a:bodyPr wrap="square"/>
                    <a:lstStyle/>
                    <a:p>
                      <a:r>
                        <a:rPr sz="1200" b="0">
                          <a:solidFill>
                            <a:srgbClr val="1A1A1A"/>
                          </a:solidFill>
                          <a:latin typeface="Times New Roman"/>
                        </a:rPr>
                        <a:t>10 / 34</a:t>
                      </a:r>
                    </a:p>
                  </a:txBody>
                  <a:tcPr marL="54864" marR="54864" marT="18288" marB="18288" anchor="ctr">
                    <a:solidFill>
                      <a:srgbClr val="ECECFA"/>
                    </a:solidFill>
                  </a:tcPr>
                </a:tc>
                <a:tc>
                  <a:txBody>
                    <a:bodyPr wrap="square"/>
                    <a:lstStyle/>
                    <a:p>
                      <a:r>
                        <a:rPr sz="1200" b="0">
                          <a:solidFill>
                            <a:srgbClr val="1A1A1A"/>
                          </a:solidFill>
                          <a:latin typeface="Times New Roman"/>
                        </a:rPr>
                        <a:t>0 / 31</a:t>
                      </a:r>
                    </a:p>
                  </a:txBody>
                  <a:tcPr marL="54864" marR="54864" marT="18288" marB="18288" anchor="ctr">
                    <a:solidFill>
                      <a:srgbClr val="ECECFA"/>
                    </a:solidFill>
                  </a:tcPr>
                </a:tc>
              </a:tr>
            </a:tbl>
          </a:graphicData>
        </a:graphic>
      </p:graphicFrame>
      <p:sp>
        <p:nvSpPr>
          <p:cNvPr id="18" name="Rounded Rectangle 17"/>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Orange: frontiers the lidar cleared before the robot got there, so the explorer moved 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The Saved Maps</a:t>
            </a:r>
          </a:p>
          <a:p>
            <a:pPr algn="just"/>
            <a:r>
              <a:rPr lang="en-US" sz="2500" dirty="0">
                <a:solidFill>
                  <a:srgbClr val="FFFFFF"/>
                </a:solidFill>
                <a:latin typeface="Times" panose="02020603050405020304" pitchFamily="18" charset="0"/>
                <a:cs typeface="Times" panose="02020603050405020304" pitchFamily="18" charset="0"/>
              </a:rPr>
              <a:t>~/Desktop/robot04_maps, lab_2026-10-20_*</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13</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graphicFrame>
        <p:nvGraphicFramePr>
          <p:cNvPr id="16" name="Table 15"/>
          <p:cNvGraphicFramePr>
            <a:graphicFrameLocks noGrp="1"/>
          </p:cNvGraphicFramePr>
          <p:nvPr/>
        </p:nvGraphicFramePr>
        <p:xfrm>
          <a:off x="502920" y="1234440"/>
          <a:ext cx="8138160" cy="3538728"/>
        </p:xfrm>
        <a:graphic>
          <a:graphicData uri="http://schemas.openxmlformats.org/drawingml/2006/table">
            <a:tbl>
              <a:tblPr firstRow="0" bandRow="0"/>
              <a:tblGrid>
                <a:gridCol w="1691640"/>
                <a:gridCol w="685800"/>
                <a:gridCol w="1234440"/>
                <a:gridCol w="1097280"/>
                <a:gridCol w="1234440"/>
                <a:gridCol w="1097280"/>
                <a:gridCol w="1097280"/>
              </a:tblGrid>
              <a:tr h="393192">
                <a:tc>
                  <a:txBody>
                    <a:bodyPr wrap="square"/>
                    <a:lstStyle/>
                    <a:p>
                      <a:r>
                        <a:rPr sz="1200" b="1">
                          <a:solidFill>
                            <a:srgbClr val="FFFFFF"/>
                          </a:solidFill>
                          <a:latin typeface="Times New Roman"/>
                        </a:rPr>
                        <a:t>Map</a:t>
                      </a:r>
                    </a:p>
                  </a:txBody>
                  <a:tcPr marL="54864" marR="54864" marT="18288" marB="18288" anchor="ctr">
                    <a:solidFill>
                      <a:srgbClr val="0000CC"/>
                    </a:solidFill>
                  </a:tcPr>
                </a:tc>
                <a:tc>
                  <a:txBody>
                    <a:bodyPr wrap="square"/>
                    <a:lstStyle/>
                    <a:p>
                      <a:r>
                        <a:rPr sz="1200" b="1">
                          <a:solidFill>
                            <a:srgbClr val="FFFFFF"/>
                          </a:solidFill>
                          <a:latin typeface="Times New Roman"/>
                        </a:rPr>
                        <a:t>Run</a:t>
                      </a:r>
                    </a:p>
                  </a:txBody>
                  <a:tcPr marL="54864" marR="54864" marT="18288" marB="18288" anchor="ctr">
                    <a:solidFill>
                      <a:srgbClr val="0000CC"/>
                    </a:solidFill>
                  </a:tcPr>
                </a:tc>
                <a:tc>
                  <a:txBody>
                    <a:bodyPr wrap="square"/>
                    <a:lstStyle/>
                    <a:p>
                      <a:r>
                        <a:rPr sz="1200" b="1">
                          <a:solidFill>
                            <a:srgbClr val="FFFFFF"/>
                          </a:solidFill>
                          <a:latin typeface="Times New Roman"/>
                        </a:rPr>
                        <a:t>Extent (m)</a:t>
                      </a:r>
                    </a:p>
                  </a:txBody>
                  <a:tcPr marL="54864" marR="54864" marT="18288" marB="18288" anchor="ctr">
                    <a:solidFill>
                      <a:srgbClr val="0000CC"/>
                    </a:solidFill>
                  </a:tcPr>
                </a:tc>
                <a:tc>
                  <a:txBody>
                    <a:bodyPr wrap="square"/>
                    <a:lstStyle/>
                    <a:p>
                      <a:r>
                        <a:rPr sz="1200" b="1">
                          <a:solidFill>
                            <a:srgbClr val="FFFFFF"/>
                          </a:solidFill>
                          <a:latin typeface="Times New Roman"/>
                        </a:rPr>
                        <a:t>Known m²</a:t>
                      </a:r>
                    </a:p>
                  </a:txBody>
                  <a:tcPr marL="54864" marR="54864" marT="18288" marB="18288" anchor="ctr">
                    <a:solidFill>
                      <a:srgbClr val="0000CC"/>
                    </a:solidFill>
                  </a:tcPr>
                </a:tc>
                <a:tc>
                  <a:txBody>
                    <a:bodyPr wrap="square"/>
                    <a:lstStyle/>
                    <a:p>
                      <a:r>
                        <a:rPr sz="1200" b="1">
                          <a:solidFill>
                            <a:srgbClr val="FFFFFF"/>
                          </a:solidFill>
                          <a:latin typeface="Times New Roman"/>
                        </a:rPr>
                        <a:t>Occupied m²</a:t>
                      </a:r>
                    </a:p>
                  </a:txBody>
                  <a:tcPr marL="54864" marR="54864" marT="18288" marB="18288" anchor="ctr">
                    <a:solidFill>
                      <a:srgbClr val="0000CC"/>
                    </a:solidFill>
                  </a:tcPr>
                </a:tc>
                <a:tc>
                  <a:txBody>
                    <a:bodyPr wrap="square"/>
                    <a:lstStyle/>
                    <a:p>
                      <a:r>
                        <a:rPr sz="1200" b="1">
                          <a:solidFill>
                            <a:srgbClr val="FFFFFF"/>
                          </a:solidFill>
                          <a:latin typeface="Times New Roman"/>
                        </a:rPr>
                        <a:t>Path (m)</a:t>
                      </a:r>
                    </a:p>
                  </a:txBody>
                  <a:tcPr marL="54864" marR="54864" marT="18288" marB="18288" anchor="ctr">
                    <a:solidFill>
                      <a:srgbClr val="0000CC"/>
                    </a:solidFill>
                  </a:tcPr>
                </a:tc>
                <a:tc>
                  <a:txBody>
                    <a:bodyPr wrap="square"/>
                    <a:lstStyle/>
                    <a:p>
                      <a:r>
                        <a:rPr sz="1200" b="1">
                          <a:solidFill>
                            <a:srgbClr val="FFFFFF"/>
                          </a:solidFill>
                          <a:latin typeface="Times New Roman"/>
                        </a:rPr>
                        <a:t>Timer</a:t>
                      </a:r>
                    </a:p>
                  </a:txBody>
                  <a:tcPr marL="54864" marR="54864" marT="18288" marB="18288" anchor="ctr">
                    <a:solidFill>
                      <a:srgbClr val="0000CC"/>
                    </a:solidFill>
                  </a:tcPr>
                </a:tc>
              </a:tr>
              <a:tr h="393192">
                <a:tc>
                  <a:txBody>
                    <a:bodyPr wrap="square"/>
                    <a:lstStyle/>
                    <a:p>
                      <a:r>
                        <a:rPr sz="1200" b="0">
                          <a:solidFill>
                            <a:srgbClr val="1A1A1A"/>
                          </a:solidFill>
                          <a:latin typeface="Times New Roman"/>
                        </a:rPr>
                        <a:t>1008</a:t>
                      </a:r>
                    </a:p>
                  </a:txBody>
                  <a:tcPr marL="54864" marR="54864" marT="18288" marB="18288" anchor="ctr">
                    <a:solidFill>
                      <a:srgbClr val="ECECFA"/>
                    </a:solidFill>
                  </a:tcPr>
                </a:tc>
                <a:tc>
                  <a:txBody>
                    <a:bodyPr wrap="square"/>
                    <a:lstStyle/>
                    <a:p>
                      <a:r>
                        <a:rPr sz="1200" b="0">
                          <a:solidFill>
                            <a:srgbClr val="1A1A1A"/>
                          </a:solidFill>
                          <a:latin typeface="Times New Roman"/>
                        </a:rPr>
                        <a:t>R05</a:t>
                      </a:r>
                    </a:p>
                  </a:txBody>
                  <a:tcPr marL="54864" marR="54864" marT="18288" marB="18288" anchor="ctr">
                    <a:solidFill>
                      <a:srgbClr val="ECECFA"/>
                    </a:solidFill>
                  </a:tcPr>
                </a:tc>
                <a:tc>
                  <a:txBody>
                    <a:bodyPr wrap="square"/>
                    <a:lstStyle/>
                    <a:p>
                      <a:r>
                        <a:rPr sz="1200" b="0">
                          <a:solidFill>
                            <a:srgbClr val="1A1A1A"/>
                          </a:solidFill>
                          <a:latin typeface="Times New Roman"/>
                        </a:rPr>
                        <a:t>26.8 × 19.7</a:t>
                      </a:r>
                    </a:p>
                  </a:txBody>
                  <a:tcPr marL="54864" marR="54864" marT="18288" marB="18288" anchor="ctr">
                    <a:solidFill>
                      <a:srgbClr val="ECECFA"/>
                    </a:solidFill>
                  </a:tcPr>
                </a:tc>
                <a:tc>
                  <a:txBody>
                    <a:bodyPr wrap="square"/>
                    <a:lstStyle/>
                    <a:p>
                      <a:r>
                        <a:rPr sz="1200" b="0">
                          <a:solidFill>
                            <a:srgbClr val="1A1A1A"/>
                          </a:solidFill>
                          <a:latin typeface="Times New Roman"/>
                        </a:rPr>
                        <a:t>136.5</a:t>
                      </a:r>
                    </a:p>
                  </a:txBody>
                  <a:tcPr marL="54864" marR="54864" marT="18288" marB="18288" anchor="ctr">
                    <a:solidFill>
                      <a:srgbClr val="ECECFA"/>
                    </a:solidFill>
                  </a:tcPr>
                </a:tc>
                <a:tc>
                  <a:txBody>
                    <a:bodyPr wrap="square"/>
                    <a:lstStyle/>
                    <a:p>
                      <a:r>
                        <a:rPr sz="1200" b="0">
                          <a:solidFill>
                            <a:srgbClr val="1A1A1A"/>
                          </a:solidFill>
                          <a:latin typeface="Times New Roman"/>
                        </a:rPr>
                        <a:t>12.8</a:t>
                      </a:r>
                    </a:p>
                  </a:txBody>
                  <a:tcPr marL="54864" marR="54864" marT="18288" marB="18288" anchor="ctr">
                    <a:solidFill>
                      <a:srgbClr val="ECECFA"/>
                    </a:solidFill>
                  </a:tcPr>
                </a:tc>
                <a:tc>
                  <a:txBody>
                    <a:bodyPr wrap="square"/>
                    <a:lstStyle/>
                    <a:p>
                      <a:r>
                        <a:rPr sz="1200" b="0">
                          <a:solidFill>
                            <a:srgbClr val="1A1A1A"/>
                          </a:solidFill>
                          <a:latin typeface="Times New Roman"/>
                        </a:rPr>
                        <a:t>61.5</a:t>
                      </a:r>
                    </a:p>
                  </a:txBody>
                  <a:tcPr marL="54864" marR="54864" marT="18288" marB="18288" anchor="ctr">
                    <a:solidFill>
                      <a:srgbClr val="ECECFA"/>
                    </a:solidFill>
                  </a:tcPr>
                </a:tc>
                <a:tc>
                  <a:txBody>
                    <a:bodyPr wrap="square"/>
                    <a:lstStyle/>
                    <a:p>
                      <a:r>
                        <a:rPr sz="1200" b="0">
                          <a:solidFill>
                            <a:srgbClr val="1A1A1A"/>
                          </a:solidFill>
                          <a:latin typeface="Times New Roman"/>
                        </a:rPr>
                        <a:t>–</a:t>
                      </a:r>
                    </a:p>
                  </a:txBody>
                  <a:tcPr marL="54864" marR="54864" marT="18288" marB="18288" anchor="ctr">
                    <a:solidFill>
                      <a:srgbClr val="ECECFA"/>
                    </a:solidFill>
                  </a:tcPr>
                </a:tc>
              </a:tr>
              <a:tr h="393192">
                <a:tc>
                  <a:txBody>
                    <a:bodyPr wrap="square"/>
                    <a:lstStyle/>
                    <a:p>
                      <a:r>
                        <a:rPr sz="1200" b="0">
                          <a:solidFill>
                            <a:srgbClr val="1A1A1A"/>
                          </a:solidFill>
                          <a:latin typeface="Times New Roman"/>
                        </a:rPr>
                        <a:t>1148</a:t>
                      </a:r>
                    </a:p>
                  </a:txBody>
                  <a:tcPr marL="54864" marR="54864" marT="18288" marB="18288" anchor="ctr">
                    <a:solidFill>
                      <a:srgbClr val="FFFFFF"/>
                    </a:solidFill>
                  </a:tcPr>
                </a:tc>
                <a:tc>
                  <a:txBody>
                    <a:bodyPr wrap="square"/>
                    <a:lstStyle/>
                    <a:p>
                      <a:r>
                        <a:rPr sz="1200" b="0">
                          <a:solidFill>
                            <a:srgbClr val="1A1A1A"/>
                          </a:solidFill>
                          <a:latin typeface="Times New Roman"/>
                        </a:rPr>
                        <a:t>R11</a:t>
                      </a:r>
                    </a:p>
                  </a:txBody>
                  <a:tcPr marL="54864" marR="54864" marT="18288" marB="18288" anchor="ctr">
                    <a:solidFill>
                      <a:srgbClr val="FFFFFF"/>
                    </a:solidFill>
                  </a:tcPr>
                </a:tc>
                <a:tc>
                  <a:txBody>
                    <a:bodyPr wrap="square"/>
                    <a:lstStyle/>
                    <a:p>
                      <a:r>
                        <a:rPr sz="1200" b="0">
                          <a:solidFill>
                            <a:srgbClr val="1A1A1A"/>
                          </a:solidFill>
                          <a:latin typeface="Times New Roman"/>
                        </a:rPr>
                        <a:t>10.8 × 10.7</a:t>
                      </a:r>
                    </a:p>
                  </a:txBody>
                  <a:tcPr marL="54864" marR="54864" marT="18288" marB="18288" anchor="ctr">
                    <a:solidFill>
                      <a:srgbClr val="FFFFFF"/>
                    </a:solidFill>
                  </a:tcPr>
                </a:tc>
                <a:tc>
                  <a:txBody>
                    <a:bodyPr wrap="square"/>
                    <a:lstStyle/>
                    <a:p>
                      <a:r>
                        <a:rPr sz="1200" b="0">
                          <a:solidFill>
                            <a:srgbClr val="1A1A1A"/>
                          </a:solidFill>
                          <a:latin typeface="Times New Roman"/>
                        </a:rPr>
                        <a:t>62.8</a:t>
                      </a:r>
                    </a:p>
                  </a:txBody>
                  <a:tcPr marL="54864" marR="54864" marT="18288" marB="18288" anchor="ctr">
                    <a:solidFill>
                      <a:srgbClr val="FFFFFF"/>
                    </a:solidFill>
                  </a:tcPr>
                </a:tc>
                <a:tc>
                  <a:txBody>
                    <a:bodyPr wrap="square"/>
                    <a:lstStyle/>
                    <a:p>
                      <a:r>
                        <a:rPr sz="1200" b="0">
                          <a:solidFill>
                            <a:srgbClr val="1A1A1A"/>
                          </a:solidFill>
                          <a:latin typeface="Times New Roman"/>
                        </a:rPr>
                        <a:t>4.1</a:t>
                      </a:r>
                    </a:p>
                  </a:txBody>
                  <a:tcPr marL="54864" marR="54864" marT="18288" marB="18288" anchor="ctr">
                    <a:solidFill>
                      <a:srgbClr val="FFFFFF"/>
                    </a:solidFill>
                  </a:tcPr>
                </a:tc>
                <a:tc>
                  <a:txBody>
                    <a:bodyPr wrap="square"/>
                    <a:lstStyle/>
                    <a:p>
                      <a:r>
                        <a:rPr sz="1200" b="0">
                          <a:solidFill>
                            <a:srgbClr val="1A1A1A"/>
                          </a:solidFill>
                          <a:latin typeface="Times New Roman"/>
                        </a:rPr>
                        <a:t>8.2</a:t>
                      </a:r>
                    </a:p>
                  </a:txBody>
                  <a:tcPr marL="54864" marR="54864" marT="18288" marB="18288" anchor="ctr">
                    <a:solidFill>
                      <a:srgbClr val="FFFFFF"/>
                    </a:solidFill>
                  </a:tcPr>
                </a:tc>
                <a:tc>
                  <a:txBody>
                    <a:bodyPr wrap="square"/>
                    <a:lstStyle/>
                    <a:p>
                      <a:r>
                        <a:rPr sz="1200" b="0">
                          <a:solidFill>
                            <a:srgbClr val="1A1A1A"/>
                          </a:solidFill>
                          <a:latin typeface="Times New Roman"/>
                        </a:rPr>
                        <a:t>–</a:t>
                      </a:r>
                    </a:p>
                  </a:txBody>
                  <a:tcPr marL="54864" marR="54864" marT="18288" marB="18288" anchor="ctr">
                    <a:solidFill>
                      <a:srgbClr val="FFFFFF"/>
                    </a:solidFill>
                  </a:tcPr>
                </a:tc>
              </a:tr>
              <a:tr h="393192">
                <a:tc>
                  <a:txBody>
                    <a:bodyPr wrap="square"/>
                    <a:lstStyle/>
                    <a:p>
                      <a:r>
                        <a:rPr sz="1200" b="0">
                          <a:solidFill>
                            <a:srgbClr val="1A1A1A"/>
                          </a:solidFill>
                          <a:latin typeface="Times New Roman"/>
                        </a:rPr>
                        <a:t>1148_2</a:t>
                      </a:r>
                    </a:p>
                  </a:txBody>
                  <a:tcPr marL="54864" marR="54864" marT="18288" marB="18288" anchor="ctr">
                    <a:solidFill>
                      <a:srgbClr val="ECECFA"/>
                    </a:solidFill>
                  </a:tcPr>
                </a:tc>
                <a:tc>
                  <a:txBody>
                    <a:bodyPr wrap="square"/>
                    <a:lstStyle/>
                    <a:p>
                      <a:r>
                        <a:rPr sz="1200" b="0">
                          <a:solidFill>
                            <a:srgbClr val="1A1A1A"/>
                          </a:solidFill>
                          <a:latin typeface="Times New Roman"/>
                        </a:rPr>
                        <a:t>R12</a:t>
                      </a:r>
                    </a:p>
                  </a:txBody>
                  <a:tcPr marL="54864" marR="54864" marT="18288" marB="18288" anchor="ctr">
                    <a:solidFill>
                      <a:srgbClr val="ECECFA"/>
                    </a:solidFill>
                  </a:tcPr>
                </a:tc>
                <a:tc>
                  <a:txBody>
                    <a:bodyPr wrap="square"/>
                    <a:lstStyle/>
                    <a:p>
                      <a:r>
                        <a:rPr sz="1200" b="0">
                          <a:solidFill>
                            <a:srgbClr val="1A1A1A"/>
                          </a:solidFill>
                          <a:latin typeface="Times New Roman"/>
                        </a:rPr>
                        <a:t>10.2 × 10.6</a:t>
                      </a:r>
                    </a:p>
                  </a:txBody>
                  <a:tcPr marL="54864" marR="54864" marT="18288" marB="18288" anchor="ctr">
                    <a:solidFill>
                      <a:srgbClr val="ECECFA"/>
                    </a:solidFill>
                  </a:tcPr>
                </a:tc>
                <a:tc>
                  <a:txBody>
                    <a:bodyPr wrap="square"/>
                    <a:lstStyle/>
                    <a:p>
                      <a:r>
                        <a:rPr sz="1200" b="0">
                          <a:solidFill>
                            <a:srgbClr val="1A1A1A"/>
                          </a:solidFill>
                          <a:latin typeface="Times New Roman"/>
                        </a:rPr>
                        <a:t>26.2</a:t>
                      </a:r>
                    </a:p>
                  </a:txBody>
                  <a:tcPr marL="54864" marR="54864" marT="18288" marB="18288" anchor="ctr">
                    <a:solidFill>
                      <a:srgbClr val="ECECFA"/>
                    </a:solidFill>
                  </a:tcPr>
                </a:tc>
                <a:tc>
                  <a:txBody>
                    <a:bodyPr wrap="square"/>
                    <a:lstStyle/>
                    <a:p>
                      <a:r>
                        <a:rPr sz="1200" b="0">
                          <a:solidFill>
                            <a:srgbClr val="1A1A1A"/>
                          </a:solidFill>
                          <a:latin typeface="Times New Roman"/>
                        </a:rPr>
                        <a:t>1.5</a:t>
                      </a:r>
                    </a:p>
                  </a:txBody>
                  <a:tcPr marL="54864" marR="54864" marT="18288" marB="18288" anchor="ctr">
                    <a:solidFill>
                      <a:srgbClr val="ECECFA"/>
                    </a:solidFill>
                  </a:tcPr>
                </a:tc>
                <a:tc>
                  <a:txBody>
                    <a:bodyPr wrap="square"/>
                    <a:lstStyle/>
                    <a:p>
                      <a:r>
                        <a:rPr sz="1200" b="0">
                          <a:solidFill>
                            <a:srgbClr val="1A1A1A"/>
                          </a:solidFill>
                          <a:latin typeface="Times New Roman"/>
                        </a:rPr>
                        <a:t>1.7</a:t>
                      </a:r>
                    </a:p>
                  </a:txBody>
                  <a:tcPr marL="54864" marR="54864" marT="18288" marB="18288" anchor="ctr">
                    <a:solidFill>
                      <a:srgbClr val="ECECFA"/>
                    </a:solidFill>
                  </a:tcPr>
                </a:tc>
                <a:tc>
                  <a:txBody>
                    <a:bodyPr wrap="square"/>
                    <a:lstStyle/>
                    <a:p>
                      <a:r>
                        <a:rPr sz="1200" b="0">
                          <a:solidFill>
                            <a:srgbClr val="1A1A1A"/>
                          </a:solidFill>
                          <a:latin typeface="Times New Roman"/>
                        </a:rPr>
                        <a:t>–</a:t>
                      </a:r>
                    </a:p>
                  </a:txBody>
                  <a:tcPr marL="54864" marR="54864" marT="18288" marB="18288" anchor="ctr">
                    <a:solidFill>
                      <a:srgbClr val="ECECFA"/>
                    </a:solidFill>
                  </a:tcPr>
                </a:tc>
              </a:tr>
              <a:tr h="393192">
                <a:tc>
                  <a:txBody>
                    <a:bodyPr wrap="square"/>
                    <a:lstStyle/>
                    <a:p>
                      <a:r>
                        <a:rPr sz="1200" b="0">
                          <a:solidFill>
                            <a:srgbClr val="1A1A1A"/>
                          </a:solidFill>
                          <a:latin typeface="Times New Roman"/>
                        </a:rPr>
                        <a:t>1148_3</a:t>
                      </a:r>
                    </a:p>
                  </a:txBody>
                  <a:tcPr marL="54864" marR="54864" marT="18288" marB="18288" anchor="ctr">
                    <a:solidFill>
                      <a:srgbClr val="FFFFFF"/>
                    </a:solidFill>
                  </a:tcPr>
                </a:tc>
                <a:tc>
                  <a:txBody>
                    <a:bodyPr wrap="square"/>
                    <a:lstStyle/>
                    <a:p>
                      <a:r>
                        <a:rPr sz="1200" b="0">
                          <a:solidFill>
                            <a:srgbClr val="1A1A1A"/>
                          </a:solidFill>
                          <a:latin typeface="Times New Roman"/>
                        </a:rPr>
                        <a:t>R13</a:t>
                      </a:r>
                    </a:p>
                  </a:txBody>
                  <a:tcPr marL="54864" marR="54864" marT="18288" marB="18288" anchor="ctr">
                    <a:solidFill>
                      <a:srgbClr val="FFFFFF"/>
                    </a:solidFill>
                  </a:tcPr>
                </a:tc>
                <a:tc>
                  <a:txBody>
                    <a:bodyPr wrap="square"/>
                    <a:lstStyle/>
                    <a:p>
                      <a:r>
                        <a:rPr sz="1200" b="0">
                          <a:solidFill>
                            <a:srgbClr val="1A1A1A"/>
                          </a:solidFill>
                          <a:latin typeface="Times New Roman"/>
                        </a:rPr>
                        <a:t>10.7 × 12.3</a:t>
                      </a:r>
                    </a:p>
                  </a:txBody>
                  <a:tcPr marL="54864" marR="54864" marT="18288" marB="18288" anchor="ctr">
                    <a:solidFill>
                      <a:srgbClr val="FFFFFF"/>
                    </a:solidFill>
                  </a:tcPr>
                </a:tc>
                <a:tc>
                  <a:txBody>
                    <a:bodyPr wrap="square"/>
                    <a:lstStyle/>
                    <a:p>
                      <a:r>
                        <a:rPr sz="1200" b="0">
                          <a:solidFill>
                            <a:srgbClr val="1A1A1A"/>
                          </a:solidFill>
                          <a:latin typeface="Times New Roman"/>
                        </a:rPr>
                        <a:t>63.8</a:t>
                      </a:r>
                    </a:p>
                  </a:txBody>
                  <a:tcPr marL="54864" marR="54864" marT="18288" marB="18288" anchor="ctr">
                    <a:solidFill>
                      <a:srgbClr val="FFFFFF"/>
                    </a:solidFill>
                  </a:tcPr>
                </a:tc>
                <a:tc>
                  <a:txBody>
                    <a:bodyPr wrap="square"/>
                    <a:lstStyle/>
                    <a:p>
                      <a:r>
                        <a:rPr sz="1200" b="0">
                          <a:solidFill>
                            <a:srgbClr val="1A1A1A"/>
                          </a:solidFill>
                          <a:latin typeface="Times New Roman"/>
                        </a:rPr>
                        <a:t>4.8</a:t>
                      </a:r>
                    </a:p>
                  </a:txBody>
                  <a:tcPr marL="54864" marR="54864" marT="18288" marB="18288" anchor="ctr">
                    <a:solidFill>
                      <a:srgbClr val="FFFFFF"/>
                    </a:solidFill>
                  </a:tcPr>
                </a:tc>
                <a:tc>
                  <a:txBody>
                    <a:bodyPr wrap="square"/>
                    <a:lstStyle/>
                    <a:p>
                      <a:r>
                        <a:rPr sz="1200" b="0">
                          <a:solidFill>
                            <a:srgbClr val="1A1A1A"/>
                          </a:solidFill>
                          <a:latin typeface="Times New Roman"/>
                        </a:rPr>
                        <a:t>9.9</a:t>
                      </a:r>
                    </a:p>
                  </a:txBody>
                  <a:tcPr marL="54864" marR="54864" marT="18288" marB="18288" anchor="ctr">
                    <a:solidFill>
                      <a:srgbClr val="FFFFFF"/>
                    </a:solidFill>
                  </a:tcPr>
                </a:tc>
                <a:tc>
                  <a:txBody>
                    <a:bodyPr wrap="square"/>
                    <a:lstStyle/>
                    <a:p>
                      <a:r>
                        <a:rPr sz="1200" b="0">
                          <a:solidFill>
                            <a:srgbClr val="1A1A1A"/>
                          </a:solidFill>
                          <a:latin typeface="Times New Roman"/>
                        </a:rPr>
                        <a:t>–</a:t>
                      </a:r>
                    </a:p>
                  </a:txBody>
                  <a:tcPr marL="54864" marR="54864" marT="18288" marB="18288" anchor="ctr">
                    <a:solidFill>
                      <a:srgbClr val="FFFFFF"/>
                    </a:solidFill>
                  </a:tcPr>
                </a:tc>
              </a:tr>
              <a:tr h="393192">
                <a:tc>
                  <a:txBody>
                    <a:bodyPr wrap="square"/>
                    <a:lstStyle/>
                    <a:p>
                      <a:r>
                        <a:rPr sz="1200" b="0">
                          <a:solidFill>
                            <a:srgbClr val="1A1A1A"/>
                          </a:solidFill>
                          <a:latin typeface="Times New Roman"/>
                        </a:rPr>
                        <a:t>1148_4</a:t>
                      </a:r>
                    </a:p>
                  </a:txBody>
                  <a:tcPr marL="54864" marR="54864" marT="18288" marB="18288" anchor="ctr">
                    <a:solidFill>
                      <a:srgbClr val="ECECFA"/>
                    </a:solidFill>
                  </a:tcPr>
                </a:tc>
                <a:tc>
                  <a:txBody>
                    <a:bodyPr wrap="square"/>
                    <a:lstStyle/>
                    <a:p>
                      <a:r>
                        <a:rPr sz="1200" b="0">
                          <a:solidFill>
                            <a:srgbClr val="1A1A1A"/>
                          </a:solidFill>
                          <a:latin typeface="Times New Roman"/>
                        </a:rPr>
                        <a:t>R14</a:t>
                      </a:r>
                    </a:p>
                  </a:txBody>
                  <a:tcPr marL="54864" marR="54864" marT="18288" marB="18288" anchor="ctr">
                    <a:solidFill>
                      <a:srgbClr val="ECECFA"/>
                    </a:solidFill>
                  </a:tcPr>
                </a:tc>
                <a:tc>
                  <a:txBody>
                    <a:bodyPr wrap="square"/>
                    <a:lstStyle/>
                    <a:p>
                      <a:r>
                        <a:rPr sz="1200" b="0">
                          <a:solidFill>
                            <a:srgbClr val="1A1A1A"/>
                          </a:solidFill>
                          <a:latin typeface="Times New Roman"/>
                        </a:rPr>
                        <a:t>9.8 × 10.9</a:t>
                      </a:r>
                    </a:p>
                  </a:txBody>
                  <a:tcPr marL="54864" marR="54864" marT="18288" marB="18288" anchor="ctr">
                    <a:solidFill>
                      <a:srgbClr val="ECECFA"/>
                    </a:solidFill>
                  </a:tcPr>
                </a:tc>
                <a:tc>
                  <a:txBody>
                    <a:bodyPr wrap="square"/>
                    <a:lstStyle/>
                    <a:p>
                      <a:r>
                        <a:rPr sz="1200" b="0">
                          <a:solidFill>
                            <a:srgbClr val="1A1A1A"/>
                          </a:solidFill>
                          <a:latin typeface="Times New Roman"/>
                        </a:rPr>
                        <a:t>47.8</a:t>
                      </a:r>
                    </a:p>
                  </a:txBody>
                  <a:tcPr marL="54864" marR="54864" marT="18288" marB="18288" anchor="ctr">
                    <a:solidFill>
                      <a:srgbClr val="ECECFA"/>
                    </a:solidFill>
                  </a:tcPr>
                </a:tc>
                <a:tc>
                  <a:txBody>
                    <a:bodyPr wrap="square"/>
                    <a:lstStyle/>
                    <a:p>
                      <a:r>
                        <a:rPr sz="1200" b="0">
                          <a:solidFill>
                            <a:srgbClr val="1A1A1A"/>
                          </a:solidFill>
                          <a:latin typeface="Times New Roman"/>
                        </a:rPr>
                        <a:t>3.4</a:t>
                      </a:r>
                    </a:p>
                  </a:txBody>
                  <a:tcPr marL="54864" marR="54864" marT="18288" marB="18288" anchor="ctr">
                    <a:solidFill>
                      <a:srgbClr val="ECECFA"/>
                    </a:solidFill>
                  </a:tcPr>
                </a:tc>
                <a:tc>
                  <a:txBody>
                    <a:bodyPr wrap="square"/>
                    <a:lstStyle/>
                    <a:p>
                      <a:r>
                        <a:rPr sz="1200" b="0">
                          <a:solidFill>
                            <a:srgbClr val="1A1A1A"/>
                          </a:solidFill>
                          <a:latin typeface="Times New Roman"/>
                        </a:rPr>
                        <a:t>3.5</a:t>
                      </a:r>
                    </a:p>
                  </a:txBody>
                  <a:tcPr marL="54864" marR="54864" marT="18288" marB="18288" anchor="ctr">
                    <a:solidFill>
                      <a:srgbClr val="ECECFA"/>
                    </a:solidFill>
                  </a:tcPr>
                </a:tc>
                <a:tc>
                  <a:txBody>
                    <a:bodyPr wrap="square"/>
                    <a:lstStyle/>
                    <a:p>
                      <a:r>
                        <a:rPr sz="1200" b="0">
                          <a:solidFill>
                            <a:srgbClr val="1A1A1A"/>
                          </a:solidFill>
                          <a:latin typeface="Times New Roman"/>
                        </a:rPr>
                        <a:t>–</a:t>
                      </a:r>
                    </a:p>
                  </a:txBody>
                  <a:tcPr marL="54864" marR="54864" marT="18288" marB="18288" anchor="ctr">
                    <a:solidFill>
                      <a:srgbClr val="ECECFA"/>
                    </a:solidFill>
                  </a:tcPr>
                </a:tc>
              </a:tr>
              <a:tr h="393192">
                <a:tc>
                  <a:txBody>
                    <a:bodyPr wrap="square"/>
                    <a:lstStyle/>
                    <a:p>
                      <a:r>
                        <a:rPr sz="1200" b="0">
                          <a:solidFill>
                            <a:srgbClr val="1A1A1A"/>
                          </a:solidFill>
                          <a:latin typeface="Times New Roman"/>
                        </a:rPr>
                        <a:t>1237_success</a:t>
                      </a:r>
                    </a:p>
                  </a:txBody>
                  <a:tcPr marL="54864" marR="54864" marT="18288" marB="18288" anchor="ctr">
                    <a:solidFill>
                      <a:srgbClr val="FFFFFF"/>
                    </a:solidFill>
                  </a:tcPr>
                </a:tc>
                <a:tc>
                  <a:txBody>
                    <a:bodyPr wrap="square"/>
                    <a:lstStyle/>
                    <a:p>
                      <a:r>
                        <a:rPr sz="1200" b="0">
                          <a:solidFill>
                            <a:srgbClr val="1A1A1A"/>
                          </a:solidFill>
                          <a:latin typeface="Times New Roman"/>
                        </a:rPr>
                        <a:t>R16</a:t>
                      </a:r>
                    </a:p>
                  </a:txBody>
                  <a:tcPr marL="54864" marR="54864" marT="18288" marB="18288" anchor="ctr">
                    <a:solidFill>
                      <a:srgbClr val="FFFFFF"/>
                    </a:solidFill>
                  </a:tcPr>
                </a:tc>
                <a:tc>
                  <a:txBody>
                    <a:bodyPr wrap="square"/>
                    <a:lstStyle/>
                    <a:p>
                      <a:r>
                        <a:rPr sz="1200" b="0">
                          <a:solidFill>
                            <a:srgbClr val="1A1A1A"/>
                          </a:solidFill>
                          <a:latin typeface="Times New Roman"/>
                        </a:rPr>
                        <a:t>10.6 × 11.2</a:t>
                      </a:r>
                    </a:p>
                  </a:txBody>
                  <a:tcPr marL="54864" marR="54864" marT="18288" marB="18288" anchor="ctr">
                    <a:solidFill>
                      <a:srgbClr val="FFFFFF"/>
                    </a:solidFill>
                  </a:tcPr>
                </a:tc>
                <a:tc>
                  <a:txBody>
                    <a:bodyPr wrap="square"/>
                    <a:lstStyle/>
                    <a:p>
                      <a:r>
                        <a:rPr sz="1200" b="0">
                          <a:solidFill>
                            <a:srgbClr val="1A1A1A"/>
                          </a:solidFill>
                          <a:latin typeface="Times New Roman"/>
                        </a:rPr>
                        <a:t>38.3</a:t>
                      </a:r>
                    </a:p>
                  </a:txBody>
                  <a:tcPr marL="54864" marR="54864" marT="18288" marB="18288" anchor="ctr">
                    <a:solidFill>
                      <a:srgbClr val="FFFFFF"/>
                    </a:solidFill>
                  </a:tcPr>
                </a:tc>
                <a:tc>
                  <a:txBody>
                    <a:bodyPr wrap="square"/>
                    <a:lstStyle/>
                    <a:p>
                      <a:r>
                        <a:rPr sz="1200" b="0">
                          <a:solidFill>
                            <a:srgbClr val="1A1A1A"/>
                          </a:solidFill>
                          <a:latin typeface="Times New Roman"/>
                        </a:rPr>
                        <a:t>2.4</a:t>
                      </a:r>
                    </a:p>
                  </a:txBody>
                  <a:tcPr marL="54864" marR="54864" marT="18288" marB="18288" anchor="ctr">
                    <a:solidFill>
                      <a:srgbClr val="FFFFFF"/>
                    </a:solidFill>
                  </a:tcPr>
                </a:tc>
                <a:tc>
                  <a:txBody>
                    <a:bodyPr wrap="square"/>
                    <a:lstStyle/>
                    <a:p>
                      <a:r>
                        <a:rPr sz="1200" b="0">
                          <a:solidFill>
                            <a:srgbClr val="1A1A1A"/>
                          </a:solidFill>
                          <a:latin typeface="Times New Roman"/>
                        </a:rPr>
                        <a:t>7.7</a:t>
                      </a:r>
                    </a:p>
                  </a:txBody>
                  <a:tcPr marL="54864" marR="54864" marT="18288" marB="18288" anchor="ctr">
                    <a:solidFill>
                      <a:srgbClr val="FFFFFF"/>
                    </a:solidFill>
                  </a:tcPr>
                </a:tc>
                <a:tc>
                  <a:txBody>
                    <a:bodyPr wrap="square"/>
                    <a:lstStyle/>
                    <a:p>
                      <a:r>
                        <a:rPr sz="1200" b="0">
                          <a:solidFill>
                            <a:srgbClr val="1A1A1A"/>
                          </a:solidFill>
                          <a:latin typeface="Times New Roman"/>
                        </a:rPr>
                        <a:t>–</a:t>
                      </a:r>
                    </a:p>
                  </a:txBody>
                  <a:tcPr marL="54864" marR="54864" marT="18288" marB="18288" anchor="ctr">
                    <a:solidFill>
                      <a:srgbClr val="FFFFFF"/>
                    </a:solidFill>
                  </a:tcPr>
                </a:tc>
              </a:tr>
              <a:tr h="393192">
                <a:tc>
                  <a:txBody>
                    <a:bodyPr wrap="square"/>
                    <a:lstStyle/>
                    <a:p>
                      <a:r>
                        <a:rPr sz="1200" b="0">
                          <a:solidFill>
                            <a:srgbClr val="1A1A1A"/>
                          </a:solidFill>
                          <a:latin typeface="Times New Roman"/>
                        </a:rPr>
                        <a:t>1249_success2</a:t>
                      </a:r>
                    </a:p>
                  </a:txBody>
                  <a:tcPr marL="54864" marR="54864" marT="18288" marB="18288" anchor="ctr">
                    <a:solidFill>
                      <a:srgbClr val="ECECFA"/>
                    </a:solidFill>
                  </a:tcPr>
                </a:tc>
                <a:tc>
                  <a:txBody>
                    <a:bodyPr wrap="square"/>
                    <a:lstStyle/>
                    <a:p>
                      <a:r>
                        <a:rPr sz="1200" b="0">
                          <a:solidFill>
                            <a:srgbClr val="1A1A1A"/>
                          </a:solidFill>
                          <a:latin typeface="Times New Roman"/>
                        </a:rPr>
                        <a:t>R17</a:t>
                      </a:r>
                    </a:p>
                  </a:txBody>
                  <a:tcPr marL="54864" marR="54864" marT="18288" marB="18288" anchor="ctr">
                    <a:solidFill>
                      <a:srgbClr val="ECECFA"/>
                    </a:solidFill>
                  </a:tcPr>
                </a:tc>
                <a:tc>
                  <a:txBody>
                    <a:bodyPr wrap="square"/>
                    <a:lstStyle/>
                    <a:p>
                      <a:r>
                        <a:rPr sz="1200" b="0">
                          <a:solidFill>
                            <a:srgbClr val="1A1A1A"/>
                          </a:solidFill>
                          <a:latin typeface="Times New Roman"/>
                        </a:rPr>
                        <a:t>10.6 × 10.3</a:t>
                      </a:r>
                    </a:p>
                  </a:txBody>
                  <a:tcPr marL="54864" marR="54864" marT="18288" marB="18288" anchor="ctr">
                    <a:solidFill>
                      <a:srgbClr val="ECECFA"/>
                    </a:solidFill>
                  </a:tcPr>
                </a:tc>
                <a:tc>
                  <a:txBody>
                    <a:bodyPr wrap="square"/>
                    <a:lstStyle/>
                    <a:p>
                      <a:r>
                        <a:rPr sz="1200" b="0">
                          <a:solidFill>
                            <a:srgbClr val="1A1A1A"/>
                          </a:solidFill>
                          <a:latin typeface="Times New Roman"/>
                        </a:rPr>
                        <a:t>36.4</a:t>
                      </a:r>
                    </a:p>
                  </a:txBody>
                  <a:tcPr marL="54864" marR="54864" marT="18288" marB="18288" anchor="ctr">
                    <a:solidFill>
                      <a:srgbClr val="ECECFA"/>
                    </a:solidFill>
                  </a:tcPr>
                </a:tc>
                <a:tc>
                  <a:txBody>
                    <a:bodyPr wrap="square"/>
                    <a:lstStyle/>
                    <a:p>
                      <a:r>
                        <a:rPr sz="1200" b="0">
                          <a:solidFill>
                            <a:srgbClr val="1A1A1A"/>
                          </a:solidFill>
                          <a:latin typeface="Times New Roman"/>
                        </a:rPr>
                        <a:t>2.6</a:t>
                      </a:r>
                    </a:p>
                  </a:txBody>
                  <a:tcPr marL="54864" marR="54864" marT="18288" marB="18288" anchor="ctr">
                    <a:solidFill>
                      <a:srgbClr val="ECECFA"/>
                    </a:solidFill>
                  </a:tcPr>
                </a:tc>
                <a:tc>
                  <a:txBody>
                    <a:bodyPr wrap="square"/>
                    <a:lstStyle/>
                    <a:p>
                      <a:r>
                        <a:rPr sz="1200" b="0">
                          <a:solidFill>
                            <a:srgbClr val="1A1A1A"/>
                          </a:solidFill>
                          <a:latin typeface="Times New Roman"/>
                        </a:rPr>
                        <a:t>12.8</a:t>
                      </a:r>
                    </a:p>
                  </a:txBody>
                  <a:tcPr marL="54864" marR="54864" marT="18288" marB="18288" anchor="ctr">
                    <a:solidFill>
                      <a:srgbClr val="ECECFA"/>
                    </a:solidFill>
                  </a:tcPr>
                </a:tc>
                <a:tc>
                  <a:txBody>
                    <a:bodyPr wrap="square"/>
                    <a:lstStyle/>
                    <a:p>
                      <a:r>
                        <a:rPr sz="1200" b="0">
                          <a:solidFill>
                            <a:srgbClr val="1A1A1A"/>
                          </a:solidFill>
                          <a:latin typeface="Times New Roman"/>
                        </a:rPr>
                        <a:t>211 s</a:t>
                      </a:r>
                    </a:p>
                  </a:txBody>
                  <a:tcPr marL="54864" marR="54864" marT="18288" marB="18288" anchor="ctr">
                    <a:solidFill>
                      <a:srgbClr val="ECECFA"/>
                    </a:solidFill>
                  </a:tcPr>
                </a:tc>
              </a:tr>
              <a:tr h="393192">
                <a:tc>
                  <a:txBody>
                    <a:bodyPr wrap="square"/>
                    <a:lstStyle/>
                    <a:p>
                      <a:r>
                        <a:rPr sz="1200" b="0">
                          <a:solidFill>
                            <a:srgbClr val="1A1A1A"/>
                          </a:solidFill>
                          <a:latin typeface="Times New Roman"/>
                        </a:rPr>
                        <a:t>1249_success3</a:t>
                      </a:r>
                    </a:p>
                  </a:txBody>
                  <a:tcPr marL="54864" marR="54864" marT="18288" marB="18288" anchor="ctr">
                    <a:solidFill>
                      <a:srgbClr val="FFFFFF"/>
                    </a:solidFill>
                  </a:tcPr>
                </a:tc>
                <a:tc>
                  <a:txBody>
                    <a:bodyPr wrap="square"/>
                    <a:lstStyle/>
                    <a:p>
                      <a:r>
                        <a:rPr sz="1200" b="0">
                          <a:solidFill>
                            <a:srgbClr val="1A1A1A"/>
                          </a:solidFill>
                          <a:latin typeface="Times New Roman"/>
                        </a:rPr>
                        <a:t>R18</a:t>
                      </a:r>
                    </a:p>
                  </a:txBody>
                  <a:tcPr marL="54864" marR="54864" marT="18288" marB="18288" anchor="ctr">
                    <a:solidFill>
                      <a:srgbClr val="FFFFFF"/>
                    </a:solidFill>
                  </a:tcPr>
                </a:tc>
                <a:tc>
                  <a:txBody>
                    <a:bodyPr wrap="square"/>
                    <a:lstStyle/>
                    <a:p>
                      <a:r>
                        <a:rPr sz="1200" b="0">
                          <a:solidFill>
                            <a:srgbClr val="1A1A1A"/>
                          </a:solidFill>
                          <a:latin typeface="Times New Roman"/>
                        </a:rPr>
                        <a:t>10.6 × 10.6</a:t>
                      </a:r>
                    </a:p>
                  </a:txBody>
                  <a:tcPr marL="54864" marR="54864" marT="18288" marB="18288" anchor="ctr">
                    <a:solidFill>
                      <a:srgbClr val="FFFFFF"/>
                    </a:solidFill>
                  </a:tcPr>
                </a:tc>
                <a:tc>
                  <a:txBody>
                    <a:bodyPr wrap="square"/>
                    <a:lstStyle/>
                    <a:p>
                      <a:r>
                        <a:rPr sz="1200" b="0">
                          <a:solidFill>
                            <a:srgbClr val="1A1A1A"/>
                          </a:solidFill>
                          <a:latin typeface="Times New Roman"/>
                        </a:rPr>
                        <a:t>35.3</a:t>
                      </a:r>
                    </a:p>
                  </a:txBody>
                  <a:tcPr marL="54864" marR="54864" marT="18288" marB="18288" anchor="ctr">
                    <a:solidFill>
                      <a:srgbClr val="FFFFFF"/>
                    </a:solidFill>
                  </a:tcPr>
                </a:tc>
                <a:tc>
                  <a:txBody>
                    <a:bodyPr wrap="square"/>
                    <a:lstStyle/>
                    <a:p>
                      <a:r>
                        <a:rPr sz="1200" b="0">
                          <a:solidFill>
                            <a:srgbClr val="1A1A1A"/>
                          </a:solidFill>
                          <a:latin typeface="Times New Roman"/>
                        </a:rPr>
                        <a:t>2.6</a:t>
                      </a:r>
                    </a:p>
                  </a:txBody>
                  <a:tcPr marL="54864" marR="54864" marT="18288" marB="18288" anchor="ctr">
                    <a:solidFill>
                      <a:srgbClr val="FFFFFF"/>
                    </a:solidFill>
                  </a:tcPr>
                </a:tc>
                <a:tc>
                  <a:txBody>
                    <a:bodyPr wrap="square"/>
                    <a:lstStyle/>
                    <a:p>
                      <a:r>
                        <a:rPr sz="1200" b="0">
                          <a:solidFill>
                            <a:srgbClr val="1A1A1A"/>
                          </a:solidFill>
                          <a:latin typeface="Times New Roman"/>
                        </a:rPr>
                        <a:t>10.3</a:t>
                      </a:r>
                    </a:p>
                  </a:txBody>
                  <a:tcPr marL="54864" marR="54864" marT="18288" marB="18288" anchor="ctr">
                    <a:solidFill>
                      <a:srgbClr val="FFFFFF"/>
                    </a:solidFill>
                  </a:tcPr>
                </a:tc>
                <a:tc>
                  <a:txBody>
                    <a:bodyPr wrap="square"/>
                    <a:lstStyle/>
                    <a:p>
                      <a:r>
                        <a:rPr sz="1200" b="0">
                          <a:solidFill>
                            <a:srgbClr val="1A1A1A"/>
                          </a:solidFill>
                          <a:latin typeface="Times New Roman"/>
                        </a:rPr>
                        <a:t>130 s</a:t>
                      </a:r>
                    </a:p>
                  </a:txBody>
                  <a:tcPr marL="54864" marR="54864" marT="18288" marB="18288" anchor="ctr">
                    <a:solidFill>
                      <a:srgbClr val="FFFFFF"/>
                    </a:solidFill>
                  </a:tcPr>
                </a:tc>
              </a:tr>
            </a:tbl>
          </a:graphicData>
        </a:graphic>
      </p:graphicFrame>
      <p:sp>
        <p:nvSpPr>
          <p:cNvPr id="17" name="Rounded Rectangle 16"/>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Every map is also plotted with metric axes, path and goals in figures/maps.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0492C72-D173-01F5-8D31-CE88A3CE890D}"/>
              </a:ext>
            </a:extLst>
          </p:cNvPr>
          <p:cNvSpPr txBox="1"/>
          <p:nvPr/>
        </p:nvSpPr>
        <p:spPr>
          <a:xfrm>
            <a:off x="0" y="0"/>
            <a:ext cx="9144000" cy="938719"/>
          </a:xfrm>
          <a:prstGeom prst="rect">
            <a:avLst/>
          </a:prstGeom>
          <a:solidFill>
            <a:srgbClr val="0000CC"/>
          </a:solidFill>
        </p:spPr>
        <p:txBody>
          <a:bodyPr wrap="square">
            <a:spAutoFit/>
          </a:bodyPr>
          <a:lstStyle/>
          <a:p>
            <a:pPr algn="just"/>
            <a:r>
              <a:rPr lang="en-US" sz="3000" b="1" dirty="0">
                <a:solidFill>
                  <a:schemeClr val="bg1"/>
                </a:solidFill>
                <a:latin typeface="Times" panose="02020603050405020304" pitchFamily="18" charset="0"/>
                <a:ea typeface="+mn-ea"/>
                <a:cs typeface="Times" panose="02020603050405020304" pitchFamily="18" charset="0"/>
              </a:rPr>
              <a:t>Findings and Next Steps</a:t>
            </a:r>
          </a:p>
          <a:p>
            <a:pPr algn="just"/>
            <a:r>
              <a:rPr lang="en-US" sz="2500" dirty="0">
                <a:solidFill>
                  <a:srgbClr val="FFFFFF"/>
                </a:solidFill>
                <a:latin typeface="Times" panose="02020603050405020304" pitchFamily="18" charset="0"/>
                <a:cs typeface="Times" panose="02020603050405020304" pitchFamily="18" charset="0"/>
              </a:rPr>
              <a:t>What to change before the next session</a:t>
            </a:r>
            <a:endParaRPr lang="en-US" sz="2500" dirty="0">
              <a:solidFill>
                <a:schemeClr val="bg1"/>
              </a:solidFill>
              <a:latin typeface="Times" panose="02020603050405020304" pitchFamily="18" charset="0"/>
              <a:cs typeface="Times" panose="02020603050405020304" pitchFamily="18" charset="0"/>
            </a:endParaRPr>
          </a:p>
        </p:txBody>
      </p:sp>
      <p:sp>
        <p:nvSpPr>
          <p:cNvPr id="12" name="Title 1">
            <a:extLst>
              <a:ext uri="{FF2B5EF4-FFF2-40B4-BE49-F238E27FC236}">
                <a16:creationId xmlns:a16="http://schemas.microsoft.com/office/drawing/2014/main" id="{398F1447-5DFC-B0E2-9024-385F2029D0E3}"/>
              </a:ext>
            </a:extLst>
          </p:cNvPr>
          <p:cNvSpPr txBox="1">
            <a:spLocks/>
          </p:cNvSpPr>
          <p:nvPr/>
        </p:nvSpPr>
        <p:spPr>
          <a:xfrm>
            <a:off x="0" y="6482687"/>
            <a:ext cx="9144000" cy="375313"/>
          </a:xfrm>
          <a:prstGeom prst="rect">
            <a:avLst/>
          </a:prstGeom>
          <a:solidFill>
            <a:srgbClr val="0000CC"/>
          </a:solidFill>
        </p:spPr>
        <p:txBody>
          <a:bodyPr vert="horz" lIns="91440" tIns="45720" rIns="91440" bIns="45720" rtlCol="0" anchor="t">
            <a:noAutofit/>
          </a:bodyPr>
          <a:lstStyle>
            <a:lvl1pPr algn="l" defTabSz="914400" rtl="0" eaLnBrk="1" latinLnBrk="0" hangingPunct="1">
              <a:lnSpc>
                <a:spcPct val="90000"/>
              </a:lnSpc>
              <a:spcBef>
                <a:spcPct val="0"/>
              </a:spcBef>
              <a:buNone/>
              <a:defRPr sz="4800" kern="1200">
                <a:solidFill>
                  <a:srgbClr val="CC0633"/>
                </a:solidFill>
                <a:latin typeface="Impact" panose="020B0806030902050204" pitchFamily="34" charset="0"/>
                <a:ea typeface="+mj-ea"/>
                <a:cs typeface="+mj-cs"/>
              </a:defRPr>
            </a:lvl1pPr>
          </a:lstStyle>
          <a:p>
            <a:pPr algn="ctr"/>
            <a:r>
              <a:rPr lang="en-US" sz="1800" dirty="0">
                <a:solidFill>
                  <a:schemeClr val="bg1"/>
                </a:solidFill>
                <a:latin typeface="Times"/>
                <a:ea typeface="+mn-ea"/>
                <a:cs typeface="Times"/>
              </a:rPr>
              <a:t>14</a:t>
            </a:r>
            <a:endParaRPr lang="en-US" sz="1800" dirty="0">
              <a:solidFill>
                <a:schemeClr val="bg1"/>
              </a:solidFill>
              <a:latin typeface="Times" panose="02020603050405020304" pitchFamily="18" charset="0"/>
              <a:cs typeface="Times" panose="02020603050405020304" pitchFamily="18" charset="0"/>
            </a:endParaRPr>
          </a:p>
        </p:txBody>
      </p:sp>
      <p:sp>
        <p:nvSpPr>
          <p:cNvPr id="14" name="TextBox 13">
            <a:extLst>
              <a:ext uri="{FF2B5EF4-FFF2-40B4-BE49-F238E27FC236}">
                <a16:creationId xmlns:a16="http://schemas.microsoft.com/office/drawing/2014/main" id="{BF6CBD28-7210-3736-DCEA-A2CEC35262BE}"/>
              </a:ext>
            </a:extLst>
          </p:cNvPr>
          <p:cNvSpPr txBox="1"/>
          <p:nvPr/>
        </p:nvSpPr>
        <p:spPr>
          <a:xfrm>
            <a:off x="-34290" y="6516454"/>
            <a:ext cx="403479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Motion and Power Electronics Control (MPEC) Lab</a:t>
            </a:r>
          </a:p>
        </p:txBody>
      </p:sp>
      <p:sp>
        <p:nvSpPr>
          <p:cNvPr id="15" name="TextBox 14">
            <a:extLst>
              <a:ext uri="{FF2B5EF4-FFF2-40B4-BE49-F238E27FC236}">
                <a16:creationId xmlns:a16="http://schemas.microsoft.com/office/drawing/2014/main" id="{EE981ABF-4345-0054-8784-A0D8207F0942}"/>
              </a:ext>
            </a:extLst>
          </p:cNvPr>
          <p:cNvSpPr txBox="1"/>
          <p:nvPr/>
        </p:nvSpPr>
        <p:spPr>
          <a:xfrm>
            <a:off x="4669127" y="6517927"/>
            <a:ext cx="4572000" cy="276999"/>
          </a:xfrm>
          <a:prstGeom prst="rect">
            <a:avLst/>
          </a:prstGeom>
          <a:noFill/>
        </p:spPr>
        <p:txBody>
          <a:bodyPr wrap="square">
            <a:spAutoFit/>
          </a:bodyPr>
          <a:lstStyle/>
          <a:p>
            <a:pPr algn="ctr"/>
            <a:r>
              <a:rPr lang="en-GB" sz="1200" b="0" dirty="0">
                <a:solidFill>
                  <a:schemeClr val="bg1"/>
                </a:solidFill>
                <a:latin typeface="Times" panose="02020603050405020304" pitchFamily="18" charset="0"/>
                <a:cs typeface="+mj-cs"/>
              </a:rPr>
              <a:t>BCIT Centre for Welding Technologies and Metallurgy Research</a:t>
            </a:r>
          </a:p>
        </p:txBody>
      </p:sp>
      <p:sp>
        <p:nvSpPr>
          <p:cNvPr id="16" name="Rounded Rectangle 15"/>
          <p:cNvSpPr/>
          <p:nvPr/>
        </p:nvSpPr>
        <p:spPr>
          <a:xfrm>
            <a:off x="502920" y="1188720"/>
            <a:ext cx="8138160" cy="694944"/>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 y="1307592"/>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1</a:t>
            </a:r>
          </a:p>
        </p:txBody>
      </p:sp>
      <p:sp>
        <p:nvSpPr>
          <p:cNvPr id="18" name="TextBox 17"/>
          <p:cNvSpPr txBox="1"/>
          <p:nvPr/>
        </p:nvSpPr>
        <p:spPr>
          <a:xfrm>
            <a:off x="1234440" y="1188720"/>
            <a:ext cx="7269480" cy="694944"/>
          </a:xfrm>
          <a:prstGeom prst="rect">
            <a:avLst/>
          </a:prstGeom>
          <a:noFill/>
        </p:spPr>
        <p:txBody>
          <a:bodyPr wrap="square" anchor="ctr" lIns="45720" rIns="45720">
            <a:spAutoFit/>
          </a:bodyPr>
          <a:lstStyle/>
          <a:p>
            <a:pPr algn="l">
              <a:spcAft>
                <a:spcPts val="0"/>
              </a:spcAft>
            </a:pPr>
            <a:r>
              <a:rPr sz="1400" b="1" i="0">
                <a:solidFill>
                  <a:srgbClr val="0000CC"/>
                </a:solidFill>
                <a:latin typeface="Times New Roman"/>
              </a:rPr>
              <a:t>Works in a bounded area: </a:t>
            </a:r>
            <a:r>
              <a:rPr sz="1400" b="0" i="0">
                <a:solidFill>
                  <a:srgbClr val="1A1A1A"/>
                </a:solidFill>
                <a:latin typeface="Times New Roman"/>
              </a:rPr>
              <a:t>7 of 9 enclosure runs finished and drove home; last 6 runs: 0 failed goals</a:t>
            </a:r>
          </a:p>
        </p:txBody>
      </p:sp>
      <p:sp>
        <p:nvSpPr>
          <p:cNvPr id="19" name="Rounded Rectangle 18"/>
          <p:cNvSpPr/>
          <p:nvPr/>
        </p:nvSpPr>
        <p:spPr>
          <a:xfrm>
            <a:off x="502920" y="1993392"/>
            <a:ext cx="8138160" cy="694944"/>
          </a:xfrm>
          <a:prstGeom prst="roundRect">
            <a:avLst>
              <a:gd name="adj" fmla="val 8000"/>
            </a:avLst>
          </a:prstGeom>
          <a:solidFill>
            <a:srgbClr val="FB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0080" y="2112264"/>
            <a:ext cx="457200" cy="457200"/>
          </a:xfrm>
          <a:prstGeom prst="ellipse">
            <a:avLst/>
          </a:prstGeom>
          <a:solidFill>
            <a:srgbClr val="CC06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2</a:t>
            </a:r>
          </a:p>
        </p:txBody>
      </p:sp>
      <p:sp>
        <p:nvSpPr>
          <p:cNvPr id="21" name="TextBox 20"/>
          <p:cNvSpPr txBox="1"/>
          <p:nvPr/>
        </p:nvSpPr>
        <p:spPr>
          <a:xfrm>
            <a:off x="1234440" y="1993392"/>
            <a:ext cx="7269480" cy="694944"/>
          </a:xfrm>
          <a:prstGeom prst="rect">
            <a:avLst/>
          </a:prstGeom>
          <a:noFill/>
        </p:spPr>
        <p:txBody>
          <a:bodyPr wrap="square" anchor="ctr" lIns="45720" rIns="45720">
            <a:spAutoFit/>
          </a:bodyPr>
          <a:lstStyle/>
          <a:p>
            <a:pPr algn="l">
              <a:spcAft>
                <a:spcPts val="0"/>
              </a:spcAft>
            </a:pPr>
            <a:r>
              <a:rPr sz="1400" b="1" i="0">
                <a:solidFill>
                  <a:srgbClr val="CC0633"/>
                </a:solidFill>
                <a:latin typeface="Times New Roman"/>
              </a:rPr>
              <a:t>Open areas: Nav2 aborts: </a:t>
            </a:r>
            <a:r>
              <a:rPr sz="1400" b="0" i="0">
                <a:solidFill>
                  <a:srgbClr val="1A1A1A"/>
                </a:solidFill>
                <a:latin typeface="Times New Roman"/>
              </a:rPr>
              <a:t>log the abort reason and costmap per failed goal; try a smaller inflation</a:t>
            </a:r>
          </a:p>
        </p:txBody>
      </p:sp>
      <p:sp>
        <p:nvSpPr>
          <p:cNvPr id="22" name="Rounded Rectangle 21"/>
          <p:cNvSpPr/>
          <p:nvPr/>
        </p:nvSpPr>
        <p:spPr>
          <a:xfrm>
            <a:off x="502920" y="2798064"/>
            <a:ext cx="8138160" cy="694944"/>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0080" y="2916936"/>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3</a:t>
            </a:r>
          </a:p>
        </p:txBody>
      </p:sp>
      <p:sp>
        <p:nvSpPr>
          <p:cNvPr id="24" name="TextBox 23"/>
          <p:cNvSpPr txBox="1"/>
          <p:nvPr/>
        </p:nvSpPr>
        <p:spPr>
          <a:xfrm>
            <a:off x="1234440" y="2798064"/>
            <a:ext cx="7269480" cy="694944"/>
          </a:xfrm>
          <a:prstGeom prst="rect">
            <a:avLst/>
          </a:prstGeom>
          <a:noFill/>
        </p:spPr>
        <p:txBody>
          <a:bodyPr wrap="square" anchor="ctr" lIns="45720" rIns="45720">
            <a:spAutoFit/>
          </a:bodyPr>
          <a:lstStyle/>
          <a:p>
            <a:pPr algn="l">
              <a:spcAft>
                <a:spcPts val="0"/>
              </a:spcAft>
            </a:pPr>
            <a:r>
              <a:rPr sz="1400" b="1" i="0">
                <a:solidFill>
                  <a:srgbClr val="0000CC"/>
                </a:solidFill>
                <a:latin typeface="Times New Roman"/>
              </a:rPr>
              <a:t>Unreachable frontiers: </a:t>
            </a:r>
            <a:r>
              <a:rPr sz="1400" b="0" i="0">
                <a:solidFill>
                  <a:srgbClr val="1A1A1A"/>
                </a:solidFill>
                <a:latin typeface="Times New Roman"/>
              </a:rPr>
              <a:t>drop frontiers with no path in the global costmap before sending them</a:t>
            </a:r>
          </a:p>
        </p:txBody>
      </p:sp>
      <p:sp>
        <p:nvSpPr>
          <p:cNvPr id="25" name="Rounded Rectangle 24"/>
          <p:cNvSpPr/>
          <p:nvPr/>
        </p:nvSpPr>
        <p:spPr>
          <a:xfrm>
            <a:off x="502920" y="3602736"/>
            <a:ext cx="8138160" cy="694944"/>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0080" y="3721608"/>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4</a:t>
            </a:r>
          </a:p>
        </p:txBody>
      </p:sp>
      <p:sp>
        <p:nvSpPr>
          <p:cNvPr id="27" name="TextBox 26"/>
          <p:cNvSpPr txBox="1"/>
          <p:nvPr/>
        </p:nvSpPr>
        <p:spPr>
          <a:xfrm>
            <a:off x="1234440" y="3602736"/>
            <a:ext cx="7269480" cy="694944"/>
          </a:xfrm>
          <a:prstGeom prst="rect">
            <a:avLst/>
          </a:prstGeom>
          <a:noFill/>
        </p:spPr>
        <p:txBody>
          <a:bodyPr wrap="square" anchor="ctr" lIns="45720" rIns="45720">
            <a:spAutoFit/>
          </a:bodyPr>
          <a:lstStyle/>
          <a:p>
            <a:pPr algn="l">
              <a:spcAft>
                <a:spcPts val="0"/>
              </a:spcAft>
            </a:pPr>
            <a:r>
              <a:rPr sz="1400" b="1" i="0">
                <a:solidFill>
                  <a:srgbClr val="0000CC"/>
                </a:solidFill>
                <a:latin typeface="Times New Roman"/>
              </a:rPr>
              <a:t>Battery rule: </a:t>
            </a:r>
            <a:r>
              <a:rPr sz="1400" b="0" i="0">
                <a:solidFill>
                  <a:srgbClr val="1A1A1A"/>
                </a:solidFill>
                <a:latin typeface="Times New Roman"/>
              </a:rPr>
              <a:t>filter the voltage before the 7.0 V check; log the minimum</a:t>
            </a:r>
          </a:p>
        </p:txBody>
      </p:sp>
      <p:sp>
        <p:nvSpPr>
          <p:cNvPr id="28" name="Rounded Rectangle 27"/>
          <p:cNvSpPr/>
          <p:nvPr/>
        </p:nvSpPr>
        <p:spPr>
          <a:xfrm>
            <a:off x="502920" y="4407408"/>
            <a:ext cx="8138160" cy="694944"/>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40080" y="4526280"/>
            <a:ext cx="457200" cy="457200"/>
          </a:xfrm>
          <a:prstGeom prst="ellipse">
            <a:avLst/>
          </a:prstGeom>
          <a:solidFill>
            <a:srgbClr val="0000C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Times New Roman"/>
              </a:rPr>
              <a:t>5</a:t>
            </a:r>
          </a:p>
        </p:txBody>
      </p:sp>
      <p:sp>
        <p:nvSpPr>
          <p:cNvPr id="30" name="TextBox 29"/>
          <p:cNvSpPr txBox="1"/>
          <p:nvPr/>
        </p:nvSpPr>
        <p:spPr>
          <a:xfrm>
            <a:off x="1234440" y="4407408"/>
            <a:ext cx="7269480" cy="694944"/>
          </a:xfrm>
          <a:prstGeom prst="rect">
            <a:avLst/>
          </a:prstGeom>
          <a:noFill/>
        </p:spPr>
        <p:txBody>
          <a:bodyPr wrap="square" anchor="ctr" lIns="45720" rIns="45720">
            <a:spAutoFit/>
          </a:bodyPr>
          <a:lstStyle/>
          <a:p>
            <a:pPr algn="l">
              <a:spcAft>
                <a:spcPts val="0"/>
              </a:spcAft>
            </a:pPr>
            <a:r>
              <a:rPr sz="1400" b="1" i="0">
                <a:solidFill>
                  <a:srgbClr val="0000CC"/>
                </a:solidFill>
                <a:latin typeface="Times New Roman"/>
              </a:rPr>
              <a:t>Timing: </a:t>
            </a:r>
            <a:r>
              <a:rPr sz="1400" b="0" i="0">
                <a:solidFill>
                  <a:srgbClr val="1A1A1A"/>
                </a:solidFill>
                <a:latin typeface="Times New Roman"/>
              </a:rPr>
              <a:t>explorer time per run; app timer saved with every map from now on</a:t>
            </a:r>
          </a:p>
        </p:txBody>
      </p:sp>
      <p:sp>
        <p:nvSpPr>
          <p:cNvPr id="31" name="Rounded Rectangle 30"/>
          <p:cNvSpPr/>
          <p:nvPr/>
        </p:nvSpPr>
        <p:spPr>
          <a:xfrm>
            <a:off x="502920" y="5349240"/>
            <a:ext cx="8138160" cy="685800"/>
          </a:xfrm>
          <a:prstGeom prst="roundRect">
            <a:avLst>
              <a:gd name="adj" fmla="val 8000"/>
            </a:avLst>
          </a:prstGeom>
          <a:solidFill>
            <a:srgbClr val="EC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5349240"/>
            <a:ext cx="7772400" cy="685800"/>
          </a:xfrm>
          <a:prstGeom prst="rect">
            <a:avLst/>
          </a:prstGeom>
          <a:noFill/>
        </p:spPr>
        <p:txBody>
          <a:bodyPr wrap="square" anchor="ctr" lIns="45720" rIns="45720">
            <a:spAutoFit/>
          </a:bodyPr>
          <a:lstStyle/>
          <a:p>
            <a:pPr algn="l">
              <a:spcAft>
                <a:spcPts val="0"/>
              </a:spcAft>
            </a:pPr>
            <a:r>
              <a:rPr sz="1700" b="0" i="1">
                <a:solidFill>
                  <a:srgbClr val="0000CC"/>
                </a:solidFill>
                <a:latin typeface="Times New Roman"/>
              </a:rPr>
              <a:t>Next session: the same enclosure test, then the open area with Nav2 abort logging.</a:t>
            </a:r>
          </a:p>
        </p:txBody>
      </p:sp>
    </p:spTree>
  </p:cSld>
  <p:clrMapOvr>
    <a:masterClrMapping/>
  </p:clrMapOvr>
</p:sld>
</file>

<file path=ppt/theme/theme1.xml><?xml version="1.0" encoding="utf-8"?>
<a:theme xmlns:a="http://schemas.openxmlformats.org/drawingml/2006/main" name="Title Page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ody Copy Slides">
  <a:themeElements>
    <a:clrScheme name="SFU Brand Colours">
      <a:dk1>
        <a:srgbClr val="000000"/>
      </a:dk1>
      <a:lt1>
        <a:srgbClr val="FFFFFF"/>
      </a:lt1>
      <a:dk2>
        <a:srgbClr val="8C0E1C"/>
      </a:dk2>
      <a:lt2>
        <a:srgbClr val="D31B34"/>
      </a:lt2>
      <a:accent1>
        <a:srgbClr val="212121"/>
      </a:accent1>
      <a:accent2>
        <a:srgbClr val="515151"/>
      </a:accent2>
      <a:accent3>
        <a:srgbClr val="797979"/>
      </a:accent3>
      <a:accent4>
        <a:srgbClr val="A9A9A9"/>
      </a:accent4>
      <a:accent5>
        <a:srgbClr val="CACACA"/>
      </a:accent5>
      <a:accent6>
        <a:srgbClr val="EAEAEA"/>
      </a:accent6>
      <a:hlink>
        <a:srgbClr val="D31B34"/>
      </a:hlink>
      <a:folHlink>
        <a:srgbClr val="8C0E1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mage Only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C067C7-B28B-41E1-8939-01F728D15BD2}">
  <we:reference id="wa104381909" version="3.14.0.0" store="en-US" storeType="OMEX"/>
  <we:alternateReferences>
    <we:reference id="WA104381909" version="3.14.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0763C2A067C4409E588628B424D285" ma:contentTypeVersion="18" ma:contentTypeDescription="Create a new document." ma:contentTypeScope="" ma:versionID="bc8fde4d91bfaf1335ea098e4343a30a">
  <xsd:schema xmlns:xsd="http://www.w3.org/2001/XMLSchema" xmlns:xs="http://www.w3.org/2001/XMLSchema" xmlns:p="http://schemas.microsoft.com/office/2006/metadata/properties" xmlns:ns3="2ea93701-5247-48e5-afcf-df8c64a1819c" xmlns:ns4="4ccdac11-c10e-4f22-95ac-d5207ff62957" targetNamespace="http://schemas.microsoft.com/office/2006/metadata/properties" ma:root="true" ma:fieldsID="609d03f6caf78cb11b167e17d5a5136e" ns3:_="" ns4:_="">
    <xsd:import namespace="2ea93701-5247-48e5-afcf-df8c64a1819c"/>
    <xsd:import namespace="4ccdac11-c10e-4f22-95ac-d5207ff6295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LengthInSecond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a93701-5247-48e5-afcf-df8c64a181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LengthInSeconds" ma:index="12" nillable="true" ma:displayName="MediaLengthInSeconds" ma:hidden="true" ma:internalName="MediaLengthInSeconds" ma:readOnly="true">
      <xsd:simpleType>
        <xsd:restriction base="dms:Unknown"/>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cdac11-c10e-4f22-95ac-d5207ff6295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ea93701-5247-48e5-afcf-df8c64a1819c" xsi:nil="true"/>
  </documentManagement>
</p:properties>
</file>

<file path=customXml/itemProps1.xml><?xml version="1.0" encoding="utf-8"?>
<ds:datastoreItem xmlns:ds="http://schemas.openxmlformats.org/officeDocument/2006/customXml" ds:itemID="{B686A0CC-AD33-40A1-A4DD-78AD5A78C1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ea93701-5247-48e5-afcf-df8c64a1819c"/>
    <ds:schemaRef ds:uri="4ccdac11-c10e-4f22-95ac-d5207ff629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CA2A67-BF33-4602-8B66-34770DDFDB14}">
  <ds:schemaRefs>
    <ds:schemaRef ds:uri="http://schemas.microsoft.com/sharepoint/v3/contenttype/forms"/>
  </ds:schemaRefs>
</ds:datastoreItem>
</file>

<file path=customXml/itemProps3.xml><?xml version="1.0" encoding="utf-8"?>
<ds:datastoreItem xmlns:ds="http://schemas.openxmlformats.org/officeDocument/2006/customXml" ds:itemID="{E1A6A63B-361A-420C-B7A1-644929B7D659}">
  <ds:schemaRef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2ea93701-5247-48e5-afcf-df8c64a1819c"/>
    <ds:schemaRef ds:uri="http://purl.org/dc/terms/"/>
    <ds:schemaRef ds:uri="http://purl.org/dc/elements/1.1/"/>
    <ds:schemaRef ds:uri="http://schemas.openxmlformats.org/package/2006/metadata/core-properties"/>
    <ds:schemaRef ds:uri="4ccdac11-c10e-4f22-95ac-d5207ff62957"/>
    <ds:schemaRef ds:uri="http://purl.org/dc/dcmitype/"/>
  </ds:schemaRefs>
</ds:datastoreItem>
</file>

<file path=docMetadata/LabelInfo.xml><?xml version="1.0" encoding="utf-8"?>
<clbl:labelList xmlns:clbl="http://schemas.microsoft.com/office/2020/mipLabelMetadata">
  <clbl:label id="{04e8677e-c989-47b9-8619-d83d5a5f6c67}" enabled="0" method="" siteId="{04e8677e-c989-47b9-8619-d83d5a5f6c67}" removed="1"/>
</clbl:labelList>
</file>

<file path=docProps/app.xml><?xml version="1.0" encoding="utf-8"?>
<Properties xmlns="http://schemas.openxmlformats.org/officeDocument/2006/extended-properties" xmlns:vt="http://schemas.openxmlformats.org/officeDocument/2006/docPropsVTypes">
  <Template>Office Theme</Template>
  <TotalTime>44862</TotalTime>
  <Words>1766</Words>
  <Application>Microsoft Office PowerPoint</Application>
  <PresentationFormat>On-screen Show (4:3)</PresentationFormat>
  <Paragraphs>144</Paragraphs>
  <Slides>14</Slides>
  <Notes>2</Notes>
  <HiddenSlides>0</HiddenSlides>
  <MMClips>0</MMClips>
  <ScaleCrop>false</ScaleCrop>
  <HeadingPairs>
    <vt:vector size="4" baseType="variant">
      <vt:variant>
        <vt:lpstr>Theme</vt:lpstr>
      </vt:variant>
      <vt:variant>
        <vt:i4>3</vt:i4>
      </vt:variant>
      <vt:variant>
        <vt:lpstr>Slide Titles</vt:lpstr>
      </vt:variant>
      <vt:variant>
        <vt:i4>14</vt:i4>
      </vt:variant>
    </vt:vector>
  </HeadingPairs>
  <TitlesOfParts>
    <vt:vector size="17" baseType="lpstr">
      <vt:lpstr>Title Page Slides</vt:lpstr>
      <vt:lpstr>Body Copy Slides</vt:lpstr>
      <vt:lpstr>Image Only Slides</vt:lpstr>
      <vt:lpstr>Robotic Welding Automation: A Research-Gap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Marthens Hakazima</cp:lastModifiedBy>
  <cp:revision>154</cp:revision>
  <cp:lastPrinted>2019-05-17T16:35:52Z</cp:lastPrinted>
  <dcterms:created xsi:type="dcterms:W3CDTF">2019-03-19T21:21:49Z</dcterms:created>
  <dcterms:modified xsi:type="dcterms:W3CDTF">2026-09-24T20:21:23Z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0x010100E50763C2A067C4409E588628B424D285</vt:lpwstr>
  </property>
</Properties>
</file>